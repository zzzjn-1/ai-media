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5" Type="http://schemas.openxmlformats.org/officeDocument/2006/relationships/presProps" Target="presProps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CN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3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>
              <a:alpha val="5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"/>
          <p:cNvSpPr/>
          <p:nvPr/>
        </p:nvSpPr>
        <p:spPr>
          <a:xfrm>
            <a:off x="762000" y="1394460"/>
            <a:ext cx="76200" cy="76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/>
          <a:p/>
        </p:txBody>
      </p:sp>
      <p:sp>
        <p:nvSpPr>
          <p:cNvPr id="5" name=""/>
          <p:cNvSpPr/>
          <p:nvPr/>
        </p:nvSpPr>
        <p:spPr>
          <a:xfrm>
            <a:off x="762000" y="3268980"/>
            <a:ext cx="685800" cy="381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6" name=""/>
          <p:cNvSpPr/>
          <p:nvPr/>
        </p:nvSpPr>
        <p:spPr>
          <a:xfrm>
            <a:off x="1914525" y="26162"/>
            <a:ext cx="9525" cy="1333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/>
          <a:p/>
        </p:txBody>
      </p:sp>
      <p:sp>
        <p:nvSpPr>
          <p:cNvPr id="7" name=""/>
          <p:cNvSpPr/>
          <p:nvPr/>
        </p:nvSpPr>
        <p:spPr>
          <a:xfrm>
            <a:off x="933450" y="1333500"/>
            <a:ext cx="1969008" cy="1981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spc="3">
                <a:solidFill>
                  <a:srgbClr val="67E8F9"/>
                </a:solidFill>
                <a:latin typeface="Microsoft YaHei"/>
                <a:ea typeface="Microsoft YaHei"/>
              </a:rPr>
              <a:t>项目汇报 · PROJECT REPORT</a:t>
            </a:r>
            <a:endParaRPr lang="zh-CN" sz="1200" spc="3">
              <a:solidFill>
                <a:srgbClr val="67E8F9"/>
              </a:solidFill>
              <a:latin typeface="Microsoft YaHei"/>
              <a:ea typeface="Microsoft YaHei"/>
            </a:endParaRPr>
          </a:p>
        </p:txBody>
      </p:sp>
      <p:sp>
        <p:nvSpPr>
          <p:cNvPr id="8" name=""/>
          <p:cNvSpPr/>
          <p:nvPr/>
        </p:nvSpPr>
        <p:spPr>
          <a:xfrm>
            <a:off x="762000" y="1741170"/>
            <a:ext cx="7620000" cy="7086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4600" b="1">
                <a:solidFill>
                  <a:srgbClr val="B5EFFC"/>
                </a:solidFill>
                <a:latin typeface="Microsoft YaHei"/>
                <a:ea typeface="Microsoft YaHei"/>
              </a:rPr>
              <a:t>AI 自媒体内容创作助手</a:t>
            </a:r>
            <a:endParaRPr lang="zh-CN" sz="4600" b="1">
              <a:solidFill>
                <a:srgbClr val="B5EFFC"/>
              </a:solidFill>
              <a:latin typeface="Microsoft YaHei"/>
              <a:ea typeface="Microsoft YaHei"/>
            </a:endParaRPr>
          </a:p>
        </p:txBody>
      </p:sp>
      <p:sp>
        <p:nvSpPr>
          <p:cNvPr id="9" name=""/>
          <p:cNvSpPr/>
          <p:nvPr/>
        </p:nvSpPr>
        <p:spPr>
          <a:xfrm>
            <a:off x="762000" y="264033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>
                <a:solidFill>
                  <a:srgbClr val="CBD5E1"/>
                </a:solidFill>
                <a:latin typeface="Microsoft YaHei"/>
                <a:ea typeface="Microsoft YaHei"/>
              </a:rPr>
              <a:t>从热点到爆款的全链路内容生产工作台</a:t>
            </a:r>
            <a:endParaRPr/>
          </a:p>
        </p:txBody>
      </p:sp>
      <p:sp>
        <p:nvSpPr>
          <p:cNvPr id="10" name=""/>
          <p:cNvSpPr/>
          <p:nvPr/>
        </p:nvSpPr>
        <p:spPr>
          <a:xfrm>
            <a:off x="762000" y="3554730"/>
            <a:ext cx="7620000" cy="2438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覆盖微信公众号 · 小红书 · 抖音 ｜ 科技 / 生活 / 财经 / 美妆 / 教育 五大领域</a:t>
            </a:r>
            <a:endParaRPr/>
          </a:p>
        </p:txBody>
      </p:sp>
      <p:sp>
        <p:nvSpPr>
          <p:cNvPr id="11" name=""/>
          <p:cNvSpPr/>
          <p:nvPr/>
        </p:nvSpPr>
        <p:spPr>
          <a:xfrm>
            <a:off x="762000" y="0"/>
            <a:ext cx="1000125" cy="18567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94A3B8"/>
                </a:solidFill>
                <a:latin typeface="Microsoft YaHei"/>
                <a:ea typeface="Microsoft YaHei"/>
              </a:rPr>
              <a:t>汇报人：项目组</a:t>
            </a:r>
            <a:endParaRPr/>
          </a:p>
        </p:txBody>
      </p:sp>
      <p:sp>
        <p:nvSpPr>
          <p:cNvPr id="12" name=""/>
          <p:cNvSpPr/>
          <p:nvPr/>
        </p:nvSpPr>
        <p:spPr>
          <a:xfrm>
            <a:off x="2076450" y="0"/>
            <a:ext cx="782955" cy="18567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94A3B8"/>
                </a:solidFill>
                <a:latin typeface="Microsoft YaHei"/>
                <a:ea typeface="Microsoft YaHei"/>
              </a:rPr>
              <a:t>2026-10-12</a:t>
            </a:r>
            <a:endParaRPr/>
          </a:p>
        </p:txBody>
      </p:sp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0" y="0"/>
            <a:ext cx="10287000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p/>
        </p:txBody>
      </p:sp>
      <p:sp>
        <p:nvSpPr>
          <p:cNvPr id="125" name=""/>
          <p:cNvSpPr/>
          <p:nvPr/>
        </p:nvSpPr>
        <p:spPr>
          <a:xfrm>
            <a:off x="609600" y="190500"/>
            <a:ext cx="3486150" cy="5905500"/>
          </a:xfrm>
          <a:prstGeom prst="roundRect">
            <a:avLst>
              <a:gd name="adj" fmla="val 4372"/>
            </a:avLst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126" name=""/>
          <p:cNvSpPr/>
          <p:nvPr/>
        </p:nvSpPr>
        <p:spPr>
          <a:xfrm>
            <a:off x="1028700" y="1663954"/>
            <a:ext cx="533400" cy="381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127" name=""/>
          <p:cNvSpPr/>
          <p:nvPr/>
        </p:nvSpPr>
        <p:spPr>
          <a:xfrm>
            <a:off x="4362450" y="803021"/>
            <a:ext cx="721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28" name=""/>
          <p:cNvSpPr/>
          <p:nvPr/>
        </p:nvSpPr>
        <p:spPr>
          <a:xfrm>
            <a:off x="4362450" y="2565781"/>
            <a:ext cx="721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29" name=""/>
          <p:cNvSpPr/>
          <p:nvPr/>
        </p:nvSpPr>
        <p:spPr>
          <a:xfrm>
            <a:off x="4362450" y="4328414"/>
            <a:ext cx="721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30" name=""/>
          <p:cNvSpPr/>
          <p:nvPr/>
        </p:nvSpPr>
        <p:spPr>
          <a:xfrm>
            <a:off x="1028700" y="609600"/>
            <a:ext cx="2647950" cy="54483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 lang="zh-CN" sz="33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1" name=""/>
          <p:cNvSpPr/>
          <p:nvPr/>
        </p:nvSpPr>
        <p:spPr>
          <a:xfrm>
            <a:off x="1028700" y="1230630"/>
            <a:ext cx="2647950" cy="18567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spc="2">
                <a:solidFill>
                  <a:srgbClr val="67E8F9"/>
                </a:solidFill>
                <a:latin typeface="Microsoft YaHei"/>
                <a:ea typeface="Microsoft YaHei"/>
              </a:rPr>
              <a:t>CONTENTS</a:t>
            </a:r>
            <a:endParaRPr lang="zh-CN" sz="1100" spc="2">
              <a:solidFill>
                <a:srgbClr val="67E8F9"/>
              </a:solidFill>
              <a:latin typeface="Microsoft YaHei"/>
              <a:ea typeface="Microsoft YaHei"/>
            </a:endParaRPr>
          </a:p>
        </p:txBody>
      </p:sp>
      <p:sp>
        <p:nvSpPr>
          <p:cNvPr id="132" name=""/>
          <p:cNvSpPr/>
          <p:nvPr/>
        </p:nvSpPr>
        <p:spPr>
          <a:xfrm>
            <a:off x="1028700" y="1949704"/>
            <a:ext cx="2647950" cy="8229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四个章节回答四个问题：产品做了什么、技术上怎么实现、过程如何推进、难点怎样解决。</a:t>
            </a:r>
            <a:endParaRPr/>
          </a:p>
        </p:txBody>
      </p:sp>
      <p:sp>
        <p:nvSpPr>
          <p:cNvPr id="133" name=""/>
          <p:cNvSpPr/>
          <p:nvPr/>
        </p:nvSpPr>
        <p:spPr>
          <a:xfrm>
            <a:off x="1219200" y="5515991"/>
            <a:ext cx="1297686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AI 自媒体内容创作助手</a:t>
            </a:r>
            <a:endParaRPr/>
          </a:p>
        </p:txBody>
      </p:sp>
      <p:sp>
        <p:nvSpPr>
          <p:cNvPr id="134" name=""/>
          <p:cNvSpPr/>
          <p:nvPr/>
        </p:nvSpPr>
        <p:spPr>
          <a:xfrm>
            <a:off x="4362450" y="190500"/>
            <a:ext cx="533400" cy="3714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 b="1">
                <a:solidFill>
                  <a:srgbClr val="3B82F6"/>
                </a:solidFill>
                <a:latin typeface="Microsoft YaHei"/>
                <a:ea typeface="Microsoft YaHei"/>
              </a:rPr>
              <a:t>01</a:t>
            </a:r>
            <a:endParaRPr lang="zh-CN" sz="2200" b="1">
              <a:solidFill>
                <a:srgbClr val="3B82F6"/>
              </a:solidFill>
              <a:latin typeface="Microsoft YaHei"/>
              <a:ea typeface="Microsoft YaHei"/>
            </a:endParaRPr>
          </a:p>
        </p:txBody>
      </p:sp>
      <p:sp>
        <p:nvSpPr>
          <p:cNvPr id="135" name=""/>
          <p:cNvSpPr/>
          <p:nvPr/>
        </p:nvSpPr>
        <p:spPr>
          <a:xfrm>
            <a:off x="5086350" y="190500"/>
            <a:ext cx="5700141" cy="29718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项目概况</a:t>
            </a:r>
            <a:endParaRPr lang="zh-CN" sz="18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36" name=""/>
          <p:cNvSpPr/>
          <p:nvPr/>
        </p:nvSpPr>
        <p:spPr>
          <a:xfrm>
            <a:off x="5086350" y="563880"/>
            <a:ext cx="5700141" cy="2438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产品定位、五步核心闭环与六大功能模块全景</a:t>
            </a:r>
            <a:endParaRPr/>
          </a:p>
        </p:txBody>
      </p:sp>
      <p:sp>
        <p:nvSpPr>
          <p:cNvPr id="137" name=""/>
          <p:cNvSpPr/>
          <p:nvPr/>
        </p:nvSpPr>
        <p:spPr>
          <a:xfrm>
            <a:off x="11034141" y="190500"/>
            <a:ext cx="605409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P03 – P05</a:t>
            </a:r>
            <a:endParaRPr/>
          </a:p>
        </p:txBody>
      </p:sp>
      <p:sp>
        <p:nvSpPr>
          <p:cNvPr id="138" name=""/>
          <p:cNvSpPr/>
          <p:nvPr/>
        </p:nvSpPr>
        <p:spPr>
          <a:xfrm>
            <a:off x="4362450" y="1953260"/>
            <a:ext cx="533400" cy="3714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 b="1">
                <a:solidFill>
                  <a:srgbClr val="3B82F6"/>
                </a:solidFill>
                <a:latin typeface="Microsoft YaHei"/>
                <a:ea typeface="Microsoft YaHei"/>
              </a:rPr>
              <a:t>02</a:t>
            </a:r>
            <a:endParaRPr lang="zh-CN" sz="2200" b="1">
              <a:solidFill>
                <a:srgbClr val="3B82F6"/>
              </a:solidFill>
              <a:latin typeface="Microsoft YaHei"/>
              <a:ea typeface="Microsoft YaHei"/>
            </a:endParaRPr>
          </a:p>
        </p:txBody>
      </p:sp>
      <p:sp>
        <p:nvSpPr>
          <p:cNvPr id="139" name=""/>
          <p:cNvSpPr/>
          <p:nvPr/>
        </p:nvSpPr>
        <p:spPr>
          <a:xfrm>
            <a:off x="5086350" y="1953260"/>
            <a:ext cx="5700141" cy="29718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技术方案</a:t>
            </a:r>
            <a:endParaRPr lang="zh-CN" sz="18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40" name=""/>
          <p:cNvSpPr/>
          <p:nvPr/>
        </p:nvSpPr>
        <p:spPr>
          <a:xfrm>
            <a:off x="5086350" y="2326640"/>
            <a:ext cx="5700141" cy="2438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四层系统架构与四项关键技术的选型逻辑</a:t>
            </a:r>
            <a:endParaRPr/>
          </a:p>
        </p:txBody>
      </p:sp>
      <p:sp>
        <p:nvSpPr>
          <p:cNvPr id="141" name=""/>
          <p:cNvSpPr/>
          <p:nvPr/>
        </p:nvSpPr>
        <p:spPr>
          <a:xfrm>
            <a:off x="11034141" y="1953260"/>
            <a:ext cx="605409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P06 – P08</a:t>
            </a:r>
            <a:endParaRPr/>
          </a:p>
        </p:txBody>
      </p:sp>
      <p:sp>
        <p:nvSpPr>
          <p:cNvPr id="142" name=""/>
          <p:cNvSpPr/>
          <p:nvPr/>
        </p:nvSpPr>
        <p:spPr>
          <a:xfrm>
            <a:off x="4362450" y="3716020"/>
            <a:ext cx="533400" cy="3714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 b="1">
                <a:solidFill>
                  <a:srgbClr val="3B82F6"/>
                </a:solidFill>
                <a:latin typeface="Microsoft YaHei"/>
                <a:ea typeface="Microsoft YaHei"/>
              </a:rPr>
              <a:t>03</a:t>
            </a:r>
            <a:endParaRPr lang="zh-CN" sz="2200" b="1">
              <a:solidFill>
                <a:srgbClr val="3B82F6"/>
              </a:solidFill>
              <a:latin typeface="Microsoft YaHei"/>
              <a:ea typeface="Microsoft YaHei"/>
            </a:endParaRPr>
          </a:p>
        </p:txBody>
      </p:sp>
      <p:sp>
        <p:nvSpPr>
          <p:cNvPr id="143" name=""/>
          <p:cNvSpPr/>
          <p:nvPr/>
        </p:nvSpPr>
        <p:spPr>
          <a:xfrm>
            <a:off x="5086350" y="3716020"/>
            <a:ext cx="5700141" cy="29718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实现过程</a:t>
            </a:r>
            <a:endParaRPr lang="zh-CN" sz="18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44" name=""/>
          <p:cNvSpPr/>
          <p:nvPr/>
        </p:nvSpPr>
        <p:spPr>
          <a:xfrm>
            <a:off x="5086350" y="4089400"/>
            <a:ext cx="5700141" cy="2438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M1–M5 里程碑推进节奏与量化评测成果</a:t>
            </a:r>
            <a:endParaRPr/>
          </a:p>
        </p:txBody>
      </p:sp>
      <p:sp>
        <p:nvSpPr>
          <p:cNvPr id="145" name=""/>
          <p:cNvSpPr/>
          <p:nvPr/>
        </p:nvSpPr>
        <p:spPr>
          <a:xfrm>
            <a:off x="11034141" y="3716020"/>
            <a:ext cx="605409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P09 – P11</a:t>
            </a:r>
            <a:endParaRPr/>
          </a:p>
        </p:txBody>
      </p:sp>
      <p:sp>
        <p:nvSpPr>
          <p:cNvPr id="146" name=""/>
          <p:cNvSpPr/>
          <p:nvPr/>
        </p:nvSpPr>
        <p:spPr>
          <a:xfrm>
            <a:off x="4362450" y="5478780"/>
            <a:ext cx="533400" cy="3714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 b="1">
                <a:solidFill>
                  <a:srgbClr val="3B82F6"/>
                </a:solidFill>
                <a:latin typeface="Microsoft YaHei"/>
                <a:ea typeface="Microsoft YaHei"/>
              </a:rPr>
              <a:t>04</a:t>
            </a:r>
            <a:endParaRPr lang="zh-CN" sz="2200" b="1">
              <a:solidFill>
                <a:srgbClr val="3B82F6"/>
              </a:solidFill>
              <a:latin typeface="Microsoft YaHei"/>
              <a:ea typeface="Microsoft YaHei"/>
            </a:endParaRPr>
          </a:p>
        </p:txBody>
      </p:sp>
      <p:sp>
        <p:nvSpPr>
          <p:cNvPr id="147" name=""/>
          <p:cNvSpPr/>
          <p:nvPr/>
        </p:nvSpPr>
        <p:spPr>
          <a:xfrm>
            <a:off x="5086350" y="5478780"/>
            <a:ext cx="5700141" cy="29718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难点与应对</a:t>
            </a:r>
            <a:endParaRPr lang="zh-CN" sz="18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48" name=""/>
          <p:cNvSpPr/>
          <p:nvPr/>
        </p:nvSpPr>
        <p:spPr>
          <a:xfrm>
            <a:off x="5086350" y="5852160"/>
            <a:ext cx="5700141" cy="2438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四个真实难点的根因拆解与可验证的修复证据</a:t>
            </a:r>
            <a:endParaRPr/>
          </a:p>
        </p:txBody>
      </p:sp>
      <p:sp>
        <p:nvSpPr>
          <p:cNvPr id="149" name=""/>
          <p:cNvSpPr/>
          <p:nvPr/>
        </p:nvSpPr>
        <p:spPr>
          <a:xfrm>
            <a:off x="11034141" y="5478780"/>
            <a:ext cx="605409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P12 – P14</a:t>
            </a:r>
            <a:endParaRPr/>
          </a:p>
        </p:txBody>
      </p:sp>
      <p:sp>
        <p:nvSpPr>
          <p:cNvPr id="150" name=""/>
          <p:cNvSpPr/>
          <p:nvPr/>
        </p:nvSpPr>
        <p:spPr>
          <a:xfrm>
            <a:off x="781050" y="6295009"/>
            <a:ext cx="2072258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AI 自媒体内容创作助手 · 项目汇报</a:t>
            </a:r>
            <a:endParaRPr/>
          </a:p>
        </p:txBody>
      </p:sp>
      <p:sp>
        <p:nvSpPr>
          <p:cNvPr id="151" name=""/>
          <p:cNvSpPr/>
          <p:nvPr/>
        </p:nvSpPr>
        <p:spPr>
          <a:xfrm>
            <a:off x="11131677" y="6295009"/>
            <a:ext cx="45072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154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>
              <a:alpha val="5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5" name=""/>
          <p:cNvSpPr/>
          <p:nvPr/>
        </p:nvSpPr>
        <p:spPr>
          <a:xfrm>
            <a:off x="762000" y="4211955"/>
            <a:ext cx="685800" cy="381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156" name=""/>
          <p:cNvSpPr/>
          <p:nvPr/>
        </p:nvSpPr>
        <p:spPr>
          <a:xfrm>
            <a:off x="762000" y="2057400"/>
            <a:ext cx="8572500" cy="1143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0" b="1" spc="-2">
                <a:solidFill>
                  <a:srgbClr val="209CE5"/>
                </a:solidFill>
                <a:latin typeface="Microsoft YaHei"/>
                <a:ea typeface="Microsoft YaHei"/>
              </a:rPr>
              <a:t>01</a:t>
            </a:r>
            <a:endParaRPr lang="zh-CN" sz="9000" b="1" spc="-2">
              <a:solidFill>
                <a:srgbClr val="209CE5"/>
              </a:solidFill>
              <a:latin typeface="Microsoft YaHei"/>
              <a:ea typeface="Microsoft YaHei"/>
            </a:endParaRPr>
          </a:p>
        </p:txBody>
      </p:sp>
      <p:sp>
        <p:nvSpPr>
          <p:cNvPr id="157" name=""/>
          <p:cNvSpPr/>
          <p:nvPr/>
        </p:nvSpPr>
        <p:spPr>
          <a:xfrm>
            <a:off x="762000" y="3295650"/>
            <a:ext cx="8572500" cy="6686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4000" b="1">
                <a:solidFill>
                  <a:srgbClr val="FFFFFF"/>
                </a:solidFill>
                <a:latin typeface="Microsoft YaHei"/>
                <a:ea typeface="Microsoft YaHei"/>
              </a:rPr>
              <a:t>项目概况</a:t>
            </a:r>
            <a:endParaRPr lang="zh-CN" sz="4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8" name=""/>
          <p:cNvSpPr/>
          <p:nvPr/>
        </p:nvSpPr>
        <p:spPr>
          <a:xfrm>
            <a:off x="762000" y="4459605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CBD5E1"/>
                </a:solidFill>
                <a:latin typeface="Microsoft YaHei"/>
                <a:ea typeface="Microsoft YaHei"/>
              </a:rPr>
              <a:t>产品定位、五步核心闭环与六大功能模块全景</a:t>
            </a:r>
            <a:endParaRPr/>
          </a:p>
        </p:txBody>
      </p:sp>
      <p:pic>
        <p:nvPicPr>
          <p:cNvPr id="159" name=""/>
          <p:cNvPicPr/>
          <p:nvPr/>
        </p:nvPicPr>
        <p:blipFill>
          <a:blip r:embed="rId1"/>
          <a:stretch/>
        </p:blipFill>
        <p:spPr>
          <a:xfrm>
            <a:off x="0" y="0"/>
            <a:ext cx="10287000" cy="6858000"/>
          </a:xfrm>
          <a:prstGeom prst="rect"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p/>
        </p:txBody>
      </p:sp>
      <p:sp>
        <p:nvSpPr>
          <p:cNvPr id="162" name=""/>
          <p:cNvSpPr/>
          <p:nvPr/>
        </p:nvSpPr>
        <p:spPr>
          <a:xfrm>
            <a:off x="609600" y="504825"/>
            <a:ext cx="57150" cy="32385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163" name=""/>
          <p:cNvSpPr/>
          <p:nvPr/>
        </p:nvSpPr>
        <p:spPr>
          <a:xfrm>
            <a:off x="609600" y="2447925"/>
            <a:ext cx="1162050" cy="818261"/>
          </a:xfrm>
          <a:prstGeom prst="roundRect">
            <a:avLst>
              <a:gd name="adj" fmla="val 139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4" name=""/>
          <p:cNvSpPr/>
          <p:nvPr/>
        </p:nvSpPr>
        <p:spPr>
          <a:xfrm>
            <a:off x="1885950" y="2447925"/>
            <a:ext cx="1162050" cy="818261"/>
          </a:xfrm>
          <a:prstGeom prst="roundRect">
            <a:avLst>
              <a:gd name="adj" fmla="val 139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5" name=""/>
          <p:cNvSpPr/>
          <p:nvPr/>
        </p:nvSpPr>
        <p:spPr>
          <a:xfrm>
            <a:off x="3162300" y="2447925"/>
            <a:ext cx="1162050" cy="818261"/>
          </a:xfrm>
          <a:prstGeom prst="roundRect">
            <a:avLst>
              <a:gd name="adj" fmla="val 139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6" name=""/>
          <p:cNvSpPr/>
          <p:nvPr/>
        </p:nvSpPr>
        <p:spPr>
          <a:xfrm>
            <a:off x="609600" y="3437509"/>
            <a:ext cx="3714750" cy="790575"/>
          </a:xfrm>
          <a:prstGeom prst="roundRect">
            <a:avLst>
              <a:gd name="adj" fmla="val 14458"/>
            </a:avLst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167" name=""/>
          <p:cNvSpPr/>
          <p:nvPr/>
        </p:nvSpPr>
        <p:spPr>
          <a:xfrm>
            <a:off x="4591050" y="1143000"/>
            <a:ext cx="6991350" cy="680085"/>
          </a:xfrm>
          <a:prstGeom prst="roundRect">
            <a:avLst>
              <a:gd name="adj" fmla="val 224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8" name=""/>
          <p:cNvSpPr/>
          <p:nvPr/>
        </p:nvSpPr>
        <p:spPr>
          <a:xfrm>
            <a:off x="4819650" y="2261235"/>
            <a:ext cx="1162050" cy="114300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4224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9" name=""/>
          <p:cNvSpPr/>
          <p:nvPr/>
        </p:nvSpPr>
        <p:spPr>
          <a:xfrm>
            <a:off x="5248275" y="2394585"/>
            <a:ext cx="304800" cy="3048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170" name=""/>
          <p:cNvSpPr/>
          <p:nvPr/>
        </p:nvSpPr>
        <p:spPr>
          <a:xfrm>
            <a:off x="6172200" y="2261235"/>
            <a:ext cx="1162050" cy="114300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4224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1" name=""/>
          <p:cNvSpPr/>
          <p:nvPr/>
        </p:nvSpPr>
        <p:spPr>
          <a:xfrm>
            <a:off x="6600825" y="2394585"/>
            <a:ext cx="304800" cy="3048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172" name=""/>
          <p:cNvSpPr/>
          <p:nvPr/>
        </p:nvSpPr>
        <p:spPr>
          <a:xfrm>
            <a:off x="7524750" y="2261235"/>
            <a:ext cx="1162050" cy="114300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4224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3" name=""/>
          <p:cNvSpPr/>
          <p:nvPr/>
        </p:nvSpPr>
        <p:spPr>
          <a:xfrm>
            <a:off x="7953375" y="2394585"/>
            <a:ext cx="304800" cy="3048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174" name=""/>
          <p:cNvSpPr/>
          <p:nvPr/>
        </p:nvSpPr>
        <p:spPr>
          <a:xfrm>
            <a:off x="8877300" y="2261235"/>
            <a:ext cx="1162050" cy="114300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4224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5" name=""/>
          <p:cNvSpPr/>
          <p:nvPr/>
        </p:nvSpPr>
        <p:spPr>
          <a:xfrm>
            <a:off x="9305925" y="2394585"/>
            <a:ext cx="304800" cy="3048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176" name=""/>
          <p:cNvSpPr/>
          <p:nvPr/>
        </p:nvSpPr>
        <p:spPr>
          <a:xfrm>
            <a:off x="10229850" y="2261235"/>
            <a:ext cx="1085850" cy="1143000"/>
          </a:xfrm>
          <a:prstGeom prst="roundRect">
            <a:avLst>
              <a:gd name="adj" fmla="val 12281"/>
            </a:avLst>
          </a:prstGeom>
          <a:solidFill>
            <a:srgbClr val="0F172A"/>
          </a:solidFill>
          <a:ln w="14224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77" name=""/>
          <p:cNvSpPr/>
          <p:nvPr/>
        </p:nvSpPr>
        <p:spPr>
          <a:xfrm>
            <a:off x="10620375" y="2394585"/>
            <a:ext cx="304800" cy="3048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178" name=""/>
          <p:cNvSpPr/>
          <p:nvPr/>
        </p:nvSpPr>
        <p:spPr>
          <a:xfrm>
            <a:off x="819150" y="325755"/>
            <a:ext cx="5129784" cy="42100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 b="1">
                <a:solidFill>
                  <a:srgbClr val="0F172A"/>
                </a:solidFill>
                <a:latin typeface="Microsoft YaHei"/>
                <a:ea typeface="Microsoft YaHei"/>
              </a:rPr>
              <a:t>定位与核心闭环</a:t>
            </a:r>
            <a:endParaRPr lang="zh-CN" sz="26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79" name=""/>
          <p:cNvSpPr/>
          <p:nvPr/>
        </p:nvSpPr>
        <p:spPr>
          <a:xfrm>
            <a:off x="819150" y="784860"/>
            <a:ext cx="5129784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64748B"/>
                </a:solidFill>
                <a:latin typeface="Microsoft YaHei"/>
                <a:ea typeface="Microsoft YaHei"/>
              </a:rPr>
              <a:t>一站式定位：把「找题 — 写稿 — 改稿 — 发布」压缩进同一条链路</a:t>
            </a:r>
            <a:endParaRPr/>
          </a:p>
        </p:txBody>
      </p:sp>
      <p:sp>
        <p:nvSpPr>
          <p:cNvPr id="180" name=""/>
          <p:cNvSpPr/>
          <p:nvPr/>
        </p:nvSpPr>
        <p:spPr>
          <a:xfrm>
            <a:off x="609600" y="1143000"/>
            <a:ext cx="3714750" cy="11334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334155"/>
                </a:solidFill>
                <a:latin typeface="Microsoft YaHei"/>
                <a:ea typeface="Microsoft YaHei"/>
              </a:rPr>
              <a:t>面向微信公众号 / 小红书 / 抖音的一站式 AI 内容生产工作台：素材库与热点追踪打底，选题、生成、适配、导出逐环相扣，创作者不再在多个工具间搬运上下文。</a:t>
            </a:r>
            <a:endParaRPr/>
          </a:p>
        </p:txBody>
      </p:sp>
      <p:sp>
        <p:nvSpPr>
          <p:cNvPr id="181" name=""/>
          <p:cNvSpPr/>
          <p:nvPr/>
        </p:nvSpPr>
        <p:spPr>
          <a:xfrm>
            <a:off x="762000" y="2581275"/>
            <a:ext cx="857250" cy="3714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 b="1">
                <a:solidFill>
                  <a:srgbClr val="3B82F6"/>
                </a:solidFill>
                <a:latin typeface="Microsoft YaHei"/>
                <a:ea typeface="Microsoft YaHei"/>
              </a:rPr>
              <a:t>3</a:t>
            </a:r>
            <a:endParaRPr lang="zh-CN" sz="2200" b="1">
              <a:solidFill>
                <a:srgbClr val="3B82F6"/>
              </a:solidFill>
              <a:latin typeface="Microsoft YaHei"/>
              <a:ea typeface="Microsoft YaHei"/>
            </a:endParaRPr>
          </a:p>
        </p:txBody>
      </p:sp>
      <p:sp>
        <p:nvSpPr>
          <p:cNvPr id="182" name=""/>
          <p:cNvSpPr/>
          <p:nvPr/>
        </p:nvSpPr>
        <p:spPr>
          <a:xfrm>
            <a:off x="762000" y="2971800"/>
            <a:ext cx="857250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目标平台</a:t>
            </a:r>
            <a:endParaRPr/>
          </a:p>
        </p:txBody>
      </p:sp>
      <p:sp>
        <p:nvSpPr>
          <p:cNvPr id="183" name=""/>
          <p:cNvSpPr/>
          <p:nvPr/>
        </p:nvSpPr>
        <p:spPr>
          <a:xfrm>
            <a:off x="2038350" y="2581275"/>
            <a:ext cx="857250" cy="3714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 b="1">
                <a:solidFill>
                  <a:srgbClr val="3B82F6"/>
                </a:solidFill>
                <a:latin typeface="Microsoft YaHei"/>
                <a:ea typeface="Microsoft YaHei"/>
              </a:rPr>
              <a:t>5</a:t>
            </a:r>
            <a:endParaRPr lang="zh-CN" sz="2200" b="1">
              <a:solidFill>
                <a:srgbClr val="3B82F6"/>
              </a:solidFill>
              <a:latin typeface="Microsoft YaHei"/>
              <a:ea typeface="Microsoft YaHei"/>
            </a:endParaRPr>
          </a:p>
        </p:txBody>
      </p:sp>
      <p:sp>
        <p:nvSpPr>
          <p:cNvPr id="184" name=""/>
          <p:cNvSpPr/>
          <p:nvPr/>
        </p:nvSpPr>
        <p:spPr>
          <a:xfrm>
            <a:off x="2038350" y="2971800"/>
            <a:ext cx="857250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内容领域</a:t>
            </a:r>
            <a:endParaRPr/>
          </a:p>
        </p:txBody>
      </p:sp>
      <p:sp>
        <p:nvSpPr>
          <p:cNvPr id="185" name=""/>
          <p:cNvSpPr/>
          <p:nvPr/>
        </p:nvSpPr>
        <p:spPr>
          <a:xfrm>
            <a:off x="3314700" y="2581275"/>
            <a:ext cx="857250" cy="3714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 b="1">
                <a:solidFill>
                  <a:srgbClr val="3B82F6"/>
                </a:solidFill>
                <a:latin typeface="Microsoft YaHei"/>
                <a:ea typeface="Microsoft YaHei"/>
              </a:rPr>
              <a:t>3</a:t>
            </a:r>
            <a:endParaRPr lang="zh-CN" sz="2200" b="1">
              <a:solidFill>
                <a:srgbClr val="3B82F6"/>
              </a:solidFill>
              <a:latin typeface="Microsoft YaHei"/>
              <a:ea typeface="Microsoft YaHei"/>
            </a:endParaRPr>
          </a:p>
        </p:txBody>
      </p:sp>
      <p:sp>
        <p:nvSpPr>
          <p:cNvPr id="186" name=""/>
          <p:cNvSpPr/>
          <p:nvPr/>
        </p:nvSpPr>
        <p:spPr>
          <a:xfrm>
            <a:off x="3314700" y="2971800"/>
            <a:ext cx="857250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创作风格</a:t>
            </a:r>
            <a:endParaRPr/>
          </a:p>
        </p:txBody>
      </p:sp>
      <p:sp>
        <p:nvSpPr>
          <p:cNvPr id="187" name=""/>
          <p:cNvSpPr/>
          <p:nvPr/>
        </p:nvSpPr>
        <p:spPr>
          <a:xfrm>
            <a:off x="781050" y="3589909"/>
            <a:ext cx="3371850" cy="4857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E2E8F0"/>
                </a:solidFill>
                <a:latin typeface="Microsoft YaHei"/>
                <a:ea typeface="Microsoft YaHei"/>
              </a:rPr>
              <a:t>闭环即差异点：单点工具只解决一环，我们交付的是整条可演示、可度量流水线。</a:t>
            </a:r>
            <a:endParaRPr/>
          </a:p>
        </p:txBody>
      </p:sp>
      <p:sp>
        <p:nvSpPr>
          <p:cNvPr id="188" name=""/>
          <p:cNvSpPr/>
          <p:nvPr/>
        </p:nvSpPr>
        <p:spPr>
          <a:xfrm>
            <a:off x="4781550" y="1371600"/>
            <a:ext cx="6610350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核心闭环（计划书 T4.4 验收项）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89" name=""/>
          <p:cNvSpPr/>
          <p:nvPr/>
        </p:nvSpPr>
        <p:spPr>
          <a:xfrm>
            <a:off x="5359273" y="2487041"/>
            <a:ext cx="154305" cy="20002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</a:rPr>
              <a:t>1</a:t>
            </a:r>
            <a:endParaRPr lang="zh-CN" sz="1100" b="1">
              <a:solidFill>
                <a:srgbClr val="FFFFFF"/>
              </a:solidFill>
            </a:endParaRPr>
          </a:p>
        </p:txBody>
      </p:sp>
      <p:sp>
        <p:nvSpPr>
          <p:cNvPr id="190" name=""/>
          <p:cNvSpPr/>
          <p:nvPr/>
        </p:nvSpPr>
        <p:spPr>
          <a:xfrm>
            <a:off x="5076825" y="2795270"/>
            <a:ext cx="728726" cy="22669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</a:rPr>
              <a:t>热点看板</a:t>
            </a:r>
            <a:endParaRPr lang="zh-CN" sz="1300" b="1">
              <a:solidFill>
                <a:srgbClr val="0F172A"/>
              </a:solidFill>
            </a:endParaRPr>
          </a:p>
        </p:txBody>
      </p:sp>
      <p:sp>
        <p:nvSpPr>
          <p:cNvPr id="191" name=""/>
          <p:cNvSpPr/>
          <p:nvPr/>
        </p:nvSpPr>
        <p:spPr>
          <a:xfrm>
            <a:off x="5000625" y="3062859"/>
            <a:ext cx="857250" cy="1600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</a:rPr>
              <a:t>多领域热度追踪</a:t>
            </a:r>
            <a:endParaRPr/>
          </a:p>
        </p:txBody>
      </p:sp>
      <p:sp>
        <p:nvSpPr>
          <p:cNvPr id="192" name=""/>
          <p:cNvSpPr/>
          <p:nvPr/>
        </p:nvSpPr>
        <p:spPr>
          <a:xfrm>
            <a:off x="6711823" y="2487041"/>
            <a:ext cx="154305" cy="20002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</a:rPr>
              <a:t>2</a:t>
            </a:r>
            <a:endParaRPr lang="zh-CN" sz="1100" b="1">
              <a:solidFill>
                <a:srgbClr val="FFFFFF"/>
              </a:solidFill>
            </a:endParaRPr>
          </a:p>
        </p:txBody>
      </p:sp>
      <p:sp>
        <p:nvSpPr>
          <p:cNvPr id="193" name=""/>
          <p:cNvSpPr/>
          <p:nvPr/>
        </p:nvSpPr>
        <p:spPr>
          <a:xfrm>
            <a:off x="6429375" y="2795270"/>
            <a:ext cx="728726" cy="22669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</a:rPr>
              <a:t>选题列表</a:t>
            </a:r>
            <a:endParaRPr lang="zh-CN" sz="1300" b="1">
              <a:solidFill>
                <a:srgbClr val="0F172A"/>
              </a:solidFill>
            </a:endParaRPr>
          </a:p>
        </p:txBody>
      </p:sp>
      <p:sp>
        <p:nvSpPr>
          <p:cNvPr id="194" name=""/>
          <p:cNvSpPr/>
          <p:nvPr/>
        </p:nvSpPr>
        <p:spPr>
          <a:xfrm>
            <a:off x="6410325" y="3062859"/>
            <a:ext cx="742950" cy="1600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</a:rPr>
              <a:t>一键选用热点</a:t>
            </a:r>
            <a:endParaRPr/>
          </a:p>
        </p:txBody>
      </p:sp>
      <p:sp>
        <p:nvSpPr>
          <p:cNvPr id="195" name=""/>
          <p:cNvSpPr/>
          <p:nvPr/>
        </p:nvSpPr>
        <p:spPr>
          <a:xfrm>
            <a:off x="8064373" y="2487041"/>
            <a:ext cx="154305" cy="20002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</a:rPr>
              <a:t>3</a:t>
            </a:r>
            <a:endParaRPr lang="zh-CN" sz="1100" b="1">
              <a:solidFill>
                <a:srgbClr val="FFFFFF"/>
              </a:solidFill>
            </a:endParaRPr>
          </a:p>
        </p:txBody>
      </p:sp>
      <p:sp>
        <p:nvSpPr>
          <p:cNvPr id="196" name=""/>
          <p:cNvSpPr/>
          <p:nvPr/>
        </p:nvSpPr>
        <p:spPr>
          <a:xfrm>
            <a:off x="7781925" y="2795270"/>
            <a:ext cx="728726" cy="22669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</a:rPr>
              <a:t>文案生成</a:t>
            </a:r>
            <a:endParaRPr lang="zh-CN" sz="1300" b="1">
              <a:solidFill>
                <a:srgbClr val="0F172A"/>
              </a:solidFill>
            </a:endParaRPr>
          </a:p>
        </p:txBody>
      </p:sp>
      <p:sp>
        <p:nvSpPr>
          <p:cNvPr id="197" name=""/>
          <p:cNvSpPr/>
          <p:nvPr/>
        </p:nvSpPr>
        <p:spPr>
          <a:xfrm>
            <a:off x="7756017" y="3062859"/>
            <a:ext cx="756666" cy="1600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</a:rPr>
              <a:t>RAG · ≥3 版本</a:t>
            </a:r>
            <a:endParaRPr/>
          </a:p>
        </p:txBody>
      </p:sp>
      <p:sp>
        <p:nvSpPr>
          <p:cNvPr id="198" name=""/>
          <p:cNvSpPr/>
          <p:nvPr/>
        </p:nvSpPr>
        <p:spPr>
          <a:xfrm>
            <a:off x="9416923" y="2487041"/>
            <a:ext cx="154305" cy="20002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</a:rPr>
              <a:t>4</a:t>
            </a:r>
            <a:endParaRPr lang="zh-CN" sz="1100" b="1">
              <a:solidFill>
                <a:srgbClr val="FFFFFF"/>
              </a:solidFill>
            </a:endParaRPr>
          </a:p>
        </p:txBody>
      </p:sp>
      <p:sp>
        <p:nvSpPr>
          <p:cNvPr id="199" name=""/>
          <p:cNvSpPr/>
          <p:nvPr/>
        </p:nvSpPr>
        <p:spPr>
          <a:xfrm>
            <a:off x="9134475" y="2795270"/>
            <a:ext cx="728726" cy="22669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</a:rPr>
              <a:t>平台适配</a:t>
            </a:r>
            <a:endParaRPr lang="zh-CN" sz="1300" b="1">
              <a:solidFill>
                <a:srgbClr val="0F172A"/>
              </a:solidFill>
            </a:endParaRPr>
          </a:p>
        </p:txBody>
      </p:sp>
      <p:sp>
        <p:nvSpPr>
          <p:cNvPr id="200" name=""/>
          <p:cNvSpPr/>
          <p:nvPr/>
        </p:nvSpPr>
        <p:spPr>
          <a:xfrm>
            <a:off x="9172575" y="3062859"/>
            <a:ext cx="628650" cy="1600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</a:rPr>
              <a:t>按规范预览</a:t>
            </a:r>
            <a:endParaRPr/>
          </a:p>
        </p:txBody>
      </p:sp>
      <p:sp>
        <p:nvSpPr>
          <p:cNvPr id="201" name=""/>
          <p:cNvSpPr/>
          <p:nvPr/>
        </p:nvSpPr>
        <p:spPr>
          <a:xfrm>
            <a:off x="10731373" y="2487041"/>
            <a:ext cx="154305" cy="20002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</a:rPr>
              <a:t>5</a:t>
            </a:r>
            <a:endParaRPr lang="zh-CN" sz="1100" b="1">
              <a:solidFill>
                <a:srgbClr val="FFFFFF"/>
              </a:solidFill>
            </a:endParaRPr>
          </a:p>
        </p:txBody>
      </p:sp>
      <p:sp>
        <p:nvSpPr>
          <p:cNvPr id="202" name=""/>
          <p:cNvSpPr/>
          <p:nvPr/>
        </p:nvSpPr>
        <p:spPr>
          <a:xfrm>
            <a:off x="10448925" y="2795270"/>
            <a:ext cx="728726" cy="22669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FFFFFF"/>
                </a:solidFill>
              </a:rPr>
              <a:t>导出发布</a:t>
            </a:r>
            <a:endParaRPr lang="zh-CN" sz="1300" b="1">
              <a:solidFill>
                <a:srgbClr val="FFFFFF"/>
              </a:solidFill>
            </a:endParaRPr>
          </a:p>
        </p:txBody>
      </p:sp>
      <p:sp>
        <p:nvSpPr>
          <p:cNvPr id="203" name=""/>
          <p:cNvSpPr/>
          <p:nvPr/>
        </p:nvSpPr>
        <p:spPr>
          <a:xfrm>
            <a:off x="10480167" y="3062859"/>
            <a:ext cx="642366" cy="1600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</a:rPr>
              <a:t>txt / docx</a:t>
            </a:r>
            <a:endParaRPr/>
          </a:p>
        </p:txBody>
      </p:sp>
      <p:sp>
        <p:nvSpPr>
          <p:cNvPr id="204" name=""/>
          <p:cNvSpPr/>
          <p:nvPr/>
        </p:nvSpPr>
        <p:spPr>
          <a:xfrm>
            <a:off x="6910324" y="4083812"/>
            <a:ext cx="2414524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</a:rPr>
              <a:t>导出反馈反哺下一轮选题（闭环持续运转）</a:t>
            </a:r>
            <a:endParaRPr/>
          </a:p>
        </p:txBody>
      </p:sp>
      <p:sp>
        <p:nvSpPr>
          <p:cNvPr id="205" name=""/>
          <p:cNvSpPr/>
          <p:nvPr/>
        </p:nvSpPr>
        <p:spPr>
          <a:xfrm>
            <a:off x="6491859" y="4445762"/>
            <a:ext cx="3251580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</a:rPr>
              <a:t>六页工作台 + FlowContext 跨页流转，全程无需切换工具</a:t>
            </a:r>
            <a:endParaRPr/>
          </a:p>
        </p:txBody>
      </p:sp>
      <p:sp>
        <p:nvSpPr>
          <p:cNvPr id="206" name=""/>
          <p:cNvSpPr/>
          <p:nvPr/>
        </p:nvSpPr>
        <p:spPr>
          <a:xfrm>
            <a:off x="781050" y="6295009"/>
            <a:ext cx="2072258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AI 自媒体内容创作助手 · 项目汇报</a:t>
            </a:r>
            <a:endParaRPr/>
          </a:p>
        </p:txBody>
      </p:sp>
      <p:sp>
        <p:nvSpPr>
          <p:cNvPr id="207" name=""/>
          <p:cNvSpPr/>
          <p:nvPr/>
        </p:nvSpPr>
        <p:spPr>
          <a:xfrm>
            <a:off x="11131677" y="6295009"/>
            <a:ext cx="45072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  <p:sp>
        <p:nvSpPr>
          <p:cNvPr id="208" name=""/>
          <p:cNvSpPr/>
          <p:nvPr/>
        </p:nvSpPr>
        <p:spPr>
          <a:xfrm flipH="1">
            <a:off x="10667111" y="3461385"/>
            <a:ext cx="105664" cy="117855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flipH="1">
            <a:off x="10374884" y="3579241"/>
            <a:ext cx="292226" cy="96520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flipH="1">
            <a:off x="9933432" y="3675761"/>
            <a:ext cx="441451" cy="74929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flipH="1">
            <a:off x="9379966" y="3750691"/>
            <a:ext cx="553465" cy="53594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flipH="1">
            <a:off x="8752078" y="3804285"/>
            <a:ext cx="627888" cy="32130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flipH="1">
            <a:off x="8086725" y="3836416"/>
            <a:ext cx="665352" cy="10668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flipH="1" flipV="1">
            <a:off x="7421372" y="3836416"/>
            <a:ext cx="665352" cy="10668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flipH="1" flipV="1">
            <a:off x="6793484" y="3804285"/>
            <a:ext cx="627888" cy="32130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flipH="1" flipV="1">
            <a:off x="6240018" y="3750691"/>
            <a:ext cx="553465" cy="53594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flipH="1" flipV="1">
            <a:off x="5798566" y="3675761"/>
            <a:ext cx="441451" cy="74929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flipH="1" flipV="1">
            <a:off x="5506339" y="3579241"/>
            <a:ext cx="292226" cy="96520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flipH="1" flipV="1">
            <a:off x="5400675" y="3461385"/>
            <a:ext cx="105663" cy="117855"/>
          </a:xfrm>
          <a:prstGeom prst="line">
            <a:avLst/>
          </a:prstGeom>
          <a:noFill/>
          <a:ln w="14224">
            <a:solidFill>
              <a:srgbClr val="06B6D4"/>
            </a:solidFill>
            <a:prstDash val="dash"/>
          </a:ln>
        </p:spPr>
        <p:txBody>
          <a:bodyPr/>
          <a:p/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p/>
        </p:txBody>
      </p:sp>
      <p:sp>
        <p:nvSpPr>
          <p:cNvPr id="222" name=""/>
          <p:cNvSpPr/>
          <p:nvPr/>
        </p:nvSpPr>
        <p:spPr>
          <a:xfrm>
            <a:off x="609600" y="190500"/>
            <a:ext cx="3486150" cy="5905500"/>
          </a:xfrm>
          <a:prstGeom prst="roundRect">
            <a:avLst>
              <a:gd name="adj" fmla="val 4372"/>
            </a:avLst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223" name=""/>
          <p:cNvSpPr/>
          <p:nvPr/>
        </p:nvSpPr>
        <p:spPr>
          <a:xfrm>
            <a:off x="1028700" y="60960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B82F6">
              <a:alpha val="1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4" name=""/>
          <p:cNvSpPr/>
          <p:nvPr/>
        </p:nvSpPr>
        <p:spPr>
          <a:xfrm>
            <a:off x="1164336" y="745236"/>
            <a:ext cx="224028" cy="224028"/>
          </a:xfrm>
          <a:prstGeom prst="donut">
            <a:avLst/>
          </a:prstGeom>
          <a:solidFill>
            <a:srgbClr val="67E8F9"/>
          </a:solidFill>
          <a:ln>
            <a:noFill/>
          </a:ln>
        </p:spPr>
        <p:txBody>
          <a:bodyPr/>
          <a:p/>
        </p:txBody>
      </p:sp>
      <p:sp>
        <p:nvSpPr>
          <p:cNvPr id="225" name=""/>
          <p:cNvSpPr/>
          <p:nvPr/>
        </p:nvSpPr>
        <p:spPr>
          <a:xfrm>
            <a:off x="1233678" y="814578"/>
            <a:ext cx="85344" cy="85344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txBody>
          <a:bodyPr/>
          <a:p/>
        </p:txBody>
      </p:sp>
      <p:sp>
        <p:nvSpPr>
          <p:cNvPr id="226" name=""/>
          <p:cNvSpPr/>
          <p:nvPr/>
        </p:nvSpPr>
        <p:spPr>
          <a:xfrm>
            <a:off x="1028700" y="1352550"/>
            <a:ext cx="533400" cy="381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227" name=""/>
          <p:cNvSpPr/>
          <p:nvPr/>
        </p:nvSpPr>
        <p:spPr>
          <a:xfrm>
            <a:off x="4362450" y="190500"/>
            <a:ext cx="7219950" cy="643890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8" name=""/>
          <p:cNvSpPr/>
          <p:nvPr/>
        </p:nvSpPr>
        <p:spPr>
          <a:xfrm>
            <a:off x="4553712" y="448056"/>
            <a:ext cx="74295" cy="34671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29" name=""/>
          <p:cNvSpPr/>
          <p:nvPr/>
        </p:nvSpPr>
        <p:spPr>
          <a:xfrm>
            <a:off x="4553712" y="472821"/>
            <a:ext cx="208026" cy="128778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30" name=""/>
          <p:cNvSpPr/>
          <p:nvPr/>
        </p:nvSpPr>
        <p:spPr>
          <a:xfrm>
            <a:off x="4362450" y="1242822"/>
            <a:ext cx="7219950" cy="643890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1" name=""/>
          <p:cNvSpPr/>
          <p:nvPr/>
        </p:nvSpPr>
        <p:spPr>
          <a:xfrm>
            <a:off x="4551299" y="1597025"/>
            <a:ext cx="44577" cy="44577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32" name=""/>
          <p:cNvSpPr/>
          <p:nvPr/>
        </p:nvSpPr>
        <p:spPr>
          <a:xfrm>
            <a:off x="4635500" y="1517777"/>
            <a:ext cx="44577" cy="44577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33" name=""/>
          <p:cNvSpPr/>
          <p:nvPr/>
        </p:nvSpPr>
        <p:spPr>
          <a:xfrm>
            <a:off x="4719574" y="1458341"/>
            <a:ext cx="44577" cy="44577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34" name=""/>
          <p:cNvSpPr/>
          <p:nvPr/>
        </p:nvSpPr>
        <p:spPr>
          <a:xfrm>
            <a:off x="4362450" y="2295144"/>
            <a:ext cx="7219950" cy="643890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5" name=""/>
          <p:cNvSpPr/>
          <p:nvPr/>
        </p:nvSpPr>
        <p:spPr>
          <a:xfrm>
            <a:off x="4533900" y="2493264"/>
            <a:ext cx="247650" cy="247650"/>
          </a:xfrm>
          <a:prstGeom prst="star5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36" name=""/>
          <p:cNvSpPr/>
          <p:nvPr/>
        </p:nvSpPr>
        <p:spPr>
          <a:xfrm>
            <a:off x="4362450" y="3347466"/>
            <a:ext cx="7219950" cy="643890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2700000">
            <a:off x="4583430" y="3560445"/>
            <a:ext cx="84201" cy="217932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38" name=""/>
          <p:cNvSpPr/>
          <p:nvPr/>
        </p:nvSpPr>
        <p:spPr>
          <a:xfrm>
            <a:off x="4362450" y="4399788"/>
            <a:ext cx="7219950" cy="643890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9" name=""/>
          <p:cNvSpPr/>
          <p:nvPr/>
        </p:nvSpPr>
        <p:spPr>
          <a:xfrm>
            <a:off x="4556125" y="4625213"/>
            <a:ext cx="64389" cy="64389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40" name=""/>
          <p:cNvSpPr/>
          <p:nvPr/>
        </p:nvSpPr>
        <p:spPr>
          <a:xfrm>
            <a:off x="4694809" y="4625213"/>
            <a:ext cx="64389" cy="64389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41" name=""/>
          <p:cNvSpPr/>
          <p:nvPr/>
        </p:nvSpPr>
        <p:spPr>
          <a:xfrm>
            <a:off x="4625594" y="4758944"/>
            <a:ext cx="64389" cy="64389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42" name=""/>
          <p:cNvSpPr/>
          <p:nvPr/>
        </p:nvSpPr>
        <p:spPr>
          <a:xfrm>
            <a:off x="4362450" y="5452110"/>
            <a:ext cx="7219950" cy="643890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3" name=""/>
          <p:cNvSpPr/>
          <p:nvPr/>
        </p:nvSpPr>
        <p:spPr>
          <a:xfrm>
            <a:off x="4608195" y="5674995"/>
            <a:ext cx="99060" cy="990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44" name=""/>
          <p:cNvSpPr/>
          <p:nvPr/>
        </p:nvSpPr>
        <p:spPr>
          <a:xfrm>
            <a:off x="4578477" y="5783961"/>
            <a:ext cx="158496" cy="113919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45" name=""/>
          <p:cNvSpPr/>
          <p:nvPr/>
        </p:nvSpPr>
        <p:spPr>
          <a:xfrm>
            <a:off x="1657350" y="646811"/>
            <a:ext cx="1943100" cy="42100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六大功能模块</a:t>
            </a:r>
            <a:endParaRPr lang="zh-CN" sz="26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6" name=""/>
          <p:cNvSpPr/>
          <p:nvPr/>
        </p:nvSpPr>
        <p:spPr>
          <a:xfrm>
            <a:off x="1028700" y="1619250"/>
            <a:ext cx="2647950" cy="8229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对应计划书 F1–F6 功能清单，每模块均可独立演示，合起来构成完整创作闭环。</a:t>
            </a:r>
            <a:endParaRPr/>
          </a:p>
        </p:txBody>
      </p:sp>
      <p:sp>
        <p:nvSpPr>
          <p:cNvPr id="247" name=""/>
          <p:cNvSpPr/>
          <p:nvPr/>
        </p:nvSpPr>
        <p:spPr>
          <a:xfrm>
            <a:off x="1028700" y="5515991"/>
            <a:ext cx="2647950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F1 – F6 · 模块全景</a:t>
            </a:r>
            <a:endParaRPr/>
          </a:p>
        </p:txBody>
      </p:sp>
      <p:sp>
        <p:nvSpPr>
          <p:cNvPr id="248" name=""/>
          <p:cNvSpPr/>
          <p:nvPr/>
        </p:nvSpPr>
        <p:spPr>
          <a:xfrm>
            <a:off x="4933950" y="304800"/>
            <a:ext cx="6180963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素材库管理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249" name=""/>
          <p:cNvSpPr/>
          <p:nvPr/>
        </p:nvSpPr>
        <p:spPr>
          <a:xfrm>
            <a:off x="4933950" y="546735"/>
            <a:ext cx="618096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语料导入 / 自动分块 / 加密存储 / 语义检索</a:t>
            </a:r>
            <a:endParaRPr/>
          </a:p>
        </p:txBody>
      </p:sp>
      <p:sp>
        <p:nvSpPr>
          <p:cNvPr id="250" name=""/>
          <p:cNvSpPr/>
          <p:nvPr/>
        </p:nvSpPr>
        <p:spPr>
          <a:xfrm>
            <a:off x="11267313" y="431927"/>
            <a:ext cx="143637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F1</a:t>
            </a:r>
            <a:endParaRPr/>
          </a:p>
        </p:txBody>
      </p:sp>
      <p:sp>
        <p:nvSpPr>
          <p:cNvPr id="251" name=""/>
          <p:cNvSpPr/>
          <p:nvPr/>
        </p:nvSpPr>
        <p:spPr>
          <a:xfrm>
            <a:off x="4933950" y="1357122"/>
            <a:ext cx="6180963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热点看板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252" name=""/>
          <p:cNvSpPr/>
          <p:nvPr/>
        </p:nvSpPr>
        <p:spPr>
          <a:xfrm>
            <a:off x="4933950" y="1599057"/>
            <a:ext cx="618096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五领域热点采集、热度与趋势可视化</a:t>
            </a:r>
            <a:endParaRPr/>
          </a:p>
        </p:txBody>
      </p:sp>
      <p:sp>
        <p:nvSpPr>
          <p:cNvPr id="253" name=""/>
          <p:cNvSpPr/>
          <p:nvPr/>
        </p:nvSpPr>
        <p:spPr>
          <a:xfrm>
            <a:off x="11267313" y="1484249"/>
            <a:ext cx="143637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F1</a:t>
            </a:r>
            <a:endParaRPr/>
          </a:p>
        </p:txBody>
      </p:sp>
      <p:sp>
        <p:nvSpPr>
          <p:cNvPr id="254" name=""/>
          <p:cNvSpPr/>
          <p:nvPr/>
        </p:nvSpPr>
        <p:spPr>
          <a:xfrm>
            <a:off x="4933950" y="2409444"/>
            <a:ext cx="6180963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选题策划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255" name=""/>
          <p:cNvSpPr/>
          <p:nvPr/>
        </p:nvSpPr>
        <p:spPr>
          <a:xfrm>
            <a:off x="4933950" y="2651379"/>
            <a:ext cx="618096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结合账号人设与热点，一键生成 ≥3 条选题</a:t>
            </a:r>
            <a:endParaRPr/>
          </a:p>
        </p:txBody>
      </p:sp>
      <p:sp>
        <p:nvSpPr>
          <p:cNvPr id="256" name=""/>
          <p:cNvSpPr/>
          <p:nvPr/>
        </p:nvSpPr>
        <p:spPr>
          <a:xfrm>
            <a:off x="11267313" y="2536571"/>
            <a:ext cx="143637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F2</a:t>
            </a:r>
            <a:endParaRPr/>
          </a:p>
        </p:txBody>
      </p:sp>
      <p:sp>
        <p:nvSpPr>
          <p:cNvPr id="257" name=""/>
          <p:cNvSpPr/>
          <p:nvPr/>
        </p:nvSpPr>
        <p:spPr>
          <a:xfrm>
            <a:off x="4933950" y="3461766"/>
            <a:ext cx="5906008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文案生成对比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258" name=""/>
          <p:cNvSpPr/>
          <p:nvPr/>
        </p:nvSpPr>
        <p:spPr>
          <a:xfrm>
            <a:off x="4933950" y="3703701"/>
            <a:ext cx="5906008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RAG 检索增强 + SSE 流式产出多版本对比</a:t>
            </a:r>
            <a:endParaRPr/>
          </a:p>
        </p:txBody>
      </p:sp>
      <p:sp>
        <p:nvSpPr>
          <p:cNvPr id="259" name=""/>
          <p:cNvSpPr/>
          <p:nvPr/>
        </p:nvSpPr>
        <p:spPr>
          <a:xfrm>
            <a:off x="10992358" y="3588893"/>
            <a:ext cx="418465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F3 / F4</a:t>
            </a:r>
            <a:endParaRPr/>
          </a:p>
        </p:txBody>
      </p:sp>
      <p:sp>
        <p:nvSpPr>
          <p:cNvPr id="260" name=""/>
          <p:cNvSpPr/>
          <p:nvPr/>
        </p:nvSpPr>
        <p:spPr>
          <a:xfrm>
            <a:off x="4933950" y="4514088"/>
            <a:ext cx="6180963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平台适配预览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261" name=""/>
          <p:cNvSpPr/>
          <p:nvPr/>
        </p:nvSpPr>
        <p:spPr>
          <a:xfrm>
            <a:off x="4933950" y="4756023"/>
            <a:ext cx="618096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按平台硬性规范逐条适配，支持 txt / docx 导出</a:t>
            </a:r>
            <a:endParaRPr/>
          </a:p>
        </p:txBody>
      </p:sp>
      <p:sp>
        <p:nvSpPr>
          <p:cNvPr id="262" name=""/>
          <p:cNvSpPr/>
          <p:nvPr/>
        </p:nvSpPr>
        <p:spPr>
          <a:xfrm>
            <a:off x="11267313" y="4641215"/>
            <a:ext cx="143637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F5</a:t>
            </a:r>
            <a:endParaRPr/>
          </a:p>
        </p:txBody>
      </p:sp>
      <p:sp>
        <p:nvSpPr>
          <p:cNvPr id="263" name=""/>
          <p:cNvSpPr/>
          <p:nvPr/>
        </p:nvSpPr>
        <p:spPr>
          <a:xfrm>
            <a:off x="4933950" y="5566410"/>
            <a:ext cx="6180963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账号人设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264" name=""/>
          <p:cNvSpPr/>
          <p:nvPr/>
        </p:nvSpPr>
        <p:spPr>
          <a:xfrm>
            <a:off x="4933950" y="5808345"/>
            <a:ext cx="618096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定位 / 语气 / 领域配置，驱动全链路风格一致</a:t>
            </a:r>
            <a:endParaRPr/>
          </a:p>
        </p:txBody>
      </p:sp>
      <p:sp>
        <p:nvSpPr>
          <p:cNvPr id="265" name=""/>
          <p:cNvSpPr/>
          <p:nvPr/>
        </p:nvSpPr>
        <p:spPr>
          <a:xfrm>
            <a:off x="11267313" y="5693537"/>
            <a:ext cx="143637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F6</a:t>
            </a:r>
            <a:endParaRPr/>
          </a:p>
        </p:txBody>
      </p:sp>
      <p:sp>
        <p:nvSpPr>
          <p:cNvPr id="266" name=""/>
          <p:cNvSpPr/>
          <p:nvPr/>
        </p:nvSpPr>
        <p:spPr>
          <a:xfrm>
            <a:off x="781050" y="6295009"/>
            <a:ext cx="2072258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AI 自媒体内容创作助手 · 项目汇报</a:t>
            </a:r>
            <a:endParaRPr/>
          </a:p>
        </p:txBody>
      </p:sp>
      <p:sp>
        <p:nvSpPr>
          <p:cNvPr id="267" name=""/>
          <p:cNvSpPr/>
          <p:nvPr/>
        </p:nvSpPr>
        <p:spPr>
          <a:xfrm>
            <a:off x="11131677" y="6295009"/>
            <a:ext cx="45072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  <p:sp>
        <p:nvSpPr>
          <p:cNvPr id="268" name=""/>
          <p:cNvSpPr/>
          <p:nvPr/>
        </p:nvSpPr>
        <p:spPr>
          <a:xfrm flipV="1">
            <a:off x="4573524" y="1540002"/>
            <a:ext cx="84200" cy="79247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flipV="1">
            <a:off x="4657725" y="1480566"/>
            <a:ext cx="84200" cy="59436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270" name=""/>
          <p:cNvSpPr/>
          <p:nvPr/>
        </p:nvSpPr>
        <p:spPr>
          <a:xfrm>
            <a:off x="4608195" y="4679696"/>
            <a:ext cx="34670" cy="86613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flipH="1">
            <a:off x="4672584" y="4679696"/>
            <a:ext cx="34670" cy="86613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274" name=""/>
          <p:cNvSpPr/>
          <p:nvPr/>
        </p:nvSpPr>
        <p:spPr>
          <a:xfrm>
            <a:off x="2952750" y="3439414"/>
            <a:ext cx="685800" cy="381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275" name=""/>
          <p:cNvSpPr/>
          <p:nvPr/>
        </p:nvSpPr>
        <p:spPr>
          <a:xfrm>
            <a:off x="762000" y="2714625"/>
            <a:ext cx="1657350" cy="142875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200" b="1" spc="-4">
                <a:solidFill>
                  <a:srgbClr val="209CE5"/>
                </a:solidFill>
                <a:latin typeface="Microsoft YaHei"/>
                <a:ea typeface="Microsoft YaHei"/>
              </a:rPr>
              <a:t>02</a:t>
            </a:r>
            <a:endParaRPr lang="zh-CN" sz="11200" b="1" spc="-4">
              <a:solidFill>
                <a:srgbClr val="209CE5"/>
              </a:solidFill>
              <a:latin typeface="Microsoft YaHei"/>
              <a:ea typeface="Microsoft YaHei"/>
            </a:endParaRPr>
          </a:p>
        </p:txBody>
      </p:sp>
      <p:sp>
        <p:nvSpPr>
          <p:cNvPr id="276" name=""/>
          <p:cNvSpPr/>
          <p:nvPr/>
        </p:nvSpPr>
        <p:spPr>
          <a:xfrm>
            <a:off x="2952750" y="2523109"/>
            <a:ext cx="6096000" cy="6686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4000" b="1">
                <a:solidFill>
                  <a:srgbClr val="FFFFFF"/>
                </a:solidFill>
                <a:latin typeface="Microsoft YaHei"/>
                <a:ea typeface="Microsoft YaHei"/>
              </a:rPr>
              <a:t>技术方案</a:t>
            </a:r>
            <a:endParaRPr lang="zh-CN" sz="4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77" name=""/>
          <p:cNvSpPr/>
          <p:nvPr/>
        </p:nvSpPr>
        <p:spPr>
          <a:xfrm>
            <a:off x="2952750" y="3687064"/>
            <a:ext cx="6096000" cy="647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CBD5E1"/>
                </a:solidFill>
                <a:latin typeface="Microsoft YaHei"/>
                <a:ea typeface="Microsoft YaHei"/>
              </a:rPr>
              <a:t>四层系统架构与四项关键技术：检索、编排、安全、流式各自闭环，合起来支撑「离线可跑、接 Key 即用」。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p/>
        </p:txBody>
      </p:sp>
      <p:sp>
        <p:nvSpPr>
          <p:cNvPr id="280" name=""/>
          <p:cNvSpPr/>
          <p:nvPr/>
        </p:nvSpPr>
        <p:spPr>
          <a:xfrm>
            <a:off x="609600" y="504825"/>
            <a:ext cx="57150" cy="32385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281" name=""/>
          <p:cNvSpPr/>
          <p:nvPr/>
        </p:nvSpPr>
        <p:spPr>
          <a:xfrm>
            <a:off x="609600" y="1143000"/>
            <a:ext cx="62865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2" name=""/>
          <p:cNvSpPr/>
          <p:nvPr/>
        </p:nvSpPr>
        <p:spPr>
          <a:xfrm>
            <a:off x="933450" y="1447800"/>
            <a:ext cx="5638800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4224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3" name=""/>
          <p:cNvSpPr/>
          <p:nvPr/>
        </p:nvSpPr>
        <p:spPr>
          <a:xfrm>
            <a:off x="933450" y="1447800"/>
            <a:ext cx="57150" cy="9144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10800000">
            <a:off x="3695700" y="2590800"/>
            <a:ext cx="114300" cy="114300"/>
          </a:xfrm>
          <a:prstGeom prst="triangl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85" name=""/>
          <p:cNvSpPr/>
          <p:nvPr/>
        </p:nvSpPr>
        <p:spPr>
          <a:xfrm>
            <a:off x="933450" y="2743200"/>
            <a:ext cx="5638800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4224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6" name=""/>
          <p:cNvSpPr/>
          <p:nvPr/>
        </p:nvSpPr>
        <p:spPr>
          <a:xfrm>
            <a:off x="933450" y="2743200"/>
            <a:ext cx="57150" cy="9144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10800000">
            <a:off x="3695700" y="3886200"/>
            <a:ext cx="114300" cy="114300"/>
          </a:xfrm>
          <a:prstGeom prst="triangl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88" name=""/>
          <p:cNvSpPr/>
          <p:nvPr/>
        </p:nvSpPr>
        <p:spPr>
          <a:xfrm>
            <a:off x="933450" y="4038600"/>
            <a:ext cx="5638800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4224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9" name=""/>
          <p:cNvSpPr/>
          <p:nvPr/>
        </p:nvSpPr>
        <p:spPr>
          <a:xfrm>
            <a:off x="933450" y="4038600"/>
            <a:ext cx="57150" cy="9144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10800000">
            <a:off x="3695700" y="5181600"/>
            <a:ext cx="114300" cy="114300"/>
          </a:xfrm>
          <a:prstGeom prst="triangl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91" name=""/>
          <p:cNvSpPr/>
          <p:nvPr/>
        </p:nvSpPr>
        <p:spPr>
          <a:xfrm>
            <a:off x="933450" y="5334000"/>
            <a:ext cx="5638800" cy="495300"/>
          </a:xfrm>
          <a:prstGeom prst="roundRect">
            <a:avLst>
              <a:gd name="adj" fmla="val 23077"/>
            </a:avLst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292" name=""/>
          <p:cNvSpPr/>
          <p:nvPr/>
        </p:nvSpPr>
        <p:spPr>
          <a:xfrm>
            <a:off x="7162800" y="1143000"/>
            <a:ext cx="4419600" cy="902462"/>
          </a:xfrm>
          <a:prstGeom prst="roundRect">
            <a:avLst>
              <a:gd name="adj" fmla="val 1477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3" name=""/>
          <p:cNvSpPr/>
          <p:nvPr/>
        </p:nvSpPr>
        <p:spPr>
          <a:xfrm>
            <a:off x="7387971" y="1358519"/>
            <a:ext cx="49530" cy="990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94" name=""/>
          <p:cNvSpPr/>
          <p:nvPr/>
        </p:nvSpPr>
        <p:spPr>
          <a:xfrm>
            <a:off x="7452360" y="1304036"/>
            <a:ext cx="49530" cy="15354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95" name=""/>
          <p:cNvSpPr/>
          <p:nvPr/>
        </p:nvSpPr>
        <p:spPr>
          <a:xfrm>
            <a:off x="7516749" y="1254506"/>
            <a:ext cx="49530" cy="20307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96" name=""/>
          <p:cNvSpPr/>
          <p:nvPr/>
        </p:nvSpPr>
        <p:spPr>
          <a:xfrm>
            <a:off x="7162800" y="2197862"/>
            <a:ext cx="4419600" cy="902462"/>
          </a:xfrm>
          <a:prstGeom prst="roundRect">
            <a:avLst>
              <a:gd name="adj" fmla="val 1477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7" name=""/>
          <p:cNvSpPr/>
          <p:nvPr/>
        </p:nvSpPr>
        <p:spPr>
          <a:xfrm>
            <a:off x="7422642" y="2314321"/>
            <a:ext cx="108966" cy="10896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98" name=""/>
          <p:cNvSpPr/>
          <p:nvPr/>
        </p:nvSpPr>
        <p:spPr>
          <a:xfrm>
            <a:off x="7407783" y="2413381"/>
            <a:ext cx="138684" cy="108966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99" name=""/>
          <p:cNvSpPr/>
          <p:nvPr/>
        </p:nvSpPr>
        <p:spPr>
          <a:xfrm>
            <a:off x="7162800" y="3252724"/>
            <a:ext cx="4419600" cy="902462"/>
          </a:xfrm>
          <a:prstGeom prst="roundRect">
            <a:avLst>
              <a:gd name="adj" fmla="val 1477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0" name=""/>
          <p:cNvSpPr/>
          <p:nvPr/>
        </p:nvSpPr>
        <p:spPr>
          <a:xfrm>
            <a:off x="7353300" y="3413760"/>
            <a:ext cx="247650" cy="108966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301" name=""/>
          <p:cNvSpPr/>
          <p:nvPr/>
        </p:nvSpPr>
        <p:spPr>
          <a:xfrm>
            <a:off x="819150" y="325755"/>
            <a:ext cx="4467987" cy="42100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 b="1">
                <a:solidFill>
                  <a:srgbClr val="0F172A"/>
                </a:solidFill>
                <a:latin typeface="Microsoft YaHei"/>
                <a:ea typeface="Microsoft YaHei"/>
              </a:rPr>
              <a:t>系统架构</a:t>
            </a:r>
            <a:endParaRPr lang="zh-CN" sz="26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302" name=""/>
          <p:cNvSpPr/>
          <p:nvPr/>
        </p:nvSpPr>
        <p:spPr>
          <a:xfrm>
            <a:off x="819150" y="784860"/>
            <a:ext cx="4467987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64748B"/>
                </a:solidFill>
                <a:latin typeface="Microsoft YaHei"/>
                <a:ea typeface="Microsoft YaHei"/>
              </a:rPr>
              <a:t>四层架构 · 三条关键决策：检索质量、数据安全、实时体验</a:t>
            </a:r>
            <a:endParaRPr/>
          </a:p>
        </p:txBody>
      </p:sp>
      <p:sp>
        <p:nvSpPr>
          <p:cNvPr id="303" name=""/>
          <p:cNvSpPr/>
          <p:nvPr/>
        </p:nvSpPr>
        <p:spPr>
          <a:xfrm>
            <a:off x="1181100" y="1631061"/>
            <a:ext cx="3188970" cy="240029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</a:rPr>
              <a:t>前端展示层 · React 18 + Vite + AntD 5</a:t>
            </a:r>
            <a:endParaRPr lang="zh-CN" sz="1400" b="1">
              <a:solidFill>
                <a:srgbClr val="0F172A"/>
              </a:solidFill>
            </a:endParaRPr>
          </a:p>
        </p:txBody>
      </p:sp>
      <p:sp>
        <p:nvSpPr>
          <p:cNvPr id="304" name=""/>
          <p:cNvSpPr/>
          <p:nvPr/>
        </p:nvSpPr>
        <p:spPr>
          <a:xfrm>
            <a:off x="1181100" y="1948053"/>
            <a:ext cx="4656582" cy="18669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</a:rPr>
              <a:t>六大页面按路由懒加载 ｜ JWT 鉴权 ｜ SSE 事件流消费 ｜ Mock / 真实双模式</a:t>
            </a:r>
            <a:endParaRPr/>
          </a:p>
        </p:txBody>
      </p:sp>
      <p:sp>
        <p:nvSpPr>
          <p:cNvPr id="305" name=""/>
          <p:cNvSpPr/>
          <p:nvPr/>
        </p:nvSpPr>
        <p:spPr>
          <a:xfrm>
            <a:off x="1181100" y="2926461"/>
            <a:ext cx="2417445" cy="240029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</a:rPr>
              <a:t>服务层 · FastAPI（14 端点）</a:t>
            </a:r>
            <a:endParaRPr lang="zh-CN" sz="1400" b="1">
              <a:solidFill>
                <a:srgbClr val="0F172A"/>
              </a:solidFill>
            </a:endParaRPr>
          </a:p>
        </p:txBody>
      </p:sp>
      <p:sp>
        <p:nvSpPr>
          <p:cNvPr id="306" name=""/>
          <p:cNvSpPr/>
          <p:nvPr/>
        </p:nvSpPr>
        <p:spPr>
          <a:xfrm>
            <a:off x="1181100" y="3243453"/>
            <a:ext cx="6574155" cy="18669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</a:rPr>
              <a:t>auth / hotspots / materials / topics / copy(SSE) / persona / export ｜ APScheduler 热点定时采集</a:t>
            </a:r>
            <a:endParaRPr/>
          </a:p>
        </p:txBody>
      </p:sp>
      <p:sp>
        <p:nvSpPr>
          <p:cNvPr id="307" name=""/>
          <p:cNvSpPr/>
          <p:nvPr/>
        </p:nvSpPr>
        <p:spPr>
          <a:xfrm>
            <a:off x="1181100" y="4221861"/>
            <a:ext cx="2390013" cy="240029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</a:rPr>
              <a:t>检索与生成层 · 自研 RAG 编排</a:t>
            </a:r>
            <a:endParaRPr lang="zh-CN" sz="1400" b="1">
              <a:solidFill>
                <a:srgbClr val="0F172A"/>
              </a:solidFill>
            </a:endParaRPr>
          </a:p>
        </p:txBody>
      </p:sp>
      <p:sp>
        <p:nvSpPr>
          <p:cNvPr id="308" name=""/>
          <p:cNvSpPr/>
          <p:nvPr/>
        </p:nvSpPr>
        <p:spPr>
          <a:xfrm>
            <a:off x="1181100" y="4538853"/>
            <a:ext cx="5363337" cy="18669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</a:rPr>
              <a:t>FAISS 粗排 40 → 规则重排 Top-5 ｜ LangChain LCEL 提示词编排 ｜ LLM / Mock 双后端</a:t>
            </a:r>
            <a:endParaRPr/>
          </a:p>
        </p:txBody>
      </p:sp>
      <p:sp>
        <p:nvSpPr>
          <p:cNvPr id="309" name=""/>
          <p:cNvSpPr/>
          <p:nvPr/>
        </p:nvSpPr>
        <p:spPr>
          <a:xfrm>
            <a:off x="1181100" y="5513832"/>
            <a:ext cx="5300472" cy="2133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FFFFFF"/>
                </a:solidFill>
              </a:rPr>
              <a:t>数据层 · SQLite（字段加密）+ FAISS 索引 ｜ 90 素材 / 270 分块 / 10 热点</a:t>
            </a:r>
            <a:endParaRPr lang="zh-CN" sz="1200" b="1">
              <a:solidFill>
                <a:srgbClr val="FFFFFF"/>
              </a:solidFill>
            </a:endParaRPr>
          </a:p>
        </p:txBody>
      </p:sp>
      <p:sp>
        <p:nvSpPr>
          <p:cNvPr id="310" name=""/>
          <p:cNvSpPr/>
          <p:nvPr/>
        </p:nvSpPr>
        <p:spPr>
          <a:xfrm>
            <a:off x="7715250" y="1240917"/>
            <a:ext cx="1447800" cy="23520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两阶段检索保质量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311" name=""/>
          <p:cNvSpPr/>
          <p:nvPr/>
        </p:nvSpPr>
        <p:spPr>
          <a:xfrm>
            <a:off x="7353300" y="1482344"/>
            <a:ext cx="4038600" cy="471423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Microsoft YaHei"/>
                <a:ea typeface="Microsoft YaHei"/>
              </a:rPr>
              <a:t>粗排求全、重排求准：同领域 / 同风格先验加权，离线口径下 Top-5 命中率 100%。</a:t>
            </a:r>
            <a:endParaRPr/>
          </a:p>
        </p:txBody>
      </p:sp>
      <p:sp>
        <p:nvSpPr>
          <p:cNvPr id="312" name=""/>
          <p:cNvSpPr/>
          <p:nvPr/>
        </p:nvSpPr>
        <p:spPr>
          <a:xfrm>
            <a:off x="7715250" y="2295779"/>
            <a:ext cx="1447800" cy="23520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字段级加密保安全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313" name=""/>
          <p:cNvSpPr/>
          <p:nvPr/>
        </p:nvSpPr>
        <p:spPr>
          <a:xfrm>
            <a:off x="7353300" y="2537206"/>
            <a:ext cx="4038600" cy="471423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Microsoft YaHei"/>
                <a:ea typeface="Microsoft YaHei"/>
              </a:rPr>
              <a:t>素材正文与分块 Fernet 加密落库，口令哈希存储；检索按账号隔离，杜绝跨租户可见。</a:t>
            </a:r>
            <a:endParaRPr/>
          </a:p>
        </p:txBody>
      </p:sp>
      <p:sp>
        <p:nvSpPr>
          <p:cNvPr id="314" name=""/>
          <p:cNvSpPr/>
          <p:nvPr/>
        </p:nvSpPr>
        <p:spPr>
          <a:xfrm>
            <a:off x="7715250" y="3350641"/>
            <a:ext cx="1277620" cy="23520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SSE 流式保体验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315" name=""/>
          <p:cNvSpPr/>
          <p:nvPr/>
        </p:nvSpPr>
        <p:spPr>
          <a:xfrm>
            <a:off x="7353300" y="3592068"/>
            <a:ext cx="4038600" cy="471423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Microsoft YaHei"/>
                <a:ea typeface="Microsoft YaHei"/>
              </a:rPr>
              <a:t>生成进度逐事件推送、版本就绪即渲染，长任务不白屏；离线 Mock 走同一事件协议。</a:t>
            </a:r>
            <a:endParaRPr/>
          </a:p>
        </p:txBody>
      </p:sp>
      <p:sp>
        <p:nvSpPr>
          <p:cNvPr id="316" name=""/>
          <p:cNvSpPr/>
          <p:nvPr/>
        </p:nvSpPr>
        <p:spPr>
          <a:xfrm>
            <a:off x="781050" y="6295009"/>
            <a:ext cx="2072258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AI 自媒体内容创作助手 · 项目汇报</a:t>
            </a:r>
            <a:endParaRPr/>
          </a:p>
        </p:txBody>
      </p:sp>
      <p:sp>
        <p:nvSpPr>
          <p:cNvPr id="317" name=""/>
          <p:cNvSpPr/>
          <p:nvPr/>
        </p:nvSpPr>
        <p:spPr>
          <a:xfrm>
            <a:off x="11131677" y="6295009"/>
            <a:ext cx="45072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  <p:sp>
        <p:nvSpPr>
          <p:cNvPr id="318" name=""/>
          <p:cNvSpPr/>
          <p:nvPr/>
        </p:nvSpPr>
        <p:spPr>
          <a:xfrm>
            <a:off x="3752850" y="2400300"/>
            <a:ext cx="0" cy="24765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  <p:txBody>
          <a:bodyPr/>
          <a:p/>
        </p:txBody>
      </p:sp>
      <p:sp>
        <p:nvSpPr>
          <p:cNvPr id="319" name=""/>
          <p:cNvSpPr/>
          <p:nvPr/>
        </p:nvSpPr>
        <p:spPr>
          <a:xfrm>
            <a:off x="3752850" y="3695700"/>
            <a:ext cx="0" cy="24765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  <p:txBody>
          <a:bodyPr/>
          <a:p/>
        </p:txBody>
      </p:sp>
      <p:sp>
        <p:nvSpPr>
          <p:cNvPr id="320" name=""/>
          <p:cNvSpPr/>
          <p:nvPr/>
        </p:nvSpPr>
        <p:spPr>
          <a:xfrm>
            <a:off x="3752850" y="4991100"/>
            <a:ext cx="0" cy="24765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  <p:txBody>
          <a:bodyPr/>
          <a:p/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p/>
        </p:txBody>
      </p:sp>
      <p:sp>
        <p:nvSpPr>
          <p:cNvPr id="323" name=""/>
          <p:cNvSpPr/>
          <p:nvPr/>
        </p:nvSpPr>
        <p:spPr>
          <a:xfrm>
            <a:off x="609600" y="190500"/>
            <a:ext cx="3486150" cy="5905500"/>
          </a:xfrm>
          <a:prstGeom prst="roundRect">
            <a:avLst>
              <a:gd name="adj" fmla="val 4372"/>
            </a:avLst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324" name=""/>
          <p:cNvSpPr/>
          <p:nvPr/>
        </p:nvSpPr>
        <p:spPr>
          <a:xfrm>
            <a:off x="1028700" y="1259205"/>
            <a:ext cx="533400" cy="381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325" name=""/>
          <p:cNvSpPr/>
          <p:nvPr/>
        </p:nvSpPr>
        <p:spPr>
          <a:xfrm>
            <a:off x="4362450" y="190500"/>
            <a:ext cx="7219950" cy="1068705"/>
          </a:xfrm>
          <a:prstGeom prst="roundRect">
            <a:avLst>
              <a:gd name="adj" fmla="val 12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6" name=""/>
          <p:cNvSpPr/>
          <p:nvPr/>
        </p:nvSpPr>
        <p:spPr>
          <a:xfrm>
            <a:off x="4362450" y="1802765"/>
            <a:ext cx="7219950" cy="1068705"/>
          </a:xfrm>
          <a:prstGeom prst="roundRect">
            <a:avLst>
              <a:gd name="adj" fmla="val 12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7" name=""/>
          <p:cNvSpPr/>
          <p:nvPr/>
        </p:nvSpPr>
        <p:spPr>
          <a:xfrm>
            <a:off x="4362450" y="3415030"/>
            <a:ext cx="7219950" cy="1068705"/>
          </a:xfrm>
          <a:prstGeom prst="roundRect">
            <a:avLst>
              <a:gd name="adj" fmla="val 12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8" name=""/>
          <p:cNvSpPr/>
          <p:nvPr/>
        </p:nvSpPr>
        <p:spPr>
          <a:xfrm>
            <a:off x="4362450" y="5027295"/>
            <a:ext cx="7219950" cy="1068705"/>
          </a:xfrm>
          <a:prstGeom prst="roundRect">
            <a:avLst>
              <a:gd name="adj" fmla="val 12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9" name=""/>
          <p:cNvSpPr/>
          <p:nvPr/>
        </p:nvSpPr>
        <p:spPr>
          <a:xfrm>
            <a:off x="1028700" y="609600"/>
            <a:ext cx="2647950" cy="42100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四项关键技术</a:t>
            </a:r>
            <a:endParaRPr lang="zh-CN" sz="26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30" name=""/>
          <p:cNvSpPr/>
          <p:nvPr/>
        </p:nvSpPr>
        <p:spPr>
          <a:xfrm>
            <a:off x="1028700" y="1525905"/>
            <a:ext cx="2647950" cy="8229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每项技术都回答「是什么」与「解决什么」——不为技术而技术，指标可复测。</a:t>
            </a:r>
            <a:endParaRPr/>
          </a:p>
        </p:txBody>
      </p:sp>
      <p:sp>
        <p:nvSpPr>
          <p:cNvPr id="331" name=""/>
          <p:cNvSpPr/>
          <p:nvPr/>
        </p:nvSpPr>
        <p:spPr>
          <a:xfrm>
            <a:off x="1219200" y="5515991"/>
            <a:ext cx="1220978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计划书 4.1 / 4.5 落地</a:t>
            </a:r>
            <a:endParaRPr/>
          </a:p>
        </p:txBody>
      </p:sp>
      <p:sp>
        <p:nvSpPr>
          <p:cNvPr id="332" name=""/>
          <p:cNvSpPr/>
          <p:nvPr/>
        </p:nvSpPr>
        <p:spPr>
          <a:xfrm>
            <a:off x="4552950" y="342900"/>
            <a:ext cx="6838950" cy="23520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RAG 两阶段检索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333" name=""/>
          <p:cNvSpPr/>
          <p:nvPr/>
        </p:nvSpPr>
        <p:spPr>
          <a:xfrm>
            <a:off x="4552950" y="635381"/>
            <a:ext cx="6838950" cy="471423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Microsoft YaHei"/>
                <a:ea typeface="Microsoft YaHei"/>
              </a:rPr>
              <a:t>FAISS 粗排召回 40 条，规则重排叠加同领域 / 同风格先验取 Top-5 进入提示词。解决「素材找不准」：离线口径全量 180 条命中率 100%，消融显示重排贡献 +38.9pp。</a:t>
            </a:r>
            <a:endParaRPr/>
          </a:p>
        </p:txBody>
      </p:sp>
      <p:sp>
        <p:nvSpPr>
          <p:cNvPr id="334" name=""/>
          <p:cNvSpPr/>
          <p:nvPr/>
        </p:nvSpPr>
        <p:spPr>
          <a:xfrm>
            <a:off x="4552950" y="1955165"/>
            <a:ext cx="6838950" cy="23520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LangChain LCEL 编排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335" name=""/>
          <p:cNvSpPr/>
          <p:nvPr/>
        </p:nvSpPr>
        <p:spPr>
          <a:xfrm>
            <a:off x="4552950" y="2247519"/>
            <a:ext cx="6838950" cy="471423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Microsoft YaHei"/>
                <a:ea typeface="Microsoft YaHei"/>
              </a:rPr>
              <a:t>提示词模板化组装与多版本解析走标准 Runnable，向量检索与重排保留自研以保证可控与离线可跑。解决「链路不可复现」：离线 Mock 与生产走同一条编排路径。</a:t>
            </a:r>
            <a:endParaRPr/>
          </a:p>
        </p:txBody>
      </p:sp>
      <p:sp>
        <p:nvSpPr>
          <p:cNvPr id="336" name=""/>
          <p:cNvSpPr/>
          <p:nvPr/>
        </p:nvSpPr>
        <p:spPr>
          <a:xfrm>
            <a:off x="4552950" y="3567430"/>
            <a:ext cx="6838950" cy="23520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字段级加密（Fernet）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337" name=""/>
          <p:cNvSpPr/>
          <p:nvPr/>
        </p:nvSpPr>
        <p:spPr>
          <a:xfrm>
            <a:off x="4552950" y="3859784"/>
            <a:ext cx="6838950" cy="471423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Microsoft YaHei"/>
                <a:ea typeface="Microsoft YaHei"/>
              </a:rPr>
              <a:t>素材正文 / 分块加密落库，密钥经环境变量与数据分离；用户口令 PBKDF2 哈希。解决「素材资产安全」：数据库文件外泄不泄露正文，且不影响检索与分块预览。</a:t>
            </a:r>
            <a:endParaRPr/>
          </a:p>
        </p:txBody>
      </p:sp>
      <p:sp>
        <p:nvSpPr>
          <p:cNvPr id="338" name=""/>
          <p:cNvSpPr/>
          <p:nvPr/>
        </p:nvSpPr>
        <p:spPr>
          <a:xfrm>
            <a:off x="4552950" y="5179695"/>
            <a:ext cx="6838950" cy="23520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SSE 流式生成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339" name=""/>
          <p:cNvSpPr/>
          <p:nvPr/>
        </p:nvSpPr>
        <p:spPr>
          <a:xfrm>
            <a:off x="4552950" y="5472176"/>
            <a:ext cx="6838950" cy="471423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Microsoft YaHei"/>
                <a:ea typeface="Microsoft YaHei"/>
              </a:rPr>
              <a:t>生成进度、逐版本、完成事件实时推送，前端边收边渲染。解决「长任务等待焦虑」：离线链路单篇平均 0.10s，接真实 LLM 后同一协议可观测每一步耗时。</a:t>
            </a:r>
            <a:endParaRPr/>
          </a:p>
        </p:txBody>
      </p:sp>
      <p:sp>
        <p:nvSpPr>
          <p:cNvPr id="340" name=""/>
          <p:cNvSpPr/>
          <p:nvPr/>
        </p:nvSpPr>
        <p:spPr>
          <a:xfrm>
            <a:off x="781050" y="6295009"/>
            <a:ext cx="2072258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AI 自媒体内容创作助手 · 项目汇报</a:t>
            </a:r>
            <a:endParaRPr/>
          </a:p>
        </p:txBody>
      </p:sp>
      <p:sp>
        <p:nvSpPr>
          <p:cNvPr id="341" name=""/>
          <p:cNvSpPr/>
          <p:nvPr/>
        </p:nvSpPr>
        <p:spPr>
          <a:xfrm>
            <a:off x="11131677" y="6295009"/>
            <a:ext cx="45072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344" name=""/>
          <p:cNvSpPr/>
          <p:nvPr/>
        </p:nvSpPr>
        <p:spPr>
          <a:xfrm>
            <a:off x="2952750" y="3439414"/>
            <a:ext cx="685800" cy="381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345" name=""/>
          <p:cNvSpPr/>
          <p:nvPr/>
        </p:nvSpPr>
        <p:spPr>
          <a:xfrm>
            <a:off x="762000" y="2714625"/>
            <a:ext cx="1657350" cy="142875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200" b="1" spc="-4">
                <a:solidFill>
                  <a:srgbClr val="209CE5"/>
                </a:solidFill>
                <a:latin typeface="Microsoft YaHei"/>
                <a:ea typeface="Microsoft YaHei"/>
              </a:rPr>
              <a:t>03</a:t>
            </a:r>
            <a:endParaRPr lang="zh-CN" sz="11200" b="1" spc="-4">
              <a:solidFill>
                <a:srgbClr val="209CE5"/>
              </a:solidFill>
              <a:latin typeface="Microsoft YaHei"/>
              <a:ea typeface="Microsoft YaHei"/>
            </a:endParaRPr>
          </a:p>
        </p:txBody>
      </p:sp>
      <p:sp>
        <p:nvSpPr>
          <p:cNvPr id="346" name=""/>
          <p:cNvSpPr/>
          <p:nvPr/>
        </p:nvSpPr>
        <p:spPr>
          <a:xfrm>
            <a:off x="2952750" y="2523109"/>
            <a:ext cx="6096000" cy="6686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4000" b="1">
                <a:solidFill>
                  <a:srgbClr val="FFFFFF"/>
                </a:solidFill>
                <a:latin typeface="Microsoft YaHei"/>
                <a:ea typeface="Microsoft YaHei"/>
              </a:rPr>
              <a:t>实现过程</a:t>
            </a:r>
            <a:endParaRPr lang="zh-CN" sz="4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47" name=""/>
          <p:cNvSpPr/>
          <p:nvPr/>
        </p:nvSpPr>
        <p:spPr>
          <a:xfrm>
            <a:off x="2952750" y="3687064"/>
            <a:ext cx="6096000" cy="647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CBD5E1"/>
                </a:solidFill>
                <a:latin typeface="Microsoft YaHei"/>
                <a:ea typeface="Microsoft YaHei"/>
              </a:rPr>
              <a:t>五个里程碑、每阶段「文档先行 → 实现 → 评审 → 修复」闭环，全部结论有评测数据背书。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p/>
        </p:txBody>
      </p:sp>
      <p:sp>
        <p:nvSpPr>
          <p:cNvPr id="16" name=""/>
          <p:cNvSpPr/>
          <p:nvPr/>
        </p:nvSpPr>
        <p:spPr>
          <a:xfrm>
            <a:off x="609600" y="504825"/>
            <a:ext cx="57150" cy="32385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17" name=""/>
          <p:cNvSpPr/>
          <p:nvPr/>
        </p:nvSpPr>
        <p:spPr>
          <a:xfrm>
            <a:off x="609600" y="1143000"/>
            <a:ext cx="109728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"/>
          <p:cNvSpPr/>
          <p:nvPr/>
        </p:nvSpPr>
        <p:spPr>
          <a:xfrm>
            <a:off x="1962150" y="2038350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19" name=""/>
          <p:cNvSpPr/>
          <p:nvPr/>
        </p:nvSpPr>
        <p:spPr>
          <a:xfrm>
            <a:off x="3848100" y="2038350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0" name=""/>
          <p:cNvSpPr/>
          <p:nvPr/>
        </p:nvSpPr>
        <p:spPr>
          <a:xfrm>
            <a:off x="5734050" y="2038350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1" name=""/>
          <p:cNvSpPr/>
          <p:nvPr/>
        </p:nvSpPr>
        <p:spPr>
          <a:xfrm>
            <a:off x="7620000" y="2038350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p/>
        </p:txBody>
      </p:sp>
      <p:sp>
        <p:nvSpPr>
          <p:cNvPr id="22" name=""/>
          <p:cNvSpPr/>
          <p:nvPr/>
        </p:nvSpPr>
        <p:spPr>
          <a:xfrm>
            <a:off x="9505950" y="2038350"/>
            <a:ext cx="228600" cy="228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/>
          <a:p/>
        </p:txBody>
      </p:sp>
      <p:sp>
        <p:nvSpPr>
          <p:cNvPr id="23" name=""/>
          <p:cNvSpPr/>
          <p:nvPr/>
        </p:nvSpPr>
        <p:spPr>
          <a:xfrm>
            <a:off x="1409700" y="3067050"/>
            <a:ext cx="9372600" cy="495300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"/>
          <p:cNvSpPr/>
          <p:nvPr/>
        </p:nvSpPr>
        <p:spPr>
          <a:xfrm>
            <a:off x="609600" y="4191000"/>
            <a:ext cx="5391150" cy="884936"/>
          </a:xfrm>
          <a:prstGeom prst="roundRect">
            <a:avLst>
              <a:gd name="adj" fmla="val 15070"/>
            </a:avLst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25" name=""/>
          <p:cNvSpPr/>
          <p:nvPr/>
        </p:nvSpPr>
        <p:spPr>
          <a:xfrm>
            <a:off x="6191250" y="4191000"/>
            <a:ext cx="5391150" cy="884936"/>
          </a:xfrm>
          <a:prstGeom prst="roundRect">
            <a:avLst>
              <a:gd name="adj" fmla="val 150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"/>
          <p:cNvSpPr/>
          <p:nvPr/>
        </p:nvSpPr>
        <p:spPr>
          <a:xfrm>
            <a:off x="819150" y="325755"/>
            <a:ext cx="4498848" cy="42100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 b="1">
                <a:solidFill>
                  <a:srgbClr val="0F172A"/>
                </a:solidFill>
                <a:latin typeface="Microsoft YaHei"/>
                <a:ea typeface="Microsoft YaHei"/>
              </a:rPr>
              <a:t>M1 – M5 里程碑</a:t>
            </a:r>
            <a:endParaRPr lang="zh-CN" sz="26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27" name=""/>
          <p:cNvSpPr/>
          <p:nvPr/>
        </p:nvSpPr>
        <p:spPr>
          <a:xfrm>
            <a:off x="819150" y="784860"/>
            <a:ext cx="4498848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64748B"/>
                </a:solidFill>
                <a:latin typeface="Microsoft YaHei"/>
                <a:ea typeface="Microsoft YaHei"/>
              </a:rPr>
              <a:t>五阶段推进节奏：需求设计 → 数据 → 后端 → 前端 → 测试优化</a:t>
            </a:r>
            <a:endParaRPr/>
          </a:p>
        </p:txBody>
      </p:sp>
      <p:sp>
        <p:nvSpPr>
          <p:cNvPr id="28" name=""/>
          <p:cNvSpPr/>
          <p:nvPr/>
        </p:nvSpPr>
        <p:spPr>
          <a:xfrm>
            <a:off x="1965960" y="1748790"/>
            <a:ext cx="316230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</a:rPr>
              <a:t>M1</a:t>
            </a:r>
            <a:endParaRPr lang="zh-CN" sz="1500" b="1">
              <a:solidFill>
                <a:srgbClr val="0F172A"/>
              </a:solidFill>
            </a:endParaRPr>
          </a:p>
        </p:txBody>
      </p:sp>
      <p:sp>
        <p:nvSpPr>
          <p:cNvPr id="29" name=""/>
          <p:cNvSpPr/>
          <p:nvPr/>
        </p:nvSpPr>
        <p:spPr>
          <a:xfrm>
            <a:off x="1719326" y="2378329"/>
            <a:ext cx="785876" cy="20002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F172A"/>
                </a:solidFill>
              </a:rPr>
              <a:t>需求与设计</a:t>
            </a:r>
            <a:endParaRPr lang="zh-CN" sz="1100" b="1">
              <a:solidFill>
                <a:srgbClr val="0F172A"/>
              </a:solidFill>
            </a:endParaRPr>
          </a:p>
        </p:txBody>
      </p:sp>
      <p:sp>
        <p:nvSpPr>
          <p:cNvPr id="30" name=""/>
          <p:cNvSpPr/>
          <p:nvPr/>
        </p:nvSpPr>
        <p:spPr>
          <a:xfrm>
            <a:off x="1549019" y="2626487"/>
            <a:ext cx="1114425" cy="16662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</a:rPr>
              <a:t>PRD / 架构 / 数据库</a:t>
            </a:r>
            <a:endParaRPr/>
          </a:p>
        </p:txBody>
      </p:sp>
      <p:sp>
        <p:nvSpPr>
          <p:cNvPr id="31" name=""/>
          <p:cNvSpPr/>
          <p:nvPr/>
        </p:nvSpPr>
        <p:spPr>
          <a:xfrm>
            <a:off x="3851910" y="1748790"/>
            <a:ext cx="316230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</a:rPr>
              <a:t>M2</a:t>
            </a:r>
            <a:endParaRPr lang="zh-CN" sz="1500" b="1">
              <a:solidFill>
                <a:srgbClr val="0F172A"/>
              </a:solidFill>
            </a:endParaRPr>
          </a:p>
        </p:txBody>
      </p:sp>
      <p:sp>
        <p:nvSpPr>
          <p:cNvPr id="32" name=""/>
          <p:cNvSpPr/>
          <p:nvPr/>
        </p:nvSpPr>
        <p:spPr>
          <a:xfrm>
            <a:off x="3676650" y="2378329"/>
            <a:ext cx="642874" cy="20002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F172A"/>
                </a:solidFill>
              </a:rPr>
              <a:t>数据工程</a:t>
            </a:r>
            <a:endParaRPr lang="zh-CN" sz="1100" b="1">
              <a:solidFill>
                <a:srgbClr val="0F172A"/>
              </a:solidFill>
            </a:endParaRPr>
          </a:p>
        </p:txBody>
      </p:sp>
      <p:sp>
        <p:nvSpPr>
          <p:cNvPr id="33" name=""/>
          <p:cNvSpPr/>
          <p:nvPr/>
        </p:nvSpPr>
        <p:spPr>
          <a:xfrm>
            <a:off x="3450463" y="2626487"/>
            <a:ext cx="1083437" cy="16662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</a:rPr>
              <a:t>90 语料 / 270 分块</a:t>
            </a:r>
            <a:endParaRPr/>
          </a:p>
        </p:txBody>
      </p:sp>
      <p:sp>
        <p:nvSpPr>
          <p:cNvPr id="34" name=""/>
          <p:cNvSpPr/>
          <p:nvPr/>
        </p:nvSpPr>
        <p:spPr>
          <a:xfrm>
            <a:off x="5737860" y="1748790"/>
            <a:ext cx="316230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</a:rPr>
              <a:t>M3</a:t>
            </a:r>
            <a:endParaRPr lang="zh-CN" sz="1500" b="1">
              <a:solidFill>
                <a:srgbClr val="0F172A"/>
              </a:solidFill>
            </a:endParaRPr>
          </a:p>
        </p:txBody>
      </p:sp>
      <p:sp>
        <p:nvSpPr>
          <p:cNvPr id="35" name=""/>
          <p:cNvSpPr/>
          <p:nvPr/>
        </p:nvSpPr>
        <p:spPr>
          <a:xfrm>
            <a:off x="5562600" y="2378329"/>
            <a:ext cx="642874" cy="20002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F172A"/>
                </a:solidFill>
              </a:rPr>
              <a:t>后端服务</a:t>
            </a:r>
            <a:endParaRPr lang="zh-CN" sz="1100" b="1">
              <a:solidFill>
                <a:srgbClr val="0F172A"/>
              </a:solidFill>
            </a:endParaRPr>
          </a:p>
        </p:txBody>
      </p:sp>
      <p:sp>
        <p:nvSpPr>
          <p:cNvPr id="36" name=""/>
          <p:cNvSpPr/>
          <p:nvPr/>
        </p:nvSpPr>
        <p:spPr>
          <a:xfrm>
            <a:off x="5292344" y="2626487"/>
            <a:ext cx="1171575" cy="16662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</a:rPr>
              <a:t>14 端点 + SSE + 加密</a:t>
            </a:r>
            <a:endParaRPr/>
          </a:p>
        </p:txBody>
      </p:sp>
      <p:sp>
        <p:nvSpPr>
          <p:cNvPr id="37" name=""/>
          <p:cNvSpPr/>
          <p:nvPr/>
        </p:nvSpPr>
        <p:spPr>
          <a:xfrm>
            <a:off x="7623810" y="1748790"/>
            <a:ext cx="316230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</a:rPr>
              <a:t>M4</a:t>
            </a:r>
            <a:endParaRPr lang="zh-CN" sz="1500" b="1">
              <a:solidFill>
                <a:srgbClr val="0F172A"/>
              </a:solidFill>
            </a:endParaRPr>
          </a:p>
        </p:txBody>
      </p:sp>
      <p:sp>
        <p:nvSpPr>
          <p:cNvPr id="38" name=""/>
          <p:cNvSpPr/>
          <p:nvPr/>
        </p:nvSpPr>
        <p:spPr>
          <a:xfrm>
            <a:off x="7377176" y="2378329"/>
            <a:ext cx="785876" cy="20002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F172A"/>
                </a:solidFill>
              </a:rPr>
              <a:t>前端工作台</a:t>
            </a:r>
            <a:endParaRPr lang="zh-CN" sz="1100" b="1">
              <a:solidFill>
                <a:srgbClr val="0F172A"/>
              </a:solidFill>
            </a:endParaRPr>
          </a:p>
        </p:txBody>
      </p:sp>
      <p:sp>
        <p:nvSpPr>
          <p:cNvPr id="39" name=""/>
          <p:cNvSpPr/>
          <p:nvPr/>
        </p:nvSpPr>
        <p:spPr>
          <a:xfrm>
            <a:off x="7275957" y="2626487"/>
            <a:ext cx="976376" cy="16662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</a:rPr>
              <a:t>六页 + Mock 演示</a:t>
            </a:r>
            <a:endParaRPr/>
          </a:p>
        </p:txBody>
      </p:sp>
      <p:sp>
        <p:nvSpPr>
          <p:cNvPr id="40" name=""/>
          <p:cNvSpPr/>
          <p:nvPr/>
        </p:nvSpPr>
        <p:spPr>
          <a:xfrm>
            <a:off x="9509760" y="1748790"/>
            <a:ext cx="316230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</a:rPr>
              <a:t>M5</a:t>
            </a:r>
            <a:endParaRPr lang="zh-CN" sz="1500" b="1">
              <a:solidFill>
                <a:srgbClr val="0F172A"/>
              </a:solidFill>
            </a:endParaRPr>
          </a:p>
        </p:txBody>
      </p:sp>
      <p:sp>
        <p:nvSpPr>
          <p:cNvPr id="41" name=""/>
          <p:cNvSpPr/>
          <p:nvPr/>
        </p:nvSpPr>
        <p:spPr>
          <a:xfrm>
            <a:off x="9263126" y="2378329"/>
            <a:ext cx="785876" cy="20002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F172A"/>
                </a:solidFill>
              </a:rPr>
              <a:t>测试与优化</a:t>
            </a:r>
            <a:endParaRPr lang="zh-CN" sz="1100" b="1">
              <a:solidFill>
                <a:srgbClr val="0F172A"/>
              </a:solidFill>
            </a:endParaRPr>
          </a:p>
        </p:txBody>
      </p:sp>
      <p:sp>
        <p:nvSpPr>
          <p:cNvPr id="42" name=""/>
          <p:cNvSpPr/>
          <p:nvPr/>
        </p:nvSpPr>
        <p:spPr>
          <a:xfrm>
            <a:off x="9140444" y="2626487"/>
            <a:ext cx="1019175" cy="16662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</a:rPr>
              <a:t>四指标达标 + 拆包</a:t>
            </a:r>
            <a:endParaRPr/>
          </a:p>
        </p:txBody>
      </p:sp>
      <p:sp>
        <p:nvSpPr>
          <p:cNvPr id="43" name=""/>
          <p:cNvSpPr/>
          <p:nvPr/>
        </p:nvSpPr>
        <p:spPr>
          <a:xfrm>
            <a:off x="3807079" y="3266440"/>
            <a:ext cx="4641977" cy="179959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</a:rPr>
              <a:t>每个阶段结束均有评审报告与可复现验证记录（M1–M4 审查报告 + M5 测试报告）</a:t>
            </a:r>
            <a:endParaRPr/>
          </a:p>
        </p:txBody>
      </p:sp>
      <p:sp>
        <p:nvSpPr>
          <p:cNvPr id="44" name=""/>
          <p:cNvSpPr/>
          <p:nvPr/>
        </p:nvSpPr>
        <p:spPr>
          <a:xfrm>
            <a:off x="819150" y="4362450"/>
            <a:ext cx="4972050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交付纪律</a:t>
            </a:r>
            <a:endParaRPr lang="zh-CN" sz="14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5" name=""/>
          <p:cNvSpPr/>
          <p:nvPr/>
        </p:nvSpPr>
        <p:spPr>
          <a:xfrm>
            <a:off x="819150" y="4661535"/>
            <a:ext cx="4972050" cy="4857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CBD5E1"/>
                </a:solidFill>
                <a:latin typeface="Microsoft YaHei"/>
                <a:ea typeface="Microsoft YaHei"/>
              </a:rPr>
              <a:t>文档先行再落码，每轮「生成 → 自审 → 人类评审 → 按 P0–P3 分级修复」；文档随代码同步升版，杜绝「代码走了、文档没走」。</a:t>
            </a:r>
            <a:endParaRPr/>
          </a:p>
        </p:txBody>
      </p:sp>
      <p:sp>
        <p:nvSpPr>
          <p:cNvPr id="46" name=""/>
          <p:cNvSpPr/>
          <p:nvPr/>
        </p:nvSpPr>
        <p:spPr>
          <a:xfrm>
            <a:off x="6400800" y="4362450"/>
            <a:ext cx="4972050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验证方式</a:t>
            </a:r>
            <a:endParaRPr lang="zh-CN" sz="14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47" name=""/>
          <p:cNvSpPr/>
          <p:nvPr/>
        </p:nvSpPr>
        <p:spPr>
          <a:xfrm>
            <a:off x="6400800" y="4661535"/>
            <a:ext cx="4972050" cy="4857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Microsoft YaHei"/>
                <a:ea typeface="Microsoft YaHei"/>
              </a:rPr>
              <a:t>类型检查 + 构建门禁、180 条评测集全量复跑、真实后端冒烟（登录 / 检索 / 选题 / 生成 SSE）、浏览器截图取证——每项结论可复现。</a:t>
            </a:r>
            <a:endParaRPr/>
          </a:p>
        </p:txBody>
      </p:sp>
      <p:sp>
        <p:nvSpPr>
          <p:cNvPr id="48" name=""/>
          <p:cNvSpPr/>
          <p:nvPr/>
        </p:nvSpPr>
        <p:spPr>
          <a:xfrm>
            <a:off x="781050" y="6295009"/>
            <a:ext cx="2072258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AI 自媒体内容创作助手 · 项目汇报</a:t>
            </a:r>
            <a:endParaRPr/>
          </a:p>
        </p:txBody>
      </p:sp>
      <p:sp>
        <p:nvSpPr>
          <p:cNvPr id="49" name=""/>
          <p:cNvSpPr/>
          <p:nvPr/>
        </p:nvSpPr>
        <p:spPr>
          <a:xfrm>
            <a:off x="11131677" y="6295009"/>
            <a:ext cx="45072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  <p:sp>
        <p:nvSpPr>
          <p:cNvPr id="50" name=""/>
          <p:cNvSpPr/>
          <p:nvPr/>
        </p:nvSpPr>
        <p:spPr>
          <a:xfrm>
            <a:off x="1409700" y="2152650"/>
            <a:ext cx="9372600" cy="0"/>
          </a:xfrm>
          <a:prstGeom prst="line">
            <a:avLst/>
          </a:prstGeom>
          <a:noFill/>
          <a:ln w="28575">
            <a:solidFill>
              <a:srgbClr val="209CE5"/>
            </a:solidFill>
            <a:prstDash val="solid"/>
          </a:ln>
        </p:spPr>
        <p:txBody>
          <a:bodyPr/>
          <a:p/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p/>
        </p:txBody>
      </p:sp>
      <p:sp>
        <p:nvSpPr>
          <p:cNvPr id="53" name=""/>
          <p:cNvSpPr/>
          <p:nvPr/>
        </p:nvSpPr>
        <p:spPr>
          <a:xfrm>
            <a:off x="609600" y="504825"/>
            <a:ext cx="57150" cy="32385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54" name=""/>
          <p:cNvSpPr/>
          <p:nvPr/>
        </p:nvSpPr>
        <p:spPr>
          <a:xfrm>
            <a:off x="609600" y="1143000"/>
            <a:ext cx="4000500" cy="3060446"/>
          </a:xfrm>
          <a:prstGeom prst="roundRect">
            <a:avLst>
              <a:gd name="adj" fmla="val 5602"/>
            </a:avLst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55" name=""/>
          <p:cNvSpPr/>
          <p:nvPr/>
        </p:nvSpPr>
        <p:spPr>
          <a:xfrm>
            <a:off x="4876800" y="1143000"/>
            <a:ext cx="670560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"/>
          <p:cNvSpPr/>
          <p:nvPr/>
        </p:nvSpPr>
        <p:spPr>
          <a:xfrm>
            <a:off x="4876800" y="2038350"/>
            <a:ext cx="670560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"/>
          <p:cNvSpPr/>
          <p:nvPr/>
        </p:nvSpPr>
        <p:spPr>
          <a:xfrm>
            <a:off x="4876800" y="2933700"/>
            <a:ext cx="670560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"/>
          <p:cNvSpPr/>
          <p:nvPr/>
        </p:nvSpPr>
        <p:spPr>
          <a:xfrm>
            <a:off x="4876800" y="3829050"/>
            <a:ext cx="6705600" cy="509523"/>
          </a:xfrm>
          <a:prstGeom prst="roundRect">
            <a:avLst>
              <a:gd name="adj" fmla="val 26168"/>
            </a:avLst>
          </a:prstGeom>
          <a:solidFill>
            <a:srgbClr val="3B82F6">
              <a:alpha val="8000"/>
            </a:srgbClr>
          </a:solidFill>
          <a:ln w="9525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59" name=""/>
          <p:cNvSpPr/>
          <p:nvPr/>
        </p:nvSpPr>
        <p:spPr>
          <a:xfrm>
            <a:off x="819150" y="325755"/>
            <a:ext cx="3946779" cy="42100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 b="1">
                <a:solidFill>
                  <a:srgbClr val="0F172A"/>
                </a:solidFill>
                <a:latin typeface="Microsoft YaHei"/>
                <a:ea typeface="Microsoft YaHei"/>
              </a:rPr>
              <a:t>数据与评测成果</a:t>
            </a:r>
            <a:endParaRPr lang="zh-CN" sz="26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60" name=""/>
          <p:cNvSpPr/>
          <p:nvPr/>
        </p:nvSpPr>
        <p:spPr>
          <a:xfrm>
            <a:off x="819150" y="784860"/>
            <a:ext cx="3946779" cy="222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64748B"/>
                </a:solidFill>
                <a:latin typeface="Microsoft YaHei"/>
                <a:ea typeface="Microsoft YaHei"/>
              </a:rPr>
              <a:t>计划书 6.2 四项量化指标：阈值 vs 实测，全部达标</a:t>
            </a:r>
            <a:endParaRPr/>
          </a:p>
        </p:txBody>
      </p:sp>
      <p:sp>
        <p:nvSpPr>
          <p:cNvPr id="61" name=""/>
          <p:cNvSpPr/>
          <p:nvPr/>
        </p:nvSpPr>
        <p:spPr>
          <a:xfrm>
            <a:off x="914400" y="1685925"/>
            <a:ext cx="3390900" cy="18567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spc="2">
                <a:solidFill>
                  <a:srgbClr val="67E8F9"/>
                </a:solidFill>
                <a:latin typeface="Microsoft YaHei"/>
                <a:ea typeface="Microsoft YaHei"/>
              </a:rPr>
              <a:t>素材检索 Top-5 命中率</a:t>
            </a:r>
            <a:endParaRPr lang="zh-CN" sz="1100" spc="2">
              <a:solidFill>
                <a:srgbClr val="67E8F9"/>
              </a:solidFill>
              <a:latin typeface="Microsoft YaHei"/>
              <a:ea typeface="Microsoft YaHei"/>
            </a:endParaRPr>
          </a:p>
        </p:txBody>
      </p:sp>
      <p:sp>
        <p:nvSpPr>
          <p:cNvPr id="62" name=""/>
          <p:cNvSpPr/>
          <p:nvPr/>
        </p:nvSpPr>
        <p:spPr>
          <a:xfrm>
            <a:off x="914400" y="1871726"/>
            <a:ext cx="3390900" cy="108013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100" b="1" spc="-2">
                <a:solidFill>
                  <a:srgbClr val="209CE5"/>
                </a:solidFill>
                <a:latin typeface="Microsoft YaHei"/>
                <a:ea typeface="Microsoft YaHei"/>
              </a:rPr>
              <a:t>100%</a:t>
            </a:r>
            <a:endParaRPr lang="zh-CN" sz="8100" b="1" spc="-2">
              <a:solidFill>
                <a:srgbClr val="209CE5"/>
              </a:solidFill>
              <a:latin typeface="Microsoft YaHei"/>
              <a:ea typeface="Microsoft YaHei"/>
            </a:endParaRPr>
          </a:p>
        </p:txBody>
      </p:sp>
      <p:sp>
        <p:nvSpPr>
          <p:cNvPr id="63" name=""/>
          <p:cNvSpPr/>
          <p:nvPr/>
        </p:nvSpPr>
        <p:spPr>
          <a:xfrm>
            <a:off x="914400" y="2951734"/>
            <a:ext cx="3390900" cy="518159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阈值 ≥ 90% ｜ 全量 180 条评测任务实测 180/180，五领域全部 100%。</a:t>
            </a:r>
            <a:endParaRPr/>
          </a:p>
        </p:txBody>
      </p:sp>
      <p:sp>
        <p:nvSpPr>
          <p:cNvPr id="64" name=""/>
          <p:cNvSpPr/>
          <p:nvPr/>
        </p:nvSpPr>
        <p:spPr>
          <a:xfrm>
            <a:off x="914400" y="3473704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06B6D4"/>
                </a:solidFill>
              </a:rPr>
              <a:t>✓</a:t>
            </a:r>
            <a:endParaRPr/>
          </a:p>
        </p:txBody>
      </p:sp>
      <p:sp>
        <p:nvSpPr>
          <p:cNvPr id="65" name=""/>
          <p:cNvSpPr/>
          <p:nvPr/>
        </p:nvSpPr>
        <p:spPr>
          <a:xfrm>
            <a:off x="1181100" y="3478530"/>
            <a:ext cx="2880360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消融：关闭重排仅 61.1% —— 重排贡献 +38.9pp</a:t>
            </a:r>
            <a:endParaRPr/>
          </a:p>
        </p:txBody>
      </p:sp>
      <p:sp>
        <p:nvSpPr>
          <p:cNvPr id="66" name=""/>
          <p:cNvSpPr/>
          <p:nvPr/>
        </p:nvSpPr>
        <p:spPr>
          <a:xfrm>
            <a:off x="5067300" y="1276350"/>
            <a:ext cx="1428750" cy="4953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 b="1">
                <a:solidFill>
                  <a:srgbClr val="3B82F6"/>
                </a:solidFill>
                <a:latin typeface="Microsoft YaHei"/>
                <a:ea typeface="Microsoft YaHei"/>
              </a:rPr>
              <a:t>100%</a:t>
            </a:r>
            <a:endParaRPr lang="zh-CN" sz="3000" b="1">
              <a:solidFill>
                <a:srgbClr val="3B82F6"/>
              </a:solidFill>
              <a:latin typeface="Microsoft YaHei"/>
              <a:ea typeface="Microsoft YaHei"/>
            </a:endParaRPr>
          </a:p>
        </p:txBody>
      </p:sp>
      <p:sp>
        <p:nvSpPr>
          <p:cNvPr id="67" name=""/>
          <p:cNvSpPr/>
          <p:nvPr/>
        </p:nvSpPr>
        <p:spPr>
          <a:xfrm>
            <a:off x="6667500" y="1322578"/>
            <a:ext cx="4324350" cy="21056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</a:rPr>
              <a:t>平台适配符合率</a:t>
            </a:r>
            <a:endParaRPr lang="zh-CN" sz="13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68" name=""/>
          <p:cNvSpPr/>
          <p:nvPr/>
        </p:nvSpPr>
        <p:spPr>
          <a:xfrm>
            <a:off x="6667500" y="1552067"/>
            <a:ext cx="4324350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阈值 ≥90% ｜ 54/54 硬性规范（标题长度 / 标签格式 / 数量上限）</a:t>
            </a:r>
            <a:endParaRPr/>
          </a:p>
        </p:txBody>
      </p:sp>
      <p:sp>
        <p:nvSpPr>
          <p:cNvPr id="69" name=""/>
          <p:cNvSpPr/>
          <p:nvPr/>
        </p:nvSpPr>
        <p:spPr>
          <a:xfrm>
            <a:off x="11163300" y="141427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06B6D4"/>
                </a:solidFill>
              </a:rPr>
              <a:t>✓</a:t>
            </a:r>
            <a:endParaRPr/>
          </a:p>
        </p:txBody>
      </p:sp>
      <p:sp>
        <p:nvSpPr>
          <p:cNvPr id="70" name=""/>
          <p:cNvSpPr/>
          <p:nvPr/>
        </p:nvSpPr>
        <p:spPr>
          <a:xfrm>
            <a:off x="5067300" y="2171700"/>
            <a:ext cx="1428750" cy="4953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 b="1">
                <a:solidFill>
                  <a:srgbClr val="3B82F6"/>
                </a:solidFill>
                <a:latin typeface="Microsoft YaHei"/>
                <a:ea typeface="Microsoft YaHei"/>
              </a:rPr>
              <a:t>100%</a:t>
            </a:r>
            <a:endParaRPr lang="zh-CN" sz="3000" b="1">
              <a:solidFill>
                <a:srgbClr val="3B82F6"/>
              </a:solidFill>
              <a:latin typeface="Microsoft YaHei"/>
              <a:ea typeface="Microsoft YaHei"/>
            </a:endParaRPr>
          </a:p>
        </p:txBody>
      </p:sp>
      <p:sp>
        <p:nvSpPr>
          <p:cNvPr id="71" name=""/>
          <p:cNvSpPr/>
          <p:nvPr/>
        </p:nvSpPr>
        <p:spPr>
          <a:xfrm>
            <a:off x="6667500" y="2217928"/>
            <a:ext cx="4324350" cy="21056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</a:rPr>
              <a:t>文案一次可用率</a:t>
            </a:r>
            <a:endParaRPr lang="zh-CN" sz="13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72" name=""/>
          <p:cNvSpPr/>
          <p:nvPr/>
        </p:nvSpPr>
        <p:spPr>
          <a:xfrm>
            <a:off x="6667500" y="2447417"/>
            <a:ext cx="4324350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阈值 ≥80% ｜ 54/54 版本通过结构规则（离线回归基线）</a:t>
            </a:r>
            <a:endParaRPr/>
          </a:p>
        </p:txBody>
      </p:sp>
      <p:sp>
        <p:nvSpPr>
          <p:cNvPr id="73" name=""/>
          <p:cNvSpPr/>
          <p:nvPr/>
        </p:nvSpPr>
        <p:spPr>
          <a:xfrm>
            <a:off x="11163300" y="230962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06B6D4"/>
                </a:solidFill>
              </a:rPr>
              <a:t>✓</a:t>
            </a:r>
            <a:endParaRPr/>
          </a:p>
        </p:txBody>
      </p:sp>
      <p:sp>
        <p:nvSpPr>
          <p:cNvPr id="74" name=""/>
          <p:cNvSpPr/>
          <p:nvPr/>
        </p:nvSpPr>
        <p:spPr>
          <a:xfrm>
            <a:off x="5067300" y="3067050"/>
            <a:ext cx="1428750" cy="4953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 b="1">
                <a:solidFill>
                  <a:srgbClr val="3B82F6"/>
                </a:solidFill>
                <a:latin typeface="Microsoft YaHei"/>
                <a:ea typeface="Microsoft YaHei"/>
              </a:rPr>
              <a:t>0.10s</a:t>
            </a:r>
            <a:endParaRPr lang="zh-CN" sz="3000" b="1">
              <a:solidFill>
                <a:srgbClr val="3B82F6"/>
              </a:solidFill>
              <a:latin typeface="Microsoft YaHei"/>
              <a:ea typeface="Microsoft YaHei"/>
            </a:endParaRPr>
          </a:p>
        </p:txBody>
      </p:sp>
      <p:sp>
        <p:nvSpPr>
          <p:cNvPr id="75" name=""/>
          <p:cNvSpPr/>
          <p:nvPr/>
        </p:nvSpPr>
        <p:spPr>
          <a:xfrm>
            <a:off x="6667500" y="3113278"/>
            <a:ext cx="4324350" cy="21056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</a:rPr>
              <a:t>单篇平均生成耗时</a:t>
            </a:r>
            <a:endParaRPr lang="zh-CN" sz="13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76" name=""/>
          <p:cNvSpPr/>
          <p:nvPr/>
        </p:nvSpPr>
        <p:spPr>
          <a:xfrm>
            <a:off x="6667500" y="3342767"/>
            <a:ext cx="4324350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阈值 ≤15s ｜ 18 任务实测均值 0.10s、最大 0.17s</a:t>
            </a:r>
            <a:endParaRPr/>
          </a:p>
        </p:txBody>
      </p:sp>
      <p:sp>
        <p:nvSpPr>
          <p:cNvPr id="77" name=""/>
          <p:cNvSpPr/>
          <p:nvPr/>
        </p:nvSpPr>
        <p:spPr>
          <a:xfrm>
            <a:off x="11163300" y="320497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06B6D4"/>
                </a:solidFill>
              </a:rPr>
              <a:t>✓</a:t>
            </a:r>
            <a:endParaRPr/>
          </a:p>
        </p:txBody>
      </p:sp>
      <p:sp>
        <p:nvSpPr>
          <p:cNvPr id="78" name=""/>
          <p:cNvSpPr/>
          <p:nvPr/>
        </p:nvSpPr>
        <p:spPr>
          <a:xfrm>
            <a:off x="5067300" y="3840988"/>
            <a:ext cx="6324600" cy="4857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334155"/>
                </a:solidFill>
                <a:latin typeface="Microsoft YaHei"/>
                <a:ea typeface="Microsoft YaHei"/>
              </a:rPr>
              <a:t>数字背后是三次真实迭代：88.9% → 100% 的检索提升，来自补风格加权、召回池 20→40、索引签名自动重建——每个数字都可复现。</a:t>
            </a:r>
            <a:endParaRPr/>
          </a:p>
        </p:txBody>
      </p:sp>
      <p:sp>
        <p:nvSpPr>
          <p:cNvPr id="79" name=""/>
          <p:cNvSpPr/>
          <p:nvPr/>
        </p:nvSpPr>
        <p:spPr>
          <a:xfrm>
            <a:off x="781050" y="6295009"/>
            <a:ext cx="2072258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AI 自媒体内容创作助手 · 项目汇报</a:t>
            </a:r>
            <a:endParaRPr/>
          </a:p>
        </p:txBody>
      </p:sp>
      <p:sp>
        <p:nvSpPr>
          <p:cNvPr id="80" name=""/>
          <p:cNvSpPr/>
          <p:nvPr/>
        </p:nvSpPr>
        <p:spPr>
          <a:xfrm>
            <a:off x="11131677" y="6295009"/>
            <a:ext cx="45072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83" name=""/>
          <p:cNvSpPr/>
          <p:nvPr/>
        </p:nvSpPr>
        <p:spPr>
          <a:xfrm>
            <a:off x="2952750" y="3439414"/>
            <a:ext cx="685800" cy="381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84" name=""/>
          <p:cNvSpPr/>
          <p:nvPr/>
        </p:nvSpPr>
        <p:spPr>
          <a:xfrm>
            <a:off x="762000" y="2714625"/>
            <a:ext cx="1657350" cy="142875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200" b="1" spc="-4">
                <a:solidFill>
                  <a:srgbClr val="209CE5"/>
                </a:solidFill>
                <a:latin typeface="Microsoft YaHei"/>
                <a:ea typeface="Microsoft YaHei"/>
              </a:rPr>
              <a:t>04</a:t>
            </a:r>
            <a:endParaRPr lang="zh-CN" sz="11200" b="1" spc="-4">
              <a:solidFill>
                <a:srgbClr val="209CE5"/>
              </a:solidFill>
              <a:latin typeface="Microsoft YaHei"/>
              <a:ea typeface="Microsoft YaHei"/>
            </a:endParaRPr>
          </a:p>
        </p:txBody>
      </p:sp>
      <p:sp>
        <p:nvSpPr>
          <p:cNvPr id="85" name=""/>
          <p:cNvSpPr/>
          <p:nvPr/>
        </p:nvSpPr>
        <p:spPr>
          <a:xfrm>
            <a:off x="2952750" y="2523109"/>
            <a:ext cx="6096000" cy="6686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4000" b="1">
                <a:solidFill>
                  <a:srgbClr val="FFFFFF"/>
                </a:solidFill>
                <a:latin typeface="Microsoft YaHei"/>
                <a:ea typeface="Microsoft YaHei"/>
              </a:rPr>
              <a:t>难点与应对</a:t>
            </a:r>
            <a:endParaRPr lang="zh-CN" sz="4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6" name=""/>
          <p:cNvSpPr/>
          <p:nvPr/>
        </p:nvSpPr>
        <p:spPr>
          <a:xfrm>
            <a:off x="2952750" y="3687064"/>
            <a:ext cx="6096000" cy="647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CBD5E1"/>
                </a:solidFill>
                <a:latin typeface="Microsoft YaHei"/>
                <a:ea typeface="Microsoft YaHei"/>
              </a:rPr>
              <a:t>四个真实难点：词表不一致、索引陈旧、口径漂移、凭证失真——每个都有根因拆解与可验证的修复证据。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p/>
        </p:txBody>
      </p:sp>
      <p:sp>
        <p:nvSpPr>
          <p:cNvPr id="89" name=""/>
          <p:cNvSpPr/>
          <p:nvPr/>
        </p:nvSpPr>
        <p:spPr>
          <a:xfrm>
            <a:off x="609600" y="190500"/>
            <a:ext cx="3143250" cy="590550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90" name=""/>
          <p:cNvSpPr/>
          <p:nvPr/>
        </p:nvSpPr>
        <p:spPr>
          <a:xfrm>
            <a:off x="1028700" y="60960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B82F6">
              <a:alpha val="1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1" name=""/>
          <p:cNvSpPr/>
          <p:nvPr/>
        </p:nvSpPr>
        <p:spPr>
          <a:xfrm>
            <a:off x="1164336" y="745236"/>
            <a:ext cx="224028" cy="224028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txBody>
          <a:bodyPr/>
          <a:p/>
        </p:txBody>
      </p:sp>
      <p:sp>
        <p:nvSpPr>
          <p:cNvPr id="92" name=""/>
          <p:cNvSpPr/>
          <p:nvPr/>
        </p:nvSpPr>
        <p:spPr>
          <a:xfrm>
            <a:off x="1028700" y="1352550"/>
            <a:ext cx="533400" cy="38100"/>
          </a:xfrm>
          <a:prstGeom prst="ellipse">
            <a:avLst/>
          </a:prstGeom>
          <a:solidFill>
            <a:srgbClr val="209CE5"/>
          </a:solidFill>
          <a:ln>
            <a:noFill/>
          </a:ln>
        </p:spPr>
        <p:txBody>
          <a:bodyPr/>
          <a:p/>
        </p:txBody>
      </p:sp>
      <p:sp>
        <p:nvSpPr>
          <p:cNvPr id="93" name=""/>
          <p:cNvSpPr/>
          <p:nvPr/>
        </p:nvSpPr>
        <p:spPr>
          <a:xfrm>
            <a:off x="4019550" y="190500"/>
            <a:ext cx="7562850" cy="932561"/>
          </a:xfrm>
          <a:prstGeom prst="roundRect">
            <a:avLst>
              <a:gd name="adj" fmla="val 143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"/>
          <p:cNvSpPr/>
          <p:nvPr/>
        </p:nvSpPr>
        <p:spPr>
          <a:xfrm>
            <a:off x="4019550" y="1848231"/>
            <a:ext cx="7562850" cy="932561"/>
          </a:xfrm>
          <a:prstGeom prst="roundRect">
            <a:avLst>
              <a:gd name="adj" fmla="val 143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5" name=""/>
          <p:cNvSpPr/>
          <p:nvPr/>
        </p:nvSpPr>
        <p:spPr>
          <a:xfrm>
            <a:off x="4019550" y="3505835"/>
            <a:ext cx="7562850" cy="932561"/>
          </a:xfrm>
          <a:prstGeom prst="roundRect">
            <a:avLst>
              <a:gd name="adj" fmla="val 143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" name=""/>
          <p:cNvSpPr/>
          <p:nvPr/>
        </p:nvSpPr>
        <p:spPr>
          <a:xfrm>
            <a:off x="4019550" y="5163566"/>
            <a:ext cx="7562850" cy="932561"/>
          </a:xfrm>
          <a:prstGeom prst="roundRect">
            <a:avLst>
              <a:gd name="adj" fmla="val 143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7" name=""/>
          <p:cNvSpPr/>
          <p:nvPr/>
        </p:nvSpPr>
        <p:spPr>
          <a:xfrm>
            <a:off x="1657350" y="671576"/>
            <a:ext cx="2571750" cy="37147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</a:rPr>
              <a:t>难点拆解与修复证据</a:t>
            </a:r>
            <a:endParaRPr lang="zh-CN" sz="22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8" name=""/>
          <p:cNvSpPr/>
          <p:nvPr/>
        </p:nvSpPr>
        <p:spPr>
          <a:xfrm>
            <a:off x="1028700" y="1619250"/>
            <a:ext cx="2305050" cy="8229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不停留在「遇到困难」，每条都追到根因，并给出可复跑的验证结果。</a:t>
            </a:r>
            <a:endParaRPr/>
          </a:p>
        </p:txBody>
      </p:sp>
      <p:sp>
        <p:nvSpPr>
          <p:cNvPr id="99" name=""/>
          <p:cNvSpPr/>
          <p:nvPr/>
        </p:nvSpPr>
        <p:spPr>
          <a:xfrm>
            <a:off x="1028700" y="5515991"/>
            <a:ext cx="2305050" cy="161036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现象 → 根因 → 修复 → 验证</a:t>
            </a:r>
            <a:endParaRPr/>
          </a:p>
        </p:txBody>
      </p:sp>
      <p:sp>
        <p:nvSpPr>
          <p:cNvPr id="100" name=""/>
          <p:cNvSpPr/>
          <p:nvPr/>
        </p:nvSpPr>
        <p:spPr>
          <a:xfrm>
            <a:off x="4191000" y="314325"/>
            <a:ext cx="7219950" cy="21056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</a:rPr>
              <a:t>① 领域词表跨模块不一致</a:t>
            </a:r>
            <a:endParaRPr lang="zh-CN" sz="13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01" name=""/>
          <p:cNvSpPr/>
          <p:nvPr/>
        </p:nvSpPr>
        <p:spPr>
          <a:xfrm>
            <a:off x="4191000" y="572516"/>
            <a:ext cx="7219950" cy="42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前端 / Mock / 种子数据各写一份，筛选点选空白。修复：DOMAINS 唯一真源 + Mock 自动补全。验证：五领域筛选全量有数据，Mock 与真实后端一致。</a:t>
            </a:r>
            <a:endParaRPr/>
          </a:p>
        </p:txBody>
      </p:sp>
      <p:sp>
        <p:nvSpPr>
          <p:cNvPr id="102" name=""/>
          <p:cNvSpPr/>
          <p:nvPr/>
        </p:nvSpPr>
        <p:spPr>
          <a:xfrm>
            <a:off x="4191000" y="1972056"/>
            <a:ext cx="7219950" cy="21056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</a:rPr>
              <a:t>② 索引陈旧致检索命中率 0%</a:t>
            </a:r>
            <a:endParaRPr lang="zh-CN" sz="13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03" name=""/>
          <p:cNvSpPr/>
          <p:nvPr/>
        </p:nvSpPr>
        <p:spPr>
          <a:xfrm>
            <a:off x="4191000" y="2230120"/>
            <a:ext cx="7219950" cy="42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重建数据库后复用旧 FAISS 索引（169 vs 270 向量），chunk 整体错位。修复：索引签名（数量 / 最大 id / 维度）校验，过期自动重建。验证：重启后 270 向量、命中率恢复。</a:t>
            </a:r>
            <a:endParaRPr/>
          </a:p>
        </p:txBody>
      </p:sp>
      <p:sp>
        <p:nvSpPr>
          <p:cNvPr id="104" name=""/>
          <p:cNvSpPr/>
          <p:nvPr/>
        </p:nvSpPr>
        <p:spPr>
          <a:xfrm>
            <a:off x="4191000" y="3629660"/>
            <a:ext cx="7219950" cy="21056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</a:rPr>
              <a:t>③ 评测与生产口径漂移</a:t>
            </a:r>
            <a:endParaRPr lang="zh-CN" sz="13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05" name=""/>
          <p:cNvSpPr/>
          <p:nvPr/>
        </p:nvSpPr>
        <p:spPr>
          <a:xfrm>
            <a:off x="4191000" y="3887724"/>
            <a:ext cx="7219950" cy="42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评测脚本内嵌参数、自行拼装检索逻辑，数字失去证明力。修复：评测直接调用生产检索函数，参数同源。验证：全量 180 条 100%，消融 61.1% → 100%。</a:t>
            </a:r>
            <a:endParaRPr/>
          </a:p>
        </p:txBody>
      </p:sp>
      <p:sp>
        <p:nvSpPr>
          <p:cNvPr id="106" name=""/>
          <p:cNvSpPr/>
          <p:nvPr/>
        </p:nvSpPr>
        <p:spPr>
          <a:xfrm>
            <a:off x="4191000" y="5287391"/>
            <a:ext cx="7219950" cy="21056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</a:rPr>
              <a:t>④ 演示凭证三处不一致</a:t>
            </a:r>
            <a:endParaRPr lang="zh-CN" sz="13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07" name=""/>
          <p:cNvSpPr/>
          <p:nvPr/>
        </p:nvSpPr>
        <p:spPr>
          <a:xfrm>
            <a:off x="4191000" y="5545455"/>
            <a:ext cx="7219950" cy="42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Microsoft YaHei"/>
                <a:ea typeface="Microsoft YaHei"/>
              </a:rPr>
              <a:t>「INSERT OR IGNORE」使新口令常量从未生效，代码 / 页面 / 文档三个值。修复：常量对齐数据库并注明仅新库生效，口令哈希程序化核验。验证：代码 / 登录页 / 文档 / 数据库四端一致。</a:t>
            </a:r>
            <a:endParaRPr/>
          </a:p>
        </p:txBody>
      </p:sp>
      <p:sp>
        <p:nvSpPr>
          <p:cNvPr id="108" name=""/>
          <p:cNvSpPr/>
          <p:nvPr/>
        </p:nvSpPr>
        <p:spPr>
          <a:xfrm>
            <a:off x="781050" y="6295009"/>
            <a:ext cx="2072258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AI 自媒体内容创作助手 · 项目汇报</a:t>
            </a:r>
            <a:endParaRPr/>
          </a:p>
        </p:txBody>
      </p:sp>
      <p:sp>
        <p:nvSpPr>
          <p:cNvPr id="109" name=""/>
          <p:cNvSpPr/>
          <p:nvPr/>
        </p:nvSpPr>
        <p:spPr>
          <a:xfrm>
            <a:off x="11131677" y="6295009"/>
            <a:ext cx="450723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p/>
        </p:txBody>
      </p:sp>
      <p:sp>
        <p:nvSpPr>
          <p:cNvPr id="112" name=""/>
          <p:cNvSpPr/>
          <p:nvPr/>
        </p:nvSpPr>
        <p:spPr>
          <a:xfrm>
            <a:off x="1524000" y="2371725"/>
            <a:ext cx="76200" cy="76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/>
          <a:p/>
        </p:txBody>
      </p:sp>
      <p:sp>
        <p:nvSpPr>
          <p:cNvPr id="113" name=""/>
          <p:cNvSpPr/>
          <p:nvPr/>
        </p:nvSpPr>
        <p:spPr>
          <a:xfrm>
            <a:off x="1524000" y="4035806"/>
            <a:ext cx="1449705" cy="338074"/>
          </a:xfrm>
          <a:prstGeom prst="ellipse">
            <a:avLst/>
          </a:prstGeom>
          <a:solidFill>
            <a:srgbClr val="3B82F6">
              <a:alpha val="14000"/>
            </a:srgbClr>
          </a:solidFill>
          <a:ln w="9525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14" name=""/>
          <p:cNvSpPr/>
          <p:nvPr/>
        </p:nvSpPr>
        <p:spPr>
          <a:xfrm>
            <a:off x="3107055" y="4035806"/>
            <a:ext cx="1449705" cy="338074"/>
          </a:xfrm>
          <a:prstGeom prst="ellipse">
            <a:avLst/>
          </a:prstGeom>
          <a:solidFill>
            <a:srgbClr val="3B82F6">
              <a:alpha val="14000"/>
            </a:srgbClr>
          </a:solidFill>
          <a:ln w="9525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15" name=""/>
          <p:cNvSpPr/>
          <p:nvPr/>
        </p:nvSpPr>
        <p:spPr>
          <a:xfrm>
            <a:off x="4690110" y="4035806"/>
            <a:ext cx="1449705" cy="338074"/>
          </a:xfrm>
          <a:prstGeom prst="ellipse">
            <a:avLst/>
          </a:prstGeom>
          <a:solidFill>
            <a:srgbClr val="3B82F6">
              <a:alpha val="14000"/>
            </a:srgbClr>
          </a:solidFill>
          <a:ln w="9525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16" name=""/>
          <p:cNvSpPr/>
          <p:nvPr/>
        </p:nvSpPr>
        <p:spPr>
          <a:xfrm>
            <a:off x="1695450" y="2310765"/>
            <a:ext cx="1085088" cy="1981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spc="3">
                <a:solidFill>
                  <a:srgbClr val="67E8F9"/>
                </a:solidFill>
                <a:latin typeface="Microsoft YaHei"/>
                <a:ea typeface="Microsoft YaHei"/>
              </a:rPr>
              <a:t>结语 · CLOSING</a:t>
            </a:r>
            <a:endParaRPr lang="zh-CN" sz="1200" spc="3">
              <a:solidFill>
                <a:srgbClr val="67E8F9"/>
              </a:solidFill>
              <a:latin typeface="Microsoft YaHei"/>
              <a:ea typeface="Microsoft YaHei"/>
            </a:endParaRPr>
          </a:p>
        </p:txBody>
      </p:sp>
      <p:sp>
        <p:nvSpPr>
          <p:cNvPr id="117" name=""/>
          <p:cNvSpPr/>
          <p:nvPr/>
        </p:nvSpPr>
        <p:spPr>
          <a:xfrm>
            <a:off x="3028950" y="2508885"/>
            <a:ext cx="6396990" cy="12268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400" b="1">
                <a:solidFill>
                  <a:srgbClr val="FFFFFF"/>
                </a:solidFill>
                <a:latin typeface="Microsoft YaHei"/>
                <a:ea typeface="Microsoft YaHei"/>
              </a:rPr>
              <a:t>指标全部达成，
方法可以复用。</a:t>
            </a:r>
            <a:endParaRPr lang="zh-CN" sz="34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8" name=""/>
          <p:cNvSpPr/>
          <p:nvPr/>
        </p:nvSpPr>
        <p:spPr>
          <a:xfrm>
            <a:off x="1550797" y="3735705"/>
            <a:ext cx="9193149" cy="29997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CBD5E1"/>
                </a:solidFill>
                <a:latin typeface="Microsoft YaHei"/>
                <a:ea typeface="Microsoft YaHei"/>
              </a:rPr>
              <a:t>计划书 6.2 四项量化指标全部达标；「文档先行、唯一真源、证据交付」的协作方法，可复用于任何 AI 辅助工程项目。</a:t>
            </a:r>
            <a:endParaRPr/>
          </a:p>
        </p:txBody>
      </p:sp>
      <p:sp>
        <p:nvSpPr>
          <p:cNvPr id="119" name=""/>
          <p:cNvSpPr/>
          <p:nvPr/>
        </p:nvSpPr>
        <p:spPr>
          <a:xfrm>
            <a:off x="1714500" y="4112006"/>
            <a:ext cx="1068705" cy="18567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BAE6FD"/>
                </a:solidFill>
                <a:latin typeface="Microsoft YaHei"/>
                <a:ea typeface="Microsoft YaHei"/>
              </a:rPr>
              <a:t>检索命中率 100%</a:t>
            </a:r>
            <a:endParaRPr/>
          </a:p>
        </p:txBody>
      </p:sp>
      <p:sp>
        <p:nvSpPr>
          <p:cNvPr id="120" name=""/>
          <p:cNvSpPr/>
          <p:nvPr/>
        </p:nvSpPr>
        <p:spPr>
          <a:xfrm>
            <a:off x="3297555" y="4112006"/>
            <a:ext cx="1068705" cy="18567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BAE6FD"/>
                </a:solidFill>
                <a:latin typeface="Microsoft YaHei"/>
                <a:ea typeface="Microsoft YaHei"/>
              </a:rPr>
              <a:t>适配符合率 100%</a:t>
            </a:r>
            <a:endParaRPr/>
          </a:p>
        </p:txBody>
      </p:sp>
      <p:sp>
        <p:nvSpPr>
          <p:cNvPr id="121" name=""/>
          <p:cNvSpPr/>
          <p:nvPr/>
        </p:nvSpPr>
        <p:spPr>
          <a:xfrm>
            <a:off x="4880610" y="4112006"/>
            <a:ext cx="1068705" cy="185674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BAE6FD"/>
                </a:solidFill>
                <a:latin typeface="Microsoft YaHei"/>
                <a:ea typeface="Microsoft YaHei"/>
              </a:rPr>
              <a:t>一次可用率 100%</a:t>
            </a:r>
            <a:endParaRPr/>
          </a:p>
        </p:txBody>
      </p:sp>
      <p:sp>
        <p:nvSpPr>
          <p:cNvPr id="122" name=""/>
          <p:cNvSpPr/>
          <p:nvPr/>
        </p:nvSpPr>
        <p:spPr>
          <a:xfrm>
            <a:off x="1524000" y="4373880"/>
            <a:ext cx="9144000" cy="17335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AI 自媒体内容创作助手 · 项目汇报 ｜ 2026-10-12 ｜ 感谢评审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2026-10-13T09:53:06Z</dcterms:created>
  <dcterms:modified xsi:type="dcterms:W3CDTF">2026-10-13T09:53:06Z</dcterms:modified>
</cp:coreProperties>
</file>
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1.svg" ContentType="image/svg+xml"/>
  <Override PartName="/ppt/media/image13.svg" ContentType="image/svg+xml"/>
  <Override PartName="/ppt/media/image15.svg" ContentType="image/svg+xml"/>
  <Override PartName="/ppt/media/image4.svg" ContentType="image/svg+xml"/>
  <Override PartName="/ppt/media/image6.svg" ContentType="image/svg+xml"/>
  <Override PartName="/ppt/media/image8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7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0" Type="http://schemas.openxmlformats.org/officeDocument/2006/relationships/tableStyles" Target="tableStyles.xml"/><Relationship Id="rId2" Type="http://schemas.openxmlformats.org/officeDocument/2006/relationships/theme" Target="theme/theme1.xml"/><Relationship Id="rId19" Type="http://schemas.openxmlformats.org/officeDocument/2006/relationships/viewProps" Target="viewProps.xml"/><Relationship Id="rId18" Type="http://schemas.openxmlformats.org/officeDocument/2006/relationships/presProps" Target="presProps.xml"/><Relationship Id="rId17" Type="http://schemas.openxmlformats.org/officeDocument/2006/relationships/notesMaster" Target="notesMasters/notesMaster1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4.svg"/><Relationship Id="rId1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6.svg"/><Relationship Id="rId1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8.svg"/><Relationship Id="rId1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13.svg"/><Relationship Id="rId1" Type="http://schemas.openxmlformats.org/officeDocument/2006/relationships/image" Target="../media/image1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15.svg"/><Relationship Id="rId1" Type="http://schemas.openxmlformats.org/officeDocument/2006/relationships/image" Target="../media/image14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 descr="&lt;Slide style={{ width: 1280, height: 720, padding: '92px 80px 56px', fontFamily: '&quot;Source Han Sans SC&quot;, &quot;Noto Sans SC&quot;, &quot;PingFang SC&quot;, &quot;Microsoft YaHei&quot;, sans-serif', position: 'relative', overflow: 'hidden', background: '#0F172A' }}&gt;&#10;  &lt;Image src=&quot;assets/hero_cover.png&quot; style={{ position: 'absolute', top: 0, left: 0, width: 1280, height: 720, objectFit: 'cover' }} /&gt;&#10;  &lt;Box style={{ position: 'absolute', top: 0, left: 0, width: 1280, height: 720, background: 'linear-gradient(100deg, rgba(15,23,42,0.95) 0%, rgba(15,23,42,0.66) 46%, rgba(15,23,42,0.18) 100%)' }} /&gt;&#10;&#10;  &lt;Box style={{ position: 'relative', width: 820 }}&gt;&#10;    &lt;Box style={{ flexDirection: 'row', alignItems: 'center', gap: 10 }}&gt;&#10;      &lt;Box style={{ width: 8, height: 8, borderRadius: 4, background: '#06B6D4' }} /&gt;&#10;      &lt;Text style={{ fontSize: 16, color: '#67E8F9', letterSpacing: 4 }}&gt;项目汇报 · PROJECT REPORT&lt;/Text&gt;&#10;    &lt;/Box&gt;&#10;    &lt;Text style={{ fontSize: 60, fontWeight: 'bold', lineHeight: 1.18, marginTop: 20, backgroundImage: 'linear-gradient(135deg, #FFFFFF 0%, #BAE6FD 58%, #67E8F9 100%)', backgroundClip: 'text', color: 'transparent' }}&gt;&#10;      AI 自媒体内容创作助手&#10;    &lt;/Text&gt;&#10;    &lt;Text style={{ fontSize: 23, color: '#CBD5E1', marginTop: 18, lineHeight: 1.5 }}&gt;&#10;      从热点到发布的全链路内容生产工作台&#10;    &lt;/Text&gt;&#10;    &lt;Box style={{ width: 72, height: 4, background: 'linear-gradient(135deg, #3B82F6 0%, #06B6D4 100%)', borderRadius: 2, marginTop: 26 }} /&gt;&#10;    &lt;Text style={{ fontSize: 16, color: '#94A3B8', marginTop: 22, lineHeight: 1.75 }}&gt;&#10;      微信公众号 · 小红书 · 抖音 ｜ 科技 / 生活 / 财经 / 美妆 / 教育 五大领域&#10;    &lt;/Text&gt;&#10;    &lt;Text style={{ fontSize: 16, color: '#94A3B8', marginTop: 6, lineHeight: 1.75 }}&gt;&#10;      真实热榜采集 · 跨平台聚合 · 推荐流与采纳漏斗全链路度量&#10;    &lt;/Text&gt;&#10;  &lt;/Box&gt;&#10;&#10;  &lt;Box style={{ position: 'relative', marginTop: 'auto', flexDirection: 'row', alignItems: 'center', gap: 16 }}&gt;&#10;    &lt;Text style={{ fontSize: 15, color: '#94A3B8' }}&gt;汇报人：项目组&lt;/Text&gt;&#10;    &lt;Box style={{ width: 1, height: 14, background: '#475569' }} /&gt;&#10;    &lt;Text style={{ fontSize: 15, color: '#94A3B8' }}&gt;2026-10-26&lt;/Text&gt;&#10;    &lt;Box style={{ width: 1, height: 14, background: '#475569' }} /&gt;&#10;    &lt;Text style={{ fontSize: 15, color: '#94A3B8' }}&gt;V2 · 含热点采集三期&lt;/Text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</p:spPr>
        <p:txBody>
          <a:bodyPr/>
          <a:p/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rcRect t="7812" b="781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矩形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F172A">
                  <a:alpha val="95000"/>
                </a:srgbClr>
              </a:gs>
              <a:gs pos="46000">
                <a:srgbClr val="0F172A">
                  <a:alpha val="66000"/>
                </a:srgbClr>
              </a:gs>
              <a:gs pos="100000">
                <a:srgbClr val="0F172A">
                  <a:alpha val="18000"/>
                </a:srgbClr>
              </a:gs>
            </a:gsLst>
            <a:lin ang="600000" scaled="1"/>
          </a:gradFill>
        </p:spPr>
        <p:txBody>
          <a:bodyPr/>
          <a:p/>
        </p:txBody>
      </p:sp>
      <p:sp>
        <p:nvSpPr>
          <p:cNvPr id="5" name="圆角矩形 4"/>
          <p:cNvSpPr/>
          <p:nvPr/>
        </p:nvSpPr>
        <p:spPr>
          <a:xfrm>
            <a:off x="762000" y="9334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06B6D4"/>
          </a:solidFill>
        </p:spPr>
        <p:txBody>
          <a:bodyPr/>
          <a:p/>
        </p:txBody>
      </p:sp>
      <p:sp>
        <p:nvSpPr>
          <p:cNvPr id="6" name="文本框 5" descr="{&quot;isTemplate&quot;:true,&quot;type&quot;:&quot;text&quot;}"/>
          <p:cNvSpPr txBox="1"/>
          <p:nvPr/>
        </p:nvSpPr>
        <p:spPr>
          <a:xfrm>
            <a:off x="933450" y="876300"/>
            <a:ext cx="2828925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spc="300">
                <a:solidFill>
                  <a:srgbClr val="67E8F9"/>
                </a:solidFill>
                <a:latin typeface="Source Han Sans SC"/>
                <a:ea typeface="Source Han Sans SC"/>
              </a:rPr>
              <a:t>项目汇报</a:t>
            </a:r>
            <a:r>
              <a:rPr lang="en-US" sz="1200" spc="300">
                <a:solidFill>
                  <a:srgbClr val="67E8F9"/>
                </a:solidFill>
                <a:latin typeface="Source Han Sans SC"/>
                <a:ea typeface="Source Han Sans SC"/>
              </a:rPr>
              <a:t> · PROJECT REPORT</a:t>
            </a:r>
            <a:endParaRPr lang="en-US" sz="1200" spc="300">
              <a:solidFill>
                <a:srgbClr val="67E8F9"/>
              </a:solidFill>
              <a:latin typeface="Source Han Sans SC"/>
              <a:ea typeface="Source Han Sans SC"/>
            </a:endParaRPr>
          </a:p>
        </p:txBody>
      </p:sp>
      <p:sp>
        <p:nvSpPr>
          <p:cNvPr id="7" name="文本框 6" descr="{&quot;isTemplate&quot;:true,&quot;type&quot;:&quot;text&quot;}"/>
          <p:cNvSpPr txBox="1"/>
          <p:nvPr/>
        </p:nvSpPr>
        <p:spPr>
          <a:xfrm>
            <a:off x="762000" y="1257300"/>
            <a:ext cx="7810500" cy="8096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18000"/>
              </a:lnSpc>
            </a:pPr>
            <a:r>
              <a:rPr lang="en-US" sz="4500" b="1">
                <a:gradFill>
                  <a:gsLst>
                    <a:gs pos="0">
                      <a:srgbClr val="FFFFFF"/>
                    </a:gs>
                    <a:gs pos="58000">
                      <a:srgbClr val="BAE6FD"/>
                    </a:gs>
                    <a:gs pos="100000">
                      <a:srgbClr val="67E8F9"/>
                    </a:gs>
                  </a:gsLst>
                  <a:lin ang="2700000" scaled="1"/>
                </a:gradFill>
                <a:latin typeface="Source Han Sans SC"/>
                <a:ea typeface="Source Han Sans SC"/>
              </a:rPr>
              <a:t>AI </a:t>
            </a:r>
            <a:r>
              <a:rPr lang="zh-CN" sz="4500" b="1">
                <a:gradFill>
                  <a:gsLst>
                    <a:gs pos="0">
                      <a:srgbClr val="FFFFFF"/>
                    </a:gs>
                    <a:gs pos="58000">
                      <a:srgbClr val="BAE6FD"/>
                    </a:gs>
                    <a:gs pos="100000">
                      <a:srgbClr val="67E8F9"/>
                    </a:gs>
                  </a:gsLst>
                  <a:lin ang="2700000" scaled="1"/>
                </a:gradFill>
                <a:latin typeface="Source Han Sans SC"/>
                <a:ea typeface="Source Han Sans SC"/>
              </a:rPr>
              <a:t>自媒体内容创作助手</a:t>
            </a:r>
            <a:endParaRPr lang="zh-CN" sz="4500" b="1">
              <a:gradFill>
                <a:gsLst>
                  <a:gs pos="0">
                    <a:srgbClr val="FFFFFF"/>
                  </a:gs>
                  <a:gs pos="58000">
                    <a:srgbClr val="BAE6FD"/>
                  </a:gs>
                  <a:gs pos="100000">
                    <a:srgbClr val="67E8F9"/>
                  </a:gs>
                </a:gsLst>
                <a:lin ang="2700000" scaled="1"/>
              </a:gradFill>
              <a:latin typeface="Source Han Sans SC"/>
              <a:ea typeface="Source Han Sans SC"/>
            </a:endParaRPr>
          </a:p>
        </p:txBody>
      </p:sp>
      <p:sp>
        <p:nvSpPr>
          <p:cNvPr id="8" name="文本框 7" descr="{&quot;isTemplate&quot;:true,&quot;type&quot;:&quot;text&quot;}"/>
          <p:cNvSpPr txBox="1"/>
          <p:nvPr/>
        </p:nvSpPr>
        <p:spPr>
          <a:xfrm>
            <a:off x="762000" y="2238375"/>
            <a:ext cx="7810500" cy="4000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725">
                <a:solidFill>
                  <a:srgbClr val="CBD5E1"/>
                </a:solidFill>
                <a:latin typeface="Source Han Sans SC"/>
                <a:ea typeface="Source Han Sans SC"/>
              </a:rPr>
              <a:t>从热点到发布的全链路内容生产工作台</a:t>
            </a:r>
            <a:endParaRPr lang="zh-CN" sz="1725">
              <a:solidFill>
                <a:srgbClr val="CBD5E1"/>
              </a:solidFill>
              <a:latin typeface="Source Han Sans SC"/>
              <a:ea typeface="Source Han Sans SC"/>
            </a:endParaRPr>
          </a:p>
        </p:txBody>
      </p:sp>
      <p:sp>
        <p:nvSpPr>
          <p:cNvPr id="9" name="圆角矩形 8"/>
          <p:cNvSpPr/>
          <p:nvPr/>
        </p:nvSpPr>
        <p:spPr>
          <a:xfrm>
            <a:off x="762000" y="2886075"/>
            <a:ext cx="685800" cy="3810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3B82F6"/>
              </a:gs>
              <a:gs pos="100000">
                <a:srgbClr val="06B6D4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10" name="文本框 9" descr="{&quot;isTemplate&quot;:true,&quot;type&quot;:&quot;text&quot;}"/>
          <p:cNvSpPr txBox="1"/>
          <p:nvPr/>
        </p:nvSpPr>
        <p:spPr>
          <a:xfrm>
            <a:off x="762000" y="3133725"/>
            <a:ext cx="7810500" cy="3238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zh-CN" sz="1200">
                <a:solidFill>
                  <a:srgbClr val="94A3B8"/>
                </a:solidFill>
                <a:latin typeface="Source Han Sans SC"/>
                <a:ea typeface="Source Han Sans SC"/>
              </a:rPr>
              <a:t>微信公众号</a:t>
            </a:r>
            <a:r>
              <a:rPr lang="en-US" sz="1200">
                <a:solidFill>
                  <a:srgbClr val="94A3B8"/>
                </a:solidFill>
                <a:latin typeface="Source Han Sans SC"/>
                <a:ea typeface="Source Han Sans SC"/>
              </a:rPr>
              <a:t> · </a:t>
            </a:r>
            <a:r>
              <a:rPr lang="zh-CN" sz="1200">
                <a:solidFill>
                  <a:srgbClr val="94A3B8"/>
                </a:solidFill>
                <a:latin typeface="Source Han Sans SC"/>
                <a:ea typeface="Source Han Sans SC"/>
              </a:rPr>
              <a:t>小红书</a:t>
            </a:r>
            <a:r>
              <a:rPr lang="en-US" sz="1200">
                <a:solidFill>
                  <a:srgbClr val="94A3B8"/>
                </a:solidFill>
                <a:latin typeface="Source Han Sans SC"/>
                <a:ea typeface="Source Han Sans SC"/>
              </a:rPr>
              <a:t> · </a:t>
            </a:r>
            <a:r>
              <a:rPr lang="zh-CN" sz="1200">
                <a:solidFill>
                  <a:srgbClr val="94A3B8"/>
                </a:solidFill>
                <a:latin typeface="Source Han Sans SC"/>
                <a:ea typeface="Source Han Sans SC"/>
              </a:rPr>
              <a:t>抖音</a:t>
            </a:r>
            <a:r>
              <a:rPr lang="en-US" sz="1200">
                <a:solidFill>
                  <a:srgbClr val="94A3B8"/>
                </a:solidFill>
                <a:latin typeface="Source Han Sans SC"/>
                <a:ea typeface="Source Han Sans SC"/>
              </a:rPr>
              <a:t> </a:t>
            </a:r>
            <a:r>
              <a:rPr lang="zh-CN" sz="1200">
                <a:solidFill>
                  <a:srgbClr val="94A3B8"/>
                </a:solidFill>
                <a:latin typeface="Source Han Sans SC"/>
                <a:ea typeface="Source Han Sans SC"/>
              </a:rPr>
              <a:t>｜</a:t>
            </a:r>
            <a:r>
              <a:rPr lang="en-US" sz="1200">
                <a:solidFill>
                  <a:srgbClr val="94A3B8"/>
                </a:solidFill>
                <a:latin typeface="Source Han Sans SC"/>
                <a:ea typeface="Source Han Sans SC"/>
              </a:rPr>
              <a:t> </a:t>
            </a:r>
            <a:r>
              <a:rPr lang="zh-CN" sz="1200">
                <a:solidFill>
                  <a:srgbClr val="94A3B8"/>
                </a:solidFill>
                <a:latin typeface="Source Han Sans SC"/>
                <a:ea typeface="Source Han Sans SC"/>
              </a:rPr>
              <a:t>科技</a:t>
            </a:r>
            <a:r>
              <a:rPr lang="en-US" sz="1200">
                <a:solidFill>
                  <a:srgbClr val="94A3B8"/>
                </a:solidFill>
                <a:latin typeface="Source Han Sans SC"/>
                <a:ea typeface="Source Han Sans SC"/>
              </a:rPr>
              <a:t> / </a:t>
            </a:r>
            <a:r>
              <a:rPr lang="zh-CN" sz="1200">
                <a:solidFill>
                  <a:srgbClr val="94A3B8"/>
                </a:solidFill>
                <a:latin typeface="Source Han Sans SC"/>
                <a:ea typeface="Source Han Sans SC"/>
              </a:rPr>
              <a:t>生活</a:t>
            </a:r>
            <a:r>
              <a:rPr lang="en-US" sz="1200">
                <a:solidFill>
                  <a:srgbClr val="94A3B8"/>
                </a:solidFill>
                <a:latin typeface="Source Han Sans SC"/>
                <a:ea typeface="Source Han Sans SC"/>
              </a:rPr>
              <a:t> / </a:t>
            </a:r>
            <a:r>
              <a:rPr lang="zh-CN" sz="1200">
                <a:solidFill>
                  <a:srgbClr val="94A3B8"/>
                </a:solidFill>
                <a:latin typeface="Source Han Sans SC"/>
                <a:ea typeface="Source Han Sans SC"/>
              </a:rPr>
              <a:t>财经</a:t>
            </a:r>
            <a:r>
              <a:rPr lang="en-US" sz="1200">
                <a:solidFill>
                  <a:srgbClr val="94A3B8"/>
                </a:solidFill>
                <a:latin typeface="Source Han Sans SC"/>
                <a:ea typeface="Source Han Sans SC"/>
              </a:rPr>
              <a:t> / </a:t>
            </a:r>
            <a:r>
              <a:rPr lang="zh-CN" sz="1200">
                <a:solidFill>
                  <a:srgbClr val="94A3B8"/>
                </a:solidFill>
                <a:latin typeface="Source Han Sans SC"/>
                <a:ea typeface="Source Han Sans SC"/>
              </a:rPr>
              <a:t>美妆</a:t>
            </a:r>
            <a:r>
              <a:rPr lang="en-US" sz="1200">
                <a:solidFill>
                  <a:srgbClr val="94A3B8"/>
                </a:solidFill>
                <a:latin typeface="Source Han Sans SC"/>
                <a:ea typeface="Source Han Sans SC"/>
              </a:rPr>
              <a:t> / </a:t>
            </a:r>
            <a:r>
              <a:rPr lang="zh-CN" sz="1200">
                <a:solidFill>
                  <a:srgbClr val="94A3B8"/>
                </a:solidFill>
                <a:latin typeface="Source Han Sans SC"/>
                <a:ea typeface="Source Han Sans SC"/>
              </a:rPr>
              <a:t>教育</a:t>
            </a:r>
            <a:r>
              <a:rPr lang="en-US" sz="1200">
                <a:solidFill>
                  <a:srgbClr val="94A3B8"/>
                </a:solidFill>
                <a:latin typeface="Source Han Sans SC"/>
                <a:ea typeface="Source Han Sans SC"/>
              </a:rPr>
              <a:t> </a:t>
            </a:r>
            <a:r>
              <a:rPr lang="zh-CN" sz="1200">
                <a:solidFill>
                  <a:srgbClr val="94A3B8"/>
                </a:solidFill>
                <a:latin typeface="Source Han Sans SC"/>
                <a:ea typeface="Source Han Sans SC"/>
              </a:rPr>
              <a:t>五大领域</a:t>
            </a:r>
            <a:endParaRPr lang="zh-CN" sz="1200">
              <a:solidFill>
                <a:srgbClr val="94A3B8"/>
              </a:solidFill>
              <a:latin typeface="Source Han Sans SC"/>
              <a:ea typeface="Source Han Sans SC"/>
            </a:endParaRPr>
          </a:p>
        </p:txBody>
      </p:sp>
      <p:sp>
        <p:nvSpPr>
          <p:cNvPr id="11" name="文本框 10" descr="{&quot;isTemplate&quot;:true,&quot;type&quot;:&quot;text&quot;}"/>
          <p:cNvSpPr txBox="1"/>
          <p:nvPr/>
        </p:nvSpPr>
        <p:spPr>
          <a:xfrm>
            <a:off x="762000" y="3514725"/>
            <a:ext cx="7810500" cy="3238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zh-CN" sz="1200">
                <a:solidFill>
                  <a:srgbClr val="94A3B8"/>
                </a:solidFill>
                <a:latin typeface="Source Han Sans SC"/>
                <a:ea typeface="Source Han Sans SC"/>
              </a:rPr>
              <a:t>真实热榜采集</a:t>
            </a:r>
            <a:r>
              <a:rPr lang="en-US" sz="1200">
                <a:solidFill>
                  <a:srgbClr val="94A3B8"/>
                </a:solidFill>
                <a:latin typeface="Source Han Sans SC"/>
                <a:ea typeface="Source Han Sans SC"/>
              </a:rPr>
              <a:t> · </a:t>
            </a:r>
            <a:r>
              <a:rPr lang="zh-CN" sz="1200">
                <a:solidFill>
                  <a:srgbClr val="94A3B8"/>
                </a:solidFill>
                <a:latin typeface="Source Han Sans SC"/>
                <a:ea typeface="Source Han Sans SC"/>
              </a:rPr>
              <a:t>跨平台聚合</a:t>
            </a:r>
            <a:r>
              <a:rPr lang="en-US" sz="1200">
                <a:solidFill>
                  <a:srgbClr val="94A3B8"/>
                </a:solidFill>
                <a:latin typeface="Source Han Sans SC"/>
                <a:ea typeface="Source Han Sans SC"/>
              </a:rPr>
              <a:t> · </a:t>
            </a:r>
            <a:r>
              <a:rPr lang="zh-CN" sz="1200">
                <a:solidFill>
                  <a:srgbClr val="94A3B8"/>
                </a:solidFill>
                <a:latin typeface="Source Han Sans SC"/>
                <a:ea typeface="Source Han Sans SC"/>
              </a:rPr>
              <a:t>推荐流与采纳漏斗全链路度量</a:t>
            </a:r>
            <a:endParaRPr lang="zh-CN" sz="1200">
              <a:solidFill>
                <a:srgbClr val="94A3B8"/>
              </a:solidFill>
              <a:latin typeface="Source Han Sans SC"/>
              <a:ea typeface="Source Han Sans SC"/>
            </a:endParaRPr>
          </a:p>
        </p:txBody>
      </p:sp>
      <p:sp>
        <p:nvSpPr>
          <p:cNvPr id="12" name="文本框 11" descr="{&quot;isTemplate&quot;:true,&quot;type&quot;:&quot;text&quot;}"/>
          <p:cNvSpPr txBox="1"/>
          <p:nvPr/>
        </p:nvSpPr>
        <p:spPr>
          <a:xfrm>
            <a:off x="762000" y="6153150"/>
            <a:ext cx="1000125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94A3B8"/>
                </a:solidFill>
                <a:latin typeface="Source Han Sans SC"/>
                <a:ea typeface="Source Han Sans SC"/>
              </a:rPr>
              <a:t>汇报人：</a:t>
            </a:r>
            <a:r>
              <a:rPr lang="zh-CN" sz="1125">
                <a:solidFill>
                  <a:srgbClr val="94A3B8"/>
                </a:solidFill>
                <a:latin typeface="Source Han Sans SC"/>
                <a:ea typeface="Source Han Sans SC"/>
              </a:rPr>
              <a:t>张佳楠</a:t>
            </a:r>
            <a:endParaRPr lang="zh-CN" sz="1125">
              <a:solidFill>
                <a:srgbClr val="94A3B8"/>
              </a:solidFill>
              <a:latin typeface="Source Han Sans SC"/>
              <a:ea typeface="Source Han Sans SC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1914525" y="6172200"/>
            <a:ext cx="9525" cy="133350"/>
          </a:xfrm>
          <a:prstGeom prst="rect">
            <a:avLst/>
          </a:prstGeom>
          <a:solidFill>
            <a:srgbClr val="475569"/>
          </a:solidFill>
        </p:spPr>
        <p:txBody>
          <a:bodyPr/>
          <a:p/>
        </p:txBody>
      </p:sp>
      <p:sp>
        <p:nvSpPr>
          <p:cNvPr id="14" name="文本框 13" descr="{&quot;isTemplate&quot;:true,&quot;type&quot;:&quot;text&quot;}"/>
          <p:cNvSpPr txBox="1"/>
          <p:nvPr/>
        </p:nvSpPr>
        <p:spPr>
          <a:xfrm>
            <a:off x="2076450" y="6153150"/>
            <a:ext cx="800100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94A3B8"/>
                </a:solidFill>
                <a:latin typeface="Source Han Sans SC"/>
                <a:ea typeface="Source Han Sans SC"/>
              </a:rPr>
              <a:t>2026-10-26</a:t>
            </a:r>
            <a:endParaRPr lang="en-US" sz="1125">
              <a:solidFill>
                <a:srgbClr val="94A3B8"/>
              </a:solidFill>
              <a:latin typeface="Source Han Sans SC"/>
              <a:ea typeface="Source Han Sans SC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3028950" y="6172200"/>
            <a:ext cx="9525" cy="133350"/>
          </a:xfrm>
          <a:prstGeom prst="rect">
            <a:avLst/>
          </a:prstGeom>
          <a:solidFill>
            <a:srgbClr val="475569"/>
          </a:solidFill>
        </p:spPr>
        <p:txBody>
          <a:bodyPr/>
          <a:p/>
        </p:txBody>
      </p:sp>
      <p:sp>
        <p:nvSpPr>
          <p:cNvPr id="16" name="文本框 15" descr="{&quot;isTemplate&quot;:true,&quot;type&quot;:&quot;text&quot;}"/>
          <p:cNvSpPr txBox="1"/>
          <p:nvPr/>
        </p:nvSpPr>
        <p:spPr>
          <a:xfrm>
            <a:off x="3190875" y="6153150"/>
            <a:ext cx="1304925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94A3B8"/>
                </a:solidFill>
                <a:latin typeface="Source Han Sans SC"/>
                <a:ea typeface="Source Han Sans SC"/>
              </a:rPr>
              <a:t>V2 · </a:t>
            </a:r>
            <a:r>
              <a:rPr lang="zh-CN" sz="1125">
                <a:solidFill>
                  <a:srgbClr val="94A3B8"/>
                </a:solidFill>
                <a:latin typeface="Source Han Sans SC"/>
                <a:ea typeface="Source Han Sans SC"/>
              </a:rPr>
              <a:t>含热点采集三期</a:t>
            </a:r>
            <a:endParaRPr lang="zh-CN" sz="1125">
              <a:solidFill>
                <a:srgbClr val="94A3B8"/>
              </a:solidFill>
              <a:latin typeface="Source Han Sans SC"/>
              <a:ea typeface="Source Han Sans SC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56" name="" descr="&lt;Slide style={{ width: 1280, height: 720, padding: '20px 64px', fontFamily: '&quot;Source Han Sans SC&quot;, &quot;Noto Sans SC&quot;, &quot;PingFang SC&quot;, &quot;Microsoft YaHei&quot;, sans-serif', background: '#F8FAFC' }}&gt;&#10;  &lt;Box style={{ height: 100, justifyContent: 'center' }}&gt;&#10;    &lt;Box style={{ flexDirection: 'row', alignItems: 'center', gap: 16 }}&gt;&#10;      &lt;Box style={{ width: 6, height: 34, background: 'linear-gradient(135deg, #3B82F6 0%, #06B6D4 100%)', borderRadius: 3 }} /&gt;&#10;      &lt;Box&gt;&#10;        &lt;Text style={{ fontSize: 34, fontWeight: 'bold', color: '#0F172A' }}&gt;汇报目录&lt;/Text&gt;&#10;        &lt;Text style={{ fontSize: 18, color: '#64748B', marginTop: 4 }}&gt;三章递进：先讲清做什么，再讲怎么做，最后用数字收口&lt;/Text&gt;&#10;      &lt;/Box&gt;&#10;    &lt;/Box&gt;&#10;  &lt;/Box&gt;&#10;&#10;  &lt;Box style={{ flexDirection: 'row', gap: 40, height: 520 }}&gt;&#10;    &lt;Box style={{ width: 250, flexDirection: 'column' }}&gt;&#10;      &lt;Text style={{ fontSize: 15, color: '#94A3B8', letterSpacing: 4 }}&gt;CONTENTS&lt;/Text&gt;&#10;      &lt;Text style={{ fontSize: 56, fontWeight: 'bold', color: '#0F172A', lineHeight: 1.1, marginTop: 8 }}&gt;三章&lt;/Text&gt;&#10;      &lt;Box style={{ width: 48, height: 3, background: 'linear-gradient(135deg, #3B82F6 0%, #06B6D4 100%)', borderRadius: 2, marginTop: 16 }} /&gt;&#10;      &lt;Text style={{ fontSize: 16, color: '#334155', lineHeight: 1.8, marginTop: 20 }}&gt;&#10;        共 14 页，含 4 个重点页：封面、系统架构、数据成果、收束。全程围绕一条可演示、可度量的内容生产链展开。&#10;      &lt;/Text&gt;&#10;      &lt;Box style={{ marginTop: 'auto', background: '#0F172A', borderRadius: 12, padding: '14px 16px' }}&gt;&#10;        &lt;Text style={{ fontSize: 14, color: '#CBD5E1', lineHeight: 1.7 }}&gt;&#10;          全程一条主线：素材与热点打底 → 检索增强生成 → 平台适配 → 漏斗度量。&#10;        &lt;/Text&gt;&#10;      &lt;/Box&gt;&#10;    &lt;/Box&gt;&#10;&#10;    &lt;Box style={{ flex: 1, flexDirection: 'column', gap: 18 }}&gt;&#10;      &lt;Box style={{ flex: 1, background: '#FFFFFF', border: '1px solid #E2E8F0', borderRadius: 14, padding: '22px 26px', boxShadow: '0 4px 20px rgba(15,23,42,0.06)', flexDirection: 'row', alignItems: 'center', gap: 24 }}&gt;&#10;        &lt;Text style={{ fontSize: 46, fontWeight: 'bold', color: '#3B82F6', letterSpacing: -2, width: 78 }}&gt;01&lt;/Text&gt;&#10;        &lt;Box style={{ flex: 1 }}&gt;&#10;          &lt;Text style={{ fontSize: 24, fontWeight: 'bold', color: '#0F172A' }}&gt;项目概况&lt;/Text&gt;&#10;          &lt;Text style={{ fontSize: 15, color: '#64748B', marginTop: 6, lineHeight: 1.7 }}&gt;&#10;            一句话定位、五步核心闭环、六大功能模块与工程规模&#10;          &lt;/Text&gt;&#10;        &lt;/Box&gt;&#10;        &lt;Text style={{ fontSize: 15, color: '#94A3B8' }}&gt;P03 — P05&lt;/Text&gt;&#10;      &lt;/Box&gt;&#10;&#10;      &lt;Box style={{ flex: 1, background: '#FFFFFF', border: '1px solid #E2E8F0', borderRadius: 14, padding: '22px 26px', boxShadow: '0 4px 20px rgba(15,23,42,0.06)', flexDirection: 'row', alignItems: 'center', gap: 24 }}&gt;&#10;        &lt;Text style={{ fontSize: 46, fontWeight: 'bold', color: '#3B82F6', letterSpacing: -2, width: 78 }}&gt;02&lt;/Text&gt;&#10;        &lt;Box style={{ flex: 1 }}&gt;&#10;          &lt;Text style={{ fontSize: 24, fontWeight: 'bold', color: '#0F172A' }}&gt;技术方案&lt;/Text&gt;&#10;          &lt;Text style={{ fontSize: 15, color: '#64748B', marginTop: 6, lineHeight: 1.7 }}&gt;&#10;            五层系统架构、热点采集三层模型、推荐流与采纳漏斗&#10;          &lt;/Text&gt;&#10;        &lt;/Box&gt;&#10;        &lt;Text style={{ fontSize: 15, color: '#94A3B8' }}&gt;P06 — P09&lt;/Text&gt;&#10;      &lt;/Box&gt;&#10;&#10;      &lt;Box style={{ flex: 1, background: '#FFFFFF', border: '1px solid #E2E8F0', borderRadius: 14, padding: '22px 26px', boxShadow: '0 4px 20px rgba(15,23,42,0.06)', flexDirection: 'row', alignItems: 'center', gap: 24 }}&gt;&#10;        &lt;Text style={{ fontSize: 46, fontWeight: 'bold', color: '#3B82F6', letterSpacing: -2, width: 78 }}&gt;03&lt;/Text&gt;&#10;        &lt;Box style={{ flex: 1 }}&gt;&#10;          &lt;Text style={{ fontSize: 24, fontWeight: 'bold', color: '#0F172A' }}&gt;实现与验证&lt;/Text&gt;&#10;          &lt;Text style={{ fontSize: 15, color: '#64748B', marginTop: 6, lineHeight: 1.7 }}&gt;&#10;            六个阶段里程碑、四项指标达标、五个真实难点与下一步&#10;          &lt;/Text&gt;&#10;        &lt;/Box&gt;&#10;        &lt;Text style={{ fontSize: 15, color: '#94A3B8' }}&gt;P10 — P13&lt;/Text&gt;&#10;      &lt;/Box&gt;&#10;    &lt;/Box&gt;&#10;  &lt;/Box&gt;&#10;&#10;  &lt;Box style={{ height: 60, flexDirection: 'row', justifyContent: 'space-between', alignItems: 'center' }}&gt;&#10;    &lt;Box style={{ flexDirection: 'row', alignItems: 'center', gap: 8 }}&gt;&#10;      &lt;Box style={{ width: 10, height: 10, borderRadius: 2, background: 'linear-gradient(135deg, #3B82F6, #06B6D4)' }} /&gt;&#10;      &lt;Text style={{ fontSize: 14, color: '#94A3B8' }}&gt;AI 自媒体内容创作助手 · 项目汇报&lt;/Text&gt;&#10;    &lt;/Box&gt;&#10;    &lt;Text style={{ fontSize: 14, color: '#94A3B8' }}&gt;02 / 14&lt;/Text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矩形 156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</p:spPr>
        <p:txBody>
          <a:bodyPr/>
          <a:p/>
        </p:txBody>
      </p:sp>
      <p:sp>
        <p:nvSpPr>
          <p:cNvPr id="158" name="圆角矩形 157"/>
          <p:cNvSpPr/>
          <p:nvPr/>
        </p:nvSpPr>
        <p:spPr>
          <a:xfrm>
            <a:off x="609600" y="514350"/>
            <a:ext cx="57150" cy="32385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3B82F6"/>
              </a:gs>
              <a:gs pos="100000">
                <a:srgbClr val="06B6D4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159" name="文本框 158" descr="{&quot;isTemplate&quot;:true,&quot;type&quot;:&quot;text&quot;}"/>
          <p:cNvSpPr txBox="1"/>
          <p:nvPr/>
        </p:nvSpPr>
        <p:spPr>
          <a:xfrm>
            <a:off x="819150" y="352425"/>
            <a:ext cx="4286250" cy="3905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0F172A"/>
                </a:solidFill>
                <a:latin typeface="Source Han Sans SC"/>
                <a:ea typeface="Source Han Sans SC"/>
              </a:rPr>
              <a:t>汇报目录</a:t>
            </a:r>
            <a:endParaRPr lang="zh-CN" sz="2550" b="1">
              <a:solidFill>
                <a:srgbClr val="0F172A"/>
              </a:solidFill>
              <a:latin typeface="Source Han Sans SC"/>
              <a:ea typeface="Source Han Sans SC"/>
            </a:endParaRPr>
          </a:p>
        </p:txBody>
      </p:sp>
      <p:sp>
        <p:nvSpPr>
          <p:cNvPr id="160" name="文本框 159" descr="{&quot;isTemplate&quot;:true,&quot;type&quot;:&quot;text&quot;}"/>
          <p:cNvSpPr txBox="1"/>
          <p:nvPr/>
        </p:nvSpPr>
        <p:spPr>
          <a:xfrm>
            <a:off x="819150" y="781050"/>
            <a:ext cx="4286250" cy="2095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64748B"/>
                </a:solidFill>
                <a:latin typeface="Source Han Sans SC"/>
                <a:ea typeface="Source Han Sans SC"/>
              </a:rPr>
              <a:t>三章递进：先讲清做什么，再讲怎么做，最后用数字收口</a:t>
            </a:r>
            <a:endParaRPr lang="zh-CN" sz="1350">
              <a:solidFill>
                <a:srgbClr val="64748B"/>
              </a:solidFill>
              <a:latin typeface="Source Han Sans SC"/>
              <a:ea typeface="Source Han Sans SC"/>
            </a:endParaRPr>
          </a:p>
        </p:txBody>
      </p:sp>
      <p:sp>
        <p:nvSpPr>
          <p:cNvPr id="161" name="文本框 160" descr="{&quot;isTemplate&quot;:true,&quot;type&quot;:&quot;text&quot;}"/>
          <p:cNvSpPr txBox="1"/>
          <p:nvPr/>
        </p:nvSpPr>
        <p:spPr>
          <a:xfrm>
            <a:off x="609600" y="1143000"/>
            <a:ext cx="2381250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300">
                <a:solidFill>
                  <a:srgbClr val="94A3B8"/>
                </a:solidFill>
                <a:latin typeface="Source Han Sans SC"/>
                <a:ea typeface="Source Han Sans SC"/>
              </a:rPr>
              <a:t>CONTENTS</a:t>
            </a:r>
            <a:endParaRPr lang="en-US" sz="1125" spc="300">
              <a:solidFill>
                <a:srgbClr val="94A3B8"/>
              </a:solidFill>
              <a:latin typeface="Source Han Sans SC"/>
              <a:ea typeface="Source Han Sans SC"/>
            </a:endParaRPr>
          </a:p>
        </p:txBody>
      </p:sp>
      <p:sp>
        <p:nvSpPr>
          <p:cNvPr id="162" name="文本框 161" descr="{&quot;isTemplate&quot;:true,&quot;type&quot;:&quot;text&quot;}"/>
          <p:cNvSpPr txBox="1"/>
          <p:nvPr/>
        </p:nvSpPr>
        <p:spPr>
          <a:xfrm>
            <a:off x="609600" y="1390650"/>
            <a:ext cx="2381250" cy="7048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10000"/>
              </a:lnSpc>
            </a:pPr>
            <a:r>
              <a:rPr lang="zh-CN" sz="4200" b="1">
                <a:solidFill>
                  <a:srgbClr val="0F172A"/>
                </a:solidFill>
                <a:latin typeface="Source Han Sans SC"/>
                <a:ea typeface="Source Han Sans SC"/>
              </a:rPr>
              <a:t>三章</a:t>
            </a:r>
            <a:endParaRPr lang="zh-CN" sz="4200" b="1">
              <a:solidFill>
                <a:srgbClr val="0F172A"/>
              </a:solidFill>
              <a:latin typeface="Source Han Sans SC"/>
              <a:ea typeface="Source Han Sans SC"/>
            </a:endParaRPr>
          </a:p>
        </p:txBody>
      </p:sp>
      <p:sp>
        <p:nvSpPr>
          <p:cNvPr id="163" name="圆角矩形 162"/>
          <p:cNvSpPr/>
          <p:nvPr/>
        </p:nvSpPr>
        <p:spPr>
          <a:xfrm>
            <a:off x="609600" y="2247900"/>
            <a:ext cx="457200" cy="28575"/>
          </a:xfrm>
          <a:prstGeom prst="roundRect">
            <a:avLst>
              <a:gd name="adj" fmla="val 66667"/>
            </a:avLst>
          </a:prstGeom>
          <a:gradFill>
            <a:gsLst>
              <a:gs pos="0">
                <a:srgbClr val="3B82F6"/>
              </a:gs>
              <a:gs pos="100000">
                <a:srgbClr val="06B6D4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164" name="文本框 163" descr="{&quot;isTemplate&quot;:true,&quot;type&quot;:&quot;text&quot;}"/>
          <p:cNvSpPr txBox="1"/>
          <p:nvPr/>
        </p:nvSpPr>
        <p:spPr>
          <a:xfrm>
            <a:off x="609600" y="2466975"/>
            <a:ext cx="2381250" cy="1323975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80000"/>
              </a:lnSpc>
            </a:pPr>
            <a:r>
              <a:rPr lang="zh-CN" sz="1200">
                <a:solidFill>
                  <a:srgbClr val="334155"/>
                </a:solidFill>
                <a:latin typeface="Source Han Sans SC"/>
                <a:ea typeface="Source Han Sans SC"/>
              </a:rPr>
              <a:t>共</a:t>
            </a:r>
            <a:r>
              <a:rPr lang="en-US" sz="1200">
                <a:solidFill>
                  <a:srgbClr val="334155"/>
                </a:solidFill>
                <a:latin typeface="Source Han Sans SC"/>
                <a:ea typeface="Source Han Sans SC"/>
              </a:rPr>
              <a:t> 14 </a:t>
            </a:r>
            <a:r>
              <a:rPr lang="zh-CN" sz="1200">
                <a:solidFill>
                  <a:srgbClr val="334155"/>
                </a:solidFill>
                <a:latin typeface="Source Han Sans SC"/>
                <a:ea typeface="Source Han Sans SC"/>
              </a:rPr>
              <a:t>页，含</a:t>
            </a:r>
            <a:r>
              <a:rPr lang="en-US" sz="1200">
                <a:solidFill>
                  <a:srgbClr val="334155"/>
                </a:solidFill>
                <a:latin typeface="Source Han Sans SC"/>
                <a:ea typeface="Source Han Sans SC"/>
              </a:rPr>
              <a:t> 4 </a:t>
            </a:r>
            <a:r>
              <a:rPr lang="zh-CN" sz="1200">
                <a:solidFill>
                  <a:srgbClr val="334155"/>
                </a:solidFill>
                <a:latin typeface="Source Han Sans SC"/>
                <a:ea typeface="Source Han Sans SC"/>
              </a:rPr>
              <a:t>个重点页：封面、系统架构、数据成果、收束。全程围绕一条可演示、可度量的内容生产链展开。</a:t>
            </a:r>
            <a:endParaRPr lang="zh-CN" sz="1200">
              <a:solidFill>
                <a:srgbClr val="334155"/>
              </a:solidFill>
              <a:latin typeface="Source Han Sans SC"/>
              <a:ea typeface="Source Han Sans SC"/>
            </a:endParaRPr>
          </a:p>
        </p:txBody>
      </p:sp>
      <p:sp>
        <p:nvSpPr>
          <p:cNvPr id="165" name="圆角矩形 164"/>
          <p:cNvSpPr/>
          <p:nvPr/>
        </p:nvSpPr>
        <p:spPr>
          <a:xfrm>
            <a:off x="609600" y="5010150"/>
            <a:ext cx="2381250" cy="1085850"/>
          </a:xfrm>
          <a:prstGeom prst="roundRect">
            <a:avLst>
              <a:gd name="adj" fmla="val 10526"/>
            </a:avLst>
          </a:prstGeom>
          <a:solidFill>
            <a:srgbClr val="0F172A"/>
          </a:solidFill>
        </p:spPr>
        <p:txBody>
          <a:bodyPr/>
          <a:p/>
        </p:txBody>
      </p:sp>
      <p:sp>
        <p:nvSpPr>
          <p:cNvPr id="166" name="文本框 165" descr="{&quot;isTemplate&quot;:true,&quot;type&quot;:&quot;text&quot;}"/>
          <p:cNvSpPr txBox="1"/>
          <p:nvPr/>
        </p:nvSpPr>
        <p:spPr>
          <a:xfrm>
            <a:off x="762000" y="5143500"/>
            <a:ext cx="2076450" cy="819150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050">
                <a:solidFill>
                  <a:srgbClr val="CBD5E1"/>
                </a:solidFill>
                <a:latin typeface="Source Han Sans SC"/>
                <a:ea typeface="Source Han Sans SC"/>
              </a:rPr>
              <a:t>全程一条主线：素材与热点打底</a:t>
            </a:r>
            <a:r>
              <a:rPr lang="en-US" sz="1050">
                <a:solidFill>
                  <a:srgbClr val="CBD5E1"/>
                </a:solidFill>
                <a:latin typeface="Source Han Sans SC"/>
                <a:ea typeface="Source Han Sans SC"/>
              </a:rPr>
              <a:t> → </a:t>
            </a:r>
            <a:r>
              <a:rPr lang="zh-CN" sz="1050">
                <a:solidFill>
                  <a:srgbClr val="CBD5E1"/>
                </a:solidFill>
                <a:latin typeface="Source Han Sans SC"/>
                <a:ea typeface="Source Han Sans SC"/>
              </a:rPr>
              <a:t>检索增强生成</a:t>
            </a:r>
            <a:r>
              <a:rPr lang="en-US" sz="1050">
                <a:solidFill>
                  <a:srgbClr val="CBD5E1"/>
                </a:solidFill>
                <a:latin typeface="Source Han Sans SC"/>
                <a:ea typeface="Source Han Sans SC"/>
              </a:rPr>
              <a:t> → </a:t>
            </a:r>
            <a:r>
              <a:rPr lang="zh-CN" sz="1050">
                <a:solidFill>
                  <a:srgbClr val="CBD5E1"/>
                </a:solidFill>
                <a:latin typeface="Source Han Sans SC"/>
                <a:ea typeface="Source Han Sans SC"/>
              </a:rPr>
              <a:t>平台适配</a:t>
            </a:r>
            <a:r>
              <a:rPr lang="en-US" sz="1050">
                <a:solidFill>
                  <a:srgbClr val="CBD5E1"/>
                </a:solidFill>
                <a:latin typeface="Source Han Sans SC"/>
                <a:ea typeface="Source Han Sans SC"/>
              </a:rPr>
              <a:t> → </a:t>
            </a:r>
            <a:r>
              <a:rPr lang="zh-CN" sz="1050">
                <a:solidFill>
                  <a:srgbClr val="CBD5E1"/>
                </a:solidFill>
                <a:latin typeface="Source Han Sans SC"/>
                <a:ea typeface="Source Han Sans SC"/>
              </a:rPr>
              <a:t>漏斗度量。</a:t>
            </a:r>
            <a:endParaRPr lang="zh-CN" sz="1050">
              <a:solidFill>
                <a:srgbClr val="CBD5E1"/>
              </a:solidFill>
              <a:latin typeface="Source Han Sans SC"/>
              <a:ea typeface="Source Han Sans SC"/>
            </a:endParaRPr>
          </a:p>
        </p:txBody>
      </p:sp>
      <p:sp>
        <p:nvSpPr>
          <p:cNvPr id="167" name="圆角矩形 166"/>
          <p:cNvSpPr/>
          <p:nvPr/>
        </p:nvSpPr>
        <p:spPr>
          <a:xfrm>
            <a:off x="3371850" y="1143000"/>
            <a:ext cx="8210550" cy="1533525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90500" dist="38100" dir="540000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68" name="文本框 167" descr="{&quot;isTemplate&quot;:true,&quot;type&quot;:&quot;text&quot;}"/>
          <p:cNvSpPr txBox="1"/>
          <p:nvPr/>
        </p:nvSpPr>
        <p:spPr>
          <a:xfrm>
            <a:off x="3619500" y="1647825"/>
            <a:ext cx="742950" cy="5334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450" b="1" spc="-150">
                <a:solidFill>
                  <a:srgbClr val="3B82F6"/>
                </a:solidFill>
                <a:latin typeface="Source Han Sans SC"/>
                <a:ea typeface="Source Han Sans SC"/>
              </a:rPr>
              <a:t>01</a:t>
            </a:r>
            <a:endParaRPr lang="en-US" sz="3450" b="1" spc="-150">
              <a:solidFill>
                <a:srgbClr val="3B82F6"/>
              </a:solidFill>
              <a:latin typeface="Source Han Sans SC"/>
              <a:ea typeface="Source Han Sans SC"/>
            </a:endParaRPr>
          </a:p>
        </p:txBody>
      </p:sp>
      <p:sp>
        <p:nvSpPr>
          <p:cNvPr id="169" name="文本框 168" descr="{&quot;isTemplate&quot;:true,&quot;type&quot;:&quot;text&quot;}"/>
          <p:cNvSpPr txBox="1"/>
          <p:nvPr/>
        </p:nvSpPr>
        <p:spPr>
          <a:xfrm>
            <a:off x="4591050" y="1600200"/>
            <a:ext cx="5762625" cy="2762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0F172A"/>
                </a:solidFill>
                <a:latin typeface="Source Han Sans SC"/>
                <a:ea typeface="Source Han Sans SC"/>
              </a:rPr>
              <a:t>项目概况</a:t>
            </a:r>
            <a:endParaRPr lang="zh-CN" sz="1800" b="1">
              <a:solidFill>
                <a:srgbClr val="0F172A"/>
              </a:solidFill>
              <a:latin typeface="Source Han Sans SC"/>
              <a:ea typeface="Source Han Sans SC"/>
            </a:endParaRPr>
          </a:p>
        </p:txBody>
      </p:sp>
      <p:sp>
        <p:nvSpPr>
          <p:cNvPr id="170" name="文本框 169" descr="{&quot;isTemplate&quot;:true,&quot;type&quot;:&quot;text&quot;}"/>
          <p:cNvSpPr txBox="1"/>
          <p:nvPr/>
        </p:nvSpPr>
        <p:spPr>
          <a:xfrm>
            <a:off x="4591050" y="1933575"/>
            <a:ext cx="5762625" cy="2952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125">
                <a:solidFill>
                  <a:srgbClr val="64748B"/>
                </a:solidFill>
                <a:latin typeface="Source Han Sans SC"/>
                <a:ea typeface="Source Han Sans SC"/>
              </a:rPr>
              <a:t>一句话定位、五步核心闭环、六大功能模块与工程规模</a:t>
            </a:r>
            <a:endParaRPr lang="zh-CN" sz="1125">
              <a:solidFill>
                <a:srgbClr val="64748B"/>
              </a:solidFill>
              <a:latin typeface="Source Han Sans SC"/>
              <a:ea typeface="Source Han Sans SC"/>
            </a:endParaRPr>
          </a:p>
        </p:txBody>
      </p:sp>
      <p:sp>
        <p:nvSpPr>
          <p:cNvPr id="171" name="文本框 170" descr="{&quot;isTemplate&quot;:true,&quot;type&quot;:&quot;text&quot;}"/>
          <p:cNvSpPr txBox="1"/>
          <p:nvPr/>
        </p:nvSpPr>
        <p:spPr>
          <a:xfrm>
            <a:off x="10582275" y="1828800"/>
            <a:ext cx="752475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94A3B8"/>
                </a:solidFill>
                <a:latin typeface="Source Han Sans SC"/>
                <a:ea typeface="Source Han Sans SC"/>
              </a:rPr>
              <a:t>P03 — P05</a:t>
            </a:r>
            <a:endParaRPr lang="en-US" sz="1125">
              <a:solidFill>
                <a:srgbClr val="94A3B8"/>
              </a:solidFill>
              <a:latin typeface="Source Han Sans SC"/>
              <a:ea typeface="Source Han Sans SC"/>
            </a:endParaRPr>
          </a:p>
        </p:txBody>
      </p:sp>
      <p:sp>
        <p:nvSpPr>
          <p:cNvPr id="172" name="圆角矩形 171"/>
          <p:cNvSpPr/>
          <p:nvPr/>
        </p:nvSpPr>
        <p:spPr>
          <a:xfrm>
            <a:off x="3371850" y="2847975"/>
            <a:ext cx="8210550" cy="1543050"/>
          </a:xfrm>
          <a:prstGeom prst="roundRect">
            <a:avLst>
              <a:gd name="adj" fmla="val 864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90500" dist="38100" dir="540000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73" name="文本框 172" descr="{&quot;isTemplate&quot;:true,&quot;type&quot;:&quot;text&quot;}"/>
          <p:cNvSpPr txBox="1"/>
          <p:nvPr/>
        </p:nvSpPr>
        <p:spPr>
          <a:xfrm>
            <a:off x="3619500" y="3352800"/>
            <a:ext cx="742950" cy="5334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450" b="1" spc="-150">
                <a:solidFill>
                  <a:srgbClr val="3B82F6"/>
                </a:solidFill>
                <a:latin typeface="Source Han Sans SC"/>
                <a:ea typeface="Source Han Sans SC"/>
              </a:rPr>
              <a:t>02</a:t>
            </a:r>
            <a:endParaRPr lang="en-US" sz="3450" b="1" spc="-150">
              <a:solidFill>
                <a:srgbClr val="3B82F6"/>
              </a:solidFill>
              <a:latin typeface="Source Han Sans SC"/>
              <a:ea typeface="Source Han Sans SC"/>
            </a:endParaRPr>
          </a:p>
        </p:txBody>
      </p:sp>
      <p:sp>
        <p:nvSpPr>
          <p:cNvPr id="174" name="文本框 173" descr="{&quot;isTemplate&quot;:true,&quot;type&quot;:&quot;text&quot;}"/>
          <p:cNvSpPr txBox="1"/>
          <p:nvPr/>
        </p:nvSpPr>
        <p:spPr>
          <a:xfrm>
            <a:off x="4591050" y="3305175"/>
            <a:ext cx="5762625" cy="2762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0F172A"/>
                </a:solidFill>
                <a:latin typeface="Source Han Sans SC"/>
                <a:ea typeface="Source Han Sans SC"/>
              </a:rPr>
              <a:t>技术方案</a:t>
            </a:r>
            <a:endParaRPr lang="zh-CN" sz="1800" b="1">
              <a:solidFill>
                <a:srgbClr val="0F172A"/>
              </a:solidFill>
              <a:latin typeface="Source Han Sans SC"/>
              <a:ea typeface="Source Han Sans SC"/>
            </a:endParaRPr>
          </a:p>
        </p:txBody>
      </p:sp>
      <p:sp>
        <p:nvSpPr>
          <p:cNvPr id="175" name="文本框 174" descr="{&quot;isTemplate&quot;:true,&quot;type&quot;:&quot;text&quot;}"/>
          <p:cNvSpPr txBox="1"/>
          <p:nvPr/>
        </p:nvSpPr>
        <p:spPr>
          <a:xfrm>
            <a:off x="4591050" y="3638550"/>
            <a:ext cx="5762625" cy="2952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125">
                <a:solidFill>
                  <a:srgbClr val="64748B"/>
                </a:solidFill>
                <a:latin typeface="Source Han Sans SC"/>
                <a:ea typeface="Source Han Sans SC"/>
              </a:rPr>
              <a:t>五层系统架构、热点采集三层模型、推荐流与采纳漏斗</a:t>
            </a:r>
            <a:endParaRPr lang="zh-CN" sz="1125">
              <a:solidFill>
                <a:srgbClr val="64748B"/>
              </a:solidFill>
              <a:latin typeface="Source Han Sans SC"/>
              <a:ea typeface="Source Han Sans SC"/>
            </a:endParaRPr>
          </a:p>
        </p:txBody>
      </p:sp>
      <p:sp>
        <p:nvSpPr>
          <p:cNvPr id="176" name="文本框 175" descr="{&quot;isTemplate&quot;:true,&quot;type&quot;:&quot;text&quot;}"/>
          <p:cNvSpPr txBox="1"/>
          <p:nvPr/>
        </p:nvSpPr>
        <p:spPr>
          <a:xfrm>
            <a:off x="10582275" y="3533775"/>
            <a:ext cx="752475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94A3B8"/>
                </a:solidFill>
                <a:latin typeface="Source Han Sans SC"/>
                <a:ea typeface="Source Han Sans SC"/>
              </a:rPr>
              <a:t>P06 — P09</a:t>
            </a:r>
            <a:endParaRPr lang="en-US" sz="1125">
              <a:solidFill>
                <a:srgbClr val="94A3B8"/>
              </a:solidFill>
              <a:latin typeface="Source Han Sans SC"/>
              <a:ea typeface="Source Han Sans SC"/>
            </a:endParaRPr>
          </a:p>
        </p:txBody>
      </p:sp>
      <p:sp>
        <p:nvSpPr>
          <p:cNvPr id="177" name="圆角矩形 176"/>
          <p:cNvSpPr/>
          <p:nvPr/>
        </p:nvSpPr>
        <p:spPr>
          <a:xfrm>
            <a:off x="3371850" y="4562475"/>
            <a:ext cx="8210550" cy="1533525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90500" dist="38100" dir="540000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78" name="文本框 177" descr="{&quot;isTemplate&quot;:true,&quot;type&quot;:&quot;text&quot;}"/>
          <p:cNvSpPr txBox="1"/>
          <p:nvPr/>
        </p:nvSpPr>
        <p:spPr>
          <a:xfrm>
            <a:off x="3619500" y="5067300"/>
            <a:ext cx="742950" cy="5334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450" b="1" spc="-150">
                <a:solidFill>
                  <a:srgbClr val="3B82F6"/>
                </a:solidFill>
                <a:latin typeface="Source Han Sans SC"/>
                <a:ea typeface="Source Han Sans SC"/>
              </a:rPr>
              <a:t>03</a:t>
            </a:r>
            <a:endParaRPr lang="en-US" sz="3450" b="1" spc="-150">
              <a:solidFill>
                <a:srgbClr val="3B82F6"/>
              </a:solidFill>
              <a:latin typeface="Source Han Sans SC"/>
              <a:ea typeface="Source Han Sans SC"/>
            </a:endParaRPr>
          </a:p>
        </p:txBody>
      </p:sp>
      <p:sp>
        <p:nvSpPr>
          <p:cNvPr id="179" name="文本框 178" descr="{&quot;isTemplate&quot;:true,&quot;type&quot;:&quot;text&quot;}"/>
          <p:cNvSpPr txBox="1"/>
          <p:nvPr/>
        </p:nvSpPr>
        <p:spPr>
          <a:xfrm>
            <a:off x="4591050" y="5019675"/>
            <a:ext cx="5762625" cy="2762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0F172A"/>
                </a:solidFill>
                <a:latin typeface="Source Han Sans SC"/>
                <a:ea typeface="Source Han Sans SC"/>
              </a:rPr>
              <a:t>实现与验证</a:t>
            </a:r>
            <a:endParaRPr lang="zh-CN" sz="1800" b="1">
              <a:solidFill>
                <a:srgbClr val="0F172A"/>
              </a:solidFill>
              <a:latin typeface="Source Han Sans SC"/>
              <a:ea typeface="Source Han Sans SC"/>
            </a:endParaRPr>
          </a:p>
        </p:txBody>
      </p:sp>
      <p:sp>
        <p:nvSpPr>
          <p:cNvPr id="180" name="文本框 179" descr="{&quot;isTemplate&quot;:true,&quot;type&quot;:&quot;text&quot;}"/>
          <p:cNvSpPr txBox="1"/>
          <p:nvPr/>
        </p:nvSpPr>
        <p:spPr>
          <a:xfrm>
            <a:off x="4591050" y="5353050"/>
            <a:ext cx="5762625" cy="2952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125">
                <a:solidFill>
                  <a:srgbClr val="64748B"/>
                </a:solidFill>
                <a:latin typeface="Source Han Sans SC"/>
                <a:ea typeface="Source Han Sans SC"/>
              </a:rPr>
              <a:t>六个阶段里程碑、四项指标达标、五个真实难点与下一步</a:t>
            </a:r>
            <a:endParaRPr lang="zh-CN" sz="1125">
              <a:solidFill>
                <a:srgbClr val="64748B"/>
              </a:solidFill>
              <a:latin typeface="Source Han Sans SC"/>
              <a:ea typeface="Source Han Sans SC"/>
            </a:endParaRPr>
          </a:p>
        </p:txBody>
      </p:sp>
      <p:sp>
        <p:nvSpPr>
          <p:cNvPr id="181" name="文本框 180" descr="{&quot;isTemplate&quot;:true,&quot;type&quot;:&quot;text&quot;}"/>
          <p:cNvSpPr txBox="1"/>
          <p:nvPr/>
        </p:nvSpPr>
        <p:spPr>
          <a:xfrm>
            <a:off x="10582275" y="5248275"/>
            <a:ext cx="752475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94A3B8"/>
                </a:solidFill>
                <a:latin typeface="Source Han Sans SC"/>
                <a:ea typeface="Source Han Sans SC"/>
              </a:rPr>
              <a:t>P10 — P13</a:t>
            </a:r>
            <a:endParaRPr lang="en-US" sz="1125">
              <a:solidFill>
                <a:srgbClr val="94A3B8"/>
              </a:solidFill>
              <a:latin typeface="Source Han Sans SC"/>
              <a:ea typeface="Source Han Sans SC"/>
            </a:endParaRPr>
          </a:p>
        </p:txBody>
      </p:sp>
      <p:sp>
        <p:nvSpPr>
          <p:cNvPr id="182" name="圆角矩形 181"/>
          <p:cNvSpPr/>
          <p:nvPr/>
        </p:nvSpPr>
        <p:spPr>
          <a:xfrm>
            <a:off x="609600" y="6343650"/>
            <a:ext cx="95250" cy="95250"/>
          </a:xfrm>
          <a:prstGeom prst="roundRect">
            <a:avLst>
              <a:gd name="adj" fmla="val 20000"/>
            </a:avLst>
          </a:prstGeom>
          <a:gradFill>
            <a:gsLst>
              <a:gs pos="0">
                <a:srgbClr val="3B82F6"/>
              </a:gs>
              <a:gs pos="100000">
                <a:srgbClr val="06B6D4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183" name="文本框 182" descr="{&quot;isTemplate&quot;:true,&quot;type&quot;:&quot;text&quot;}"/>
          <p:cNvSpPr txBox="1"/>
          <p:nvPr/>
        </p:nvSpPr>
        <p:spPr>
          <a:xfrm>
            <a:off x="781050" y="6305550"/>
            <a:ext cx="20193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94A3B8"/>
                </a:solidFill>
                <a:latin typeface="Source Han Sans SC"/>
                <a:ea typeface="Source Han Sans SC"/>
              </a:rPr>
              <a:t>AI </a:t>
            </a:r>
            <a:r>
              <a:rPr lang="zh-CN" sz="1050">
                <a:solidFill>
                  <a:srgbClr val="94A3B8"/>
                </a:solidFill>
                <a:latin typeface="Source Han Sans SC"/>
                <a:ea typeface="Source Han Sans SC"/>
              </a:rPr>
              <a:t>自媒体内容创作助手</a:t>
            </a:r>
            <a:r>
              <a:rPr lang="en-US" sz="1050">
                <a:solidFill>
                  <a:srgbClr val="94A3B8"/>
                </a:solidFill>
                <a:latin typeface="Source Han Sans SC"/>
                <a:ea typeface="Source Han Sans SC"/>
              </a:rPr>
              <a:t> · </a:t>
            </a:r>
            <a:r>
              <a:rPr lang="zh-CN" sz="1050">
                <a:solidFill>
                  <a:srgbClr val="94A3B8"/>
                </a:solidFill>
                <a:latin typeface="Source Han Sans SC"/>
                <a:ea typeface="Source Han Sans SC"/>
              </a:rPr>
              <a:t>项目汇报</a:t>
            </a:r>
            <a:endParaRPr lang="zh-CN" sz="1050">
              <a:solidFill>
                <a:srgbClr val="94A3B8"/>
              </a:solidFill>
              <a:latin typeface="Source Han Sans SC"/>
              <a:ea typeface="Source Han Sans SC"/>
            </a:endParaRPr>
          </a:p>
        </p:txBody>
      </p:sp>
      <p:sp>
        <p:nvSpPr>
          <p:cNvPr id="184" name="文本框 183" descr="{&quot;isTemplate&quot;:true,&quot;type&quot;:&quot;text&quot;}"/>
          <p:cNvSpPr txBox="1"/>
          <p:nvPr/>
        </p:nvSpPr>
        <p:spPr>
          <a:xfrm>
            <a:off x="11125200" y="6305550"/>
            <a:ext cx="4572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94A3B8"/>
                </a:solidFill>
                <a:latin typeface="Source Han Sans SC"/>
                <a:ea typeface="Source Han Sans SC"/>
              </a:rPr>
              <a:t>02 / 14</a:t>
            </a:r>
            <a:endParaRPr lang="en-US" sz="1050">
              <a:solidFill>
                <a:srgbClr val="94A3B8"/>
              </a:solidFill>
              <a:latin typeface="Source Han Sans SC"/>
              <a:ea typeface="Source Han Sans SC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85" name="" descr="&lt;Slide style={{ width: 1280, height: 720, padding: '0 84px', fontFamily: '&quot;Source Han Sans SC&quot;, &quot;Noto Sans SC&quot;, &quot;PingFang SC&quot;, &quot;Microsoft YaHei&quot;, sans-serif', position: 'relative', overflow: 'hidden', background: '#0F172A' }}&gt;&#10;  &lt;Image src=&quot;assets/section_visual.png&quot; style={{ position: 'absolute', top: 0, left: 0, width: 1280, height: 720, objectFit: 'cover' }} /&gt;&#10;  &lt;Box style={{ position: 'absolute', top: 0, left: 0, width: 1280, height: 720, background: 'linear-gradient(95deg, rgba(15,23,42,0.93) 0%, rgba(15,23,42,0.62) 52%, rgba(15,23,42,0.30) 100%)' }} /&gt;&#10;&#10;  &lt;Box style={{ position: 'relative', height: 720, justifyContent: 'center' }}&gt;&#10;    &lt;Box style={{ flexDirection: 'row', alignItems: 'center', gap: 10 }}&gt;&#10;      &lt;Box style={{ width: 8, height: 8, borderRadius: 4, background: '#06B6D4' }} /&gt;&#10;      &lt;Text style={{ fontSize: 15, color: '#67E8F9', letterSpacing: 5 }}&gt;CHAPTER ONE&lt;/Text&gt;&#10;    &lt;/Box&gt;&#10;&#10;    &lt;Box style={{ flexDirection: 'row', alignItems: 'flex-end', gap: 34, marginTop: 10 }}&gt;&#10;      &lt;Text style={{ fontSize: 190, fontWeight: 'bold', lineHeight: 0.92, letterSpacing: -8, backgroundImage: 'linear-gradient(135deg, #60A5FA 0%, #22D3EE 100%)', backgroundClip: 'text', color: 'transparent' }}&gt;&#10;        01&#10;      &lt;/Text&gt;&#10;      &lt;Box style={{ paddingBottom: 26 }}&gt;&#10;        &lt;Text style={{ fontSize: 62, fontWeight: 'bold', color: '#FFFFFF', lineHeight: 1.15 }}&gt;项目概况&lt;/Text&gt;&#10;        &lt;Box style={{ width: 56, height: 3, background: '#06B6D4', borderRadius: 2, marginTop: 16 }} /&gt;&#10;      &lt;/Box&gt;&#10;    &lt;/Box&gt;&#10;&#10;    &lt;Text style={{ fontSize: 19, color: '#CBD5E1', marginTop: 30, lineHeight: 1.8, width: 720 }}&gt;&#10;      先回答三个问题：为谁解决什么、闭环怎么串起来、现在已经做到多大规模。&#10;    &lt;/Text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矩形 185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</p:spPr>
        <p:txBody>
          <a:bodyPr/>
          <a:p/>
        </p:txBody>
      </p:sp>
      <p:pic>
        <p:nvPicPr>
          <p:cNvPr id="187" name="图片 186"/>
          <p:cNvPicPr>
            <a:picLocks noChangeAspect="1"/>
          </p:cNvPicPr>
          <p:nvPr/>
        </p:nvPicPr>
        <p:blipFill>
          <a:blip r:embed="rId1"/>
          <a:srcRect t="7812" b="781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88" name="矩形 187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F172A">
                  <a:alpha val="93000"/>
                </a:srgbClr>
              </a:gs>
              <a:gs pos="52000">
                <a:srgbClr val="0F172A">
                  <a:alpha val="62000"/>
                </a:srgbClr>
              </a:gs>
              <a:gs pos="100000">
                <a:srgbClr val="0F172A">
                  <a:alpha val="30000"/>
                </a:srgbClr>
              </a:gs>
            </a:gsLst>
            <a:lin ang="300000" scaled="1"/>
          </a:gradFill>
        </p:spPr>
        <p:txBody>
          <a:bodyPr/>
          <a:p/>
        </p:txBody>
      </p:sp>
      <p:sp>
        <p:nvSpPr>
          <p:cNvPr id="189" name="圆角矩形 188"/>
          <p:cNvSpPr/>
          <p:nvPr/>
        </p:nvSpPr>
        <p:spPr>
          <a:xfrm>
            <a:off x="800100" y="20002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06B6D4"/>
          </a:solidFill>
        </p:spPr>
        <p:txBody>
          <a:bodyPr/>
          <a:p/>
        </p:txBody>
      </p:sp>
      <p:sp>
        <p:nvSpPr>
          <p:cNvPr id="190" name="文本框 189" descr="{&quot;isTemplate&quot;:true,&quot;type&quot;:&quot;text&quot;}"/>
          <p:cNvSpPr txBox="1"/>
          <p:nvPr/>
        </p:nvSpPr>
        <p:spPr>
          <a:xfrm>
            <a:off x="971550" y="1952625"/>
            <a:ext cx="1533525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375">
                <a:solidFill>
                  <a:srgbClr val="67E8F9"/>
                </a:solidFill>
                <a:latin typeface="Source Han Sans SC"/>
                <a:ea typeface="Source Han Sans SC"/>
              </a:rPr>
              <a:t>CHAPTER ONE</a:t>
            </a:r>
            <a:endParaRPr lang="en-US" sz="1125" spc="375">
              <a:solidFill>
                <a:srgbClr val="67E8F9"/>
              </a:solidFill>
              <a:latin typeface="Source Han Sans SC"/>
              <a:ea typeface="Source Han Sans SC"/>
            </a:endParaRPr>
          </a:p>
        </p:txBody>
      </p:sp>
      <p:sp>
        <p:nvSpPr>
          <p:cNvPr id="191" name="文本框 190" descr="{&quot;isTemplate&quot;:true,&quot;type&quot;:&quot;text&quot;}"/>
          <p:cNvSpPr txBox="1"/>
          <p:nvPr/>
        </p:nvSpPr>
        <p:spPr>
          <a:xfrm>
            <a:off x="800100" y="2219325"/>
            <a:ext cx="2085975" cy="20002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92000"/>
              </a:lnSpc>
            </a:pPr>
            <a:r>
              <a:rPr lang="en-US" sz="14250" b="1" spc="-600">
                <a:gradFill>
                  <a:gsLst>
                    <a:gs pos="0">
                      <a:srgbClr val="60A5FA"/>
                    </a:gs>
                    <a:gs pos="100000">
                      <a:srgbClr val="22D3EE"/>
                    </a:gs>
                  </a:gsLst>
                  <a:lin ang="2700000" scaled="1"/>
                </a:gradFill>
                <a:latin typeface="Source Han Sans SC"/>
                <a:ea typeface="Source Han Sans SC"/>
              </a:rPr>
              <a:t>01</a:t>
            </a:r>
            <a:endParaRPr lang="en-US" sz="14250" b="1" spc="-600">
              <a:gradFill>
                <a:gsLst>
                  <a:gs pos="0">
                    <a:srgbClr val="60A5FA"/>
                  </a:gs>
                  <a:gs pos="100000">
                    <a:srgbClr val="22D3EE"/>
                  </a:gs>
                </a:gsLst>
                <a:lin ang="2700000" scaled="1"/>
              </a:gradFill>
              <a:latin typeface="Source Han Sans SC"/>
              <a:ea typeface="Source Han Sans SC"/>
            </a:endParaRPr>
          </a:p>
        </p:txBody>
      </p:sp>
      <p:sp>
        <p:nvSpPr>
          <p:cNvPr id="192" name="文本框 191" descr="{&quot;isTemplate&quot;:true,&quot;type&quot;:&quot;text&quot;}"/>
          <p:cNvSpPr txBox="1"/>
          <p:nvPr/>
        </p:nvSpPr>
        <p:spPr>
          <a:xfrm>
            <a:off x="3209925" y="2971800"/>
            <a:ext cx="2362200" cy="8191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15000"/>
              </a:lnSpc>
            </a:pPr>
            <a:r>
              <a:rPr lang="zh-CN" sz="4650" b="1">
                <a:solidFill>
                  <a:srgbClr val="FFFFFF"/>
                </a:solidFill>
                <a:latin typeface="Source Han Sans SC"/>
                <a:ea typeface="Source Han Sans SC"/>
              </a:rPr>
              <a:t>项目概况</a:t>
            </a:r>
            <a:endParaRPr lang="zh-CN" sz="4650" b="1">
              <a:solidFill>
                <a:srgbClr val="FFFFFF"/>
              </a:solidFill>
              <a:latin typeface="Source Han Sans SC"/>
              <a:ea typeface="Source Han Sans SC"/>
            </a:endParaRPr>
          </a:p>
        </p:txBody>
      </p:sp>
      <p:sp>
        <p:nvSpPr>
          <p:cNvPr id="193" name="圆角矩形 192"/>
          <p:cNvSpPr/>
          <p:nvPr/>
        </p:nvSpPr>
        <p:spPr>
          <a:xfrm>
            <a:off x="3209925" y="3943350"/>
            <a:ext cx="533400" cy="28575"/>
          </a:xfrm>
          <a:prstGeom prst="roundRect">
            <a:avLst>
              <a:gd name="adj" fmla="val 66667"/>
            </a:avLst>
          </a:prstGeom>
          <a:solidFill>
            <a:srgbClr val="06B6D4"/>
          </a:solidFill>
        </p:spPr>
        <p:txBody>
          <a:bodyPr/>
          <a:p/>
        </p:txBody>
      </p:sp>
      <p:sp>
        <p:nvSpPr>
          <p:cNvPr id="194" name="文本框 193" descr="{&quot;isTemplate&quot;:true,&quot;type&quot;:&quot;text&quot;}"/>
          <p:cNvSpPr txBox="1"/>
          <p:nvPr/>
        </p:nvSpPr>
        <p:spPr>
          <a:xfrm>
            <a:off x="800100" y="4505325"/>
            <a:ext cx="6858000" cy="4000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zh-CN" sz="1425">
                <a:solidFill>
                  <a:srgbClr val="CBD5E1"/>
                </a:solidFill>
                <a:latin typeface="Source Han Sans SC"/>
                <a:ea typeface="Source Han Sans SC"/>
              </a:rPr>
              <a:t>先回答三个问题：为谁解决什么、闭环怎么串起来、现在已经做到多大规模。</a:t>
            </a:r>
            <a:endParaRPr lang="zh-CN" sz="1425">
              <a:solidFill>
                <a:srgbClr val="CBD5E1"/>
              </a:solidFill>
              <a:latin typeface="Source Han Sans SC"/>
              <a:ea typeface="Source Han Sans SC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95" name="" descr="&lt;Slide style={{ width: 1280, height: 720, padding: '20px 64px', fontFamily: '&quot;Source Han Sans SC&quot;, &quot;Noto Sans SC&quot;, &quot;PingFang SC&quot;, &quot;Microsoft YaHei&quot;, sans-serif', background: '#F8FAFC' }}&gt;&#10;  &lt;Box style={{ height: 100, justifyContent: 'center' }}&gt;&#10;    &lt;Box style={{ flexDirection: 'row', alignItems: 'center', gap: 16 }}&gt;&#10;      &lt;Box style={{ width: 6, height: 34, background: 'linear-gradient(135deg, #3B82F6 0%, #06B6D4 100%)', borderRadius: 3 }} /&gt;&#10;      &lt;Box&gt;&#10;        &lt;Text style={{ fontSize: 34, fontWeight: 'bold', color: '#0F172A' }}&gt;定位与核心闭环&lt;/Text&gt;&#10;        &lt;Text style={{ fontSize: 18, color: '#64748B', marginTop: 4 }}&gt;把「找题 — 写稿 — 改稿 — 发布」压缩进同一条链路&lt;/Text&gt;&#10;      &lt;/Box&gt;&#10;    &lt;/Box&gt;&#10;  &lt;/Box&gt;&#10;&#10;  &lt;Box style={{ flexDirection: 'row', gap: 26, height: 520 }}&gt;&#10;    &lt;Box style={{ width: 386, flexDirection: 'column', gap: 16 }}&gt;&#10;      &lt;Text style={{ fontSize: 17, color: '#334155', lineHeight: 1.75 }}&gt;&#10;        面向微信公众号 / 小红书 / 抖音的一站式 AI 内容生产工作台。素材库与真实热榜打底，选题、生成、适配、导出逐环相扣，创作者不必在多个工具之间反复搬运上下文。&#10;      &lt;/Text&gt;&#10;      &lt;Box style={{ flexDirection: 'row', gap: 10 }}&gt;&#10;        &lt;Box style={{ flex: 1, background: '#FFFFFF', border: '1px solid #E2E8F0', borderRadius: 12, padding: '12px 8px', alignItems: 'center' }}&gt;&#10;          &lt;Text style={{ fontSize: 28, fontWeight: 'bold', color: '#3B82F6' }}&gt;3&lt;/Text&gt;&#10;          &lt;Text style={{ fontSize: 13, color: '#64748B', marginTop: 2 }}&gt;目标平台&lt;/Text&gt;&#10;        &lt;/Box&gt;&#10;        &lt;Box style={{ flex: 1, background: '#FFFFFF', border: '1px solid #E2E8F0', borderRadius: 12, padding: '12px 8px', alignItems: 'center' }}&gt;&#10;          &lt;Text style={{ fontSize: 28, fontWeight: 'bold', color: '#3B82F6' }}&gt;5&lt;/Text&gt;&#10;          &lt;Text style={{ fontSize: 13, color: '#64748B', marginTop: 2 }}&gt;内容领域&lt;/Text&gt;&#10;        &lt;/Box&gt;&#10;        &lt;Box style={{ flex: 1, background: '#FFFFFF', border: '1px solid #E2E8F0', borderRadius: 12, padding: '12px 8px', alignItems: 'center' }}&gt;&#10;          &lt;Text style={{ fontSize: 28, fontWeight: 'bold', color: '#3B82F6' }}&gt;3&lt;/Text&gt;&#10;          &lt;Text style={{ fontSize: 13, color: '#64748B', marginTop: 2 }}&gt;创作风格&lt;/Text&gt;&#10;        &lt;/Box&gt;&#10;      &lt;/Box&gt;&#10;      &lt;Box style={{ background: 'rgba(59,130,246,0.07)', border: '1px solid rgba(59,130,246,0.22)', borderRadius: 12, padding: '13px 16px' }}&gt;&#10;        &lt;Text style={{ fontSize: 14, color: '#334155', lineHeight: 1.7 }}&gt;&#10;          环节之间靠 FlowContext 传递上下文：热点带着领域与建议角度进入选题，选题带着素材进入生成。&#10;        &lt;/Text&gt;&#10;      &lt;/Box&gt;&#10;      &lt;Box style={{ background: '#0F172A', borderRadius: 12, padding: '16px 18px', marginTop: 'auto' }}&gt;&#10;        &lt;Text style={{ fontSize: 15, color: '#E2E8F0', lineHeight: 1.7 }}&gt;&#10;          闭环即差异点：单点工具只解决一环，我们交付的是一条可演示、可度量的完整流水线。&#10;        &lt;/Text&gt;&#10;      &lt;/Box&gt;&#10;    &lt;/Box&gt;&#10;&#10;    &lt;Box style={{ flex: 1, background: '#FFFFFF', border: '1px solid #E2E8F0', borderRadius: 16, padding: '22px 20px 18px', boxShadow: '0 4px 20px rgba(15,23,42,0.06)' }}&gt;&#10;      &lt;Text style={{ fontSize: 18, fontWeight: 'bold', color: '#0F172A' }}&gt;核心闭环（计划书 T4.4 验收项）&lt;/Text&gt;&#10;      &lt;Text style={{ fontSize: 13, color: '#64748B', marginTop: 4 }}&gt;六页工作台串起五个环节，全程不切换工具&lt;/Text&gt;&#10;      &lt;svg width=&quot;700&quot; height=&quot;392&quot; viewBox=&quot;0 0 700 392&quot;&gt;&#10;        &lt;defs&gt;&#10;          &lt;linearGradient id=&quot;gB&quot; x1=&quot;0&quot; y1=&quot;0&quot; x2=&quot;1&quot; y2=&quot;1&quot;&gt;&#10;            &lt;stop offset=&quot;0%&quot; stopColor=&quot;#3B82F6&quot; /&gt;&#10;            &lt;stop offset=&quot;100%&quot; stopColor=&quot;#06B6D4&quot; /&gt;&#10;          &lt;/linearGradient&gt;&#10;          &lt;marker id=&quot;arB&quot; markerWidth=&quot;8&quot; markerHeight=&quot;8&quot; refX=&quot;6&quot; refY=&quot;4&quot; orient=&quot;auto&quot;&gt;&#10;            &lt;path d=&quot;M0 0 L8 4 L0 8 z&quot; fill=&quot;#3B82F6&quot; /&gt;&#10;          &lt;/marker&gt;&#10;        &lt;/defs&gt;&#10;&#10;        &lt;g&gt;&#10;          &lt;rect x=&quot;6&quot; y=&quot;46&quot; width=&quot;124&quot; height=&quot;124&quot; rx=&quot;14&quot; fill=&quot;#F8FAFC&quot; stroke=&quot;#E2E8F0&quot; strokeWidth=&quot;1.5&quot; /&gt;&#10;          &lt;circle cx=&quot;68&quot; cy=&quot;78&quot; r=&quot;16&quot; fill=&quot;url(#gB)&quot; /&gt;&#10;          &lt;text x=&quot;68&quot; y=&quot;84&quot; textAnchor=&quot;middle&quot; fontSize=&quot;15&quot; fontWeight=&quot;bold&quot; fill=&quot;#FFFFFF&quot;&gt;1&lt;/text&gt;&#10;          &lt;text x=&quot;68&quot; y=&quot;118&quot; textAnchor=&quot;middle&quot; fontSize=&quot;17&quot; fontWeight=&quot;bold&quot; fill=&quot;#0F172A&quot;&gt;热点看板&lt;/text&gt;&#10;          &lt;text x=&quot;68&quot; y=&quot;142&quot; textAnchor=&quot;middle&quot; fontSize=&quot;11.5&quot; fill=&quot;#64748B&quot;&gt;六源真实采集&lt;/text&gt;&#10;        &lt;/g&gt;&#10;        &lt;g&gt;&#10;          &lt;rect x=&quot;150&quot; y=&quot;46&quot; width=&quot;124&quot; height=&quot;124&quot; rx=&quot;14&quot; fill=&quot;#F8FAFC&quot; stroke=&quot;#E2E8F0&quot; strokeWidth=&quot;1.5&quot; /&gt;&#10;          &lt;circle cx=&quot;212&quot; cy=&quot;78&quot; r=&quot;16&quot; fill=&quot;url(#gB)&quot; /&gt;&#10;          &lt;text x=&quot;212&quot; y=&quot;84&quot; textAnchor=&quot;middle&quot; fontSize=&quot;15&quot; fontWeight=&quot;bold&quot; fill=&quot;#FFFFFF&quot;&gt;2&lt;/text&gt;&#10;          &lt;text x=&quot;212&quot; y=&quot;118&quot; textAnchor=&quot;middle&quot; fontSize=&quot;17&quot; fontWeight=&quot;bold&quot; fill=&quot;#0F172A&quot;&gt;选题列表&lt;/text&gt;&#10;          &lt;text x=&quot;212&quot; y=&quot;142&quot; textAnchor=&quot;middle&quot; fontSize=&quot;11.5&quot; fill=&quot;#64748B&quot;&gt;热点一键直传&lt;/text&gt;&#10;        &lt;/g&gt;&#10;        &lt;g&gt;&#10;          &lt;rect x=&quot;294&quot; y=&quot;46&quot; width=&quot;124&quot; height=&quot;124&quot; rx=&quot;14&quot; fill=&quot;#F8FAFC&quot; stroke=&quot;#E2E8F0&quot; strokeWidth=&quot;1.5&quot; /&gt;&#10;          &lt;circle cx=&quot;356&quot; cy=&quot;78&quot; r=&quot;16&quot; fill=&quot;url(#gB)&quot; /&gt;&#10;          &lt;text x=&quot;356&quot; y=&quot;84&quot; textAnchor=&quot;middle&quot; fontSize=&quot;15&quot; fontWeight=&quot;bold&quot; fill=&quot;#FFFFFF&quot;&gt;3&lt;/text&gt;&#10;          &lt;text x=&quot;356&quot; y=&quot;118&quot; textAnchor=&quot;middle&quot; fontSize=&quot;17&quot; fontWeight=&quot;bold&quot; fill=&quot;#0F172A&quot;&gt;文案生成&lt;/text&gt;&#10;          &lt;text x=&quot;356&quot; y=&quot;142&quot; textAnchor=&quot;middle&quot; fontSize=&quot;11.5&quot; fill=&quot;#64748B&quot;&gt;RAG · ≥3 版本&lt;/text&gt;&#10;        &lt;/g&gt;&#10;        &lt;g&gt;&#10;          &lt;rect x=&quot;438&quot; y=&quot;46&quot; width=&quot;124&quot; height=&quot;124&quot; rx=&quot;14&quot; fill=&quot;#F8FAFC&quot; stroke=&quot;#E2E8F0&quot; strokeWidth=&quot;1.5&quot; /&gt;&#10;          &lt;circle cx=&quot;500&quot; cy=&quot;78&quot; r=&quot;16&quot; fill=&quot;url(#gB)&quot; /&gt;&#10;          &lt;text x=&quot;500&quot; y=&quot;84&quot; textAnchor=&quot;middle&quot; fontSize=&quot;15&quot; fontWeight=&quot;bold&quot; fill=&quot;#FFFFFF&quot;&gt;4&lt;/text&gt;&#10;          &lt;text x=&quot;500&quot; y=&quot;118&quot; textAnchor=&quot;middle&quot; fontSize=&quot;17&quot; fontWeight=&quot;bold&quot; fill=&quot;#0F172A&quot;&gt;平台适配&lt;/text&gt;&#10;          &lt;text x=&quot;500&quot; y=&quot;142&quot; textAnchor=&quot;middle&quot; fontSize=&quot;11.5&quot; fill=&quot;#64748B&quot;&gt;规范硬约束&lt;/text&gt;&#10;        &lt;/g&gt;&#10;        &lt;g&gt;&#10;          &lt;rect x=&quot;572&quot; y=&quot;46&quot; width=&quot;116&quot; height=&quot;124&quot; rx=&quot;14&quot; fill=&quot;#0F172A&quot; stroke=&quot;#0F172A&quot; strokeWidth=&quot;1.5&quot; /&gt;&#10;          &lt;circle cx=&quot;630&quot; cy=&quot;78&quot; r=&quot;16&quot; fill=&quot;url(#gB)&quot; /&gt;&#10;          &lt;text x=&quot;630&quot; y=&quot;84&quot; textAnchor=&quot;middle&quot; fontSize=&quot;15&quot; fontWeight=&quot;bold&quot; fill=&quot;#FFFFFF&quot;&gt;5&lt;/text&gt;&#10;          &lt;text x=&quot;630&quot; y=&quot;118&quot; textAnchor=&quot;middle&quot; fontSize=&quot;17&quot; fontWeight=&quot;bold&quot; fill=&quot;#FFFFFF&quot;&gt;导出发布&lt;/text&gt;&#10;          &lt;text x=&quot;630&quot; y=&quot;142&quot; textAnchor=&quot;middle&quot; fontSize=&quot;11.5&quot; fill=&quot;#94A3B8&quot;&gt;txt / docx&lt;/text&gt;&#10;        &lt;/g&gt;&#10;&#10;        &lt;g stroke=&quot;#3B82F6&quot; strokeWidth=&quot;2&quot; fill=&quot;none&quot;&gt;&#10;          &lt;path d=&quot;M132 108 L146 108&quot; markerEnd=&quot;url(#arB)&quot; /&gt;&#10;          &lt;path d=&quot;M276 108 L290 108&quot; markerEnd=&quot;url(#arB)&quot; /&gt;&#10;          &lt;path d=&quot;M420 108 L434 108&quot; markerEnd=&quot;url(#arB)&quot; /&gt;&#10;          &lt;path d=&quot;M564 108 L568 108&quot; markerEnd=&quot;url(#arB)&quot; /&gt;&#10;        &lt;/g&gt;&#10;&#10;        &lt;path d=&quot;M630 172 C 630 226, 68 226, 68 174&quot; stroke=&quot;#06B6D4&quot; strokeWidth=&quot;1.5&quot; strokeDasharray=&quot;5 5&quot; fill=&quot;none&quot; /&gt;&#10;        &lt;text x=&quot;350&quot; y=&quot;248&quot; textAnchor=&quot;middle&quot; fontSize=&quot;12.5&quot; fill=&quot;#64748B&quot;&gt;导出与发布数据反哺下一轮选题（闭环持续运转）&lt;/text&gt;&#10;&#10;        &lt;rect x=&quot;6&quot; y=&quot;272&quot; width=&quot;682&quot; height=&quot;100&quot; rx=&quot;12&quot; fill=&quot;#F8FAFC&quot; stroke=&quot;#E2E8F0&quot; strokeWidth=&quot;1.2&quot; /&gt;&#10;        &lt;text x=&quot;26&quot; y=&quot;300&quot; fontSize=&quot;13&quot; fontWeight=&quot;bold&quot; fill=&quot;#0F172A&quot;&gt;闭环为什么能成立&lt;/text&gt;&#10;        &lt;text x=&quot;26&quot; y=&quot;324&quot; fontSize=&quot;12&quot; fill=&quot;#475569&quot;&gt;上游每个环节都为下游产出结构化输入：热点产出领域与建议角度，选题产出素材与检索线索，&lt;/text&gt;&#10;        &lt;text x=&quot;26&quot; y=&quot;344&quot; fontSize=&quot;12&quot; fill=&quot;#475569&quot;&gt;生成产出多版本候选，适配产出平台规范校验结果——没有一环是死胡同。&lt;/text&gt;&#10;        &lt;text x=&quot;26&quot; y=&quot;362&quot; fontSize=&quot;11.5&quot; fill=&quot;#94A3B8&quot;&gt;对应实现：前端六页工作台 + FlowContext 跨页流转 + 后端 19 个路由&lt;/text&gt;&#10;      &lt;/svg&gt;&#10;    &lt;/Box&gt;&#10;  &lt;/Box&gt;&#10;&#10;  &lt;Box style={{ height: 60, flexDirection: 'row', justifyContent: 'space-between', alignItems: 'center' }}&gt;&#10;    &lt;Box style={{ flexDirection: 'row', alignItems: 'center', gap: 8 }}&gt;&#10;      &lt;Box style={{ width: 10, height: 10, borderRadius: 2, background: 'linear-gradient(135deg, #3B82F6, #06B6D4)' }} /&gt;&#10;      &lt;Text style={{ fontSize: 14, color: '#94A3B8' }}&gt;AI 自媒体内容创作助手 · 项目汇报&lt;/Text&gt;&#10;    &lt;/Box&gt;&#10;    &lt;Text style={{ fontSize: 14, color: '#94A3B8' }}&gt;04 / 14&lt;/Text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矩形 195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</p:spPr>
        <p:txBody>
          <a:bodyPr/>
          <a:p/>
        </p:txBody>
      </p:sp>
      <p:sp>
        <p:nvSpPr>
          <p:cNvPr id="197" name="圆角矩形 196"/>
          <p:cNvSpPr/>
          <p:nvPr/>
        </p:nvSpPr>
        <p:spPr>
          <a:xfrm>
            <a:off x="609600" y="514350"/>
            <a:ext cx="57150" cy="32385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3B82F6"/>
              </a:gs>
              <a:gs pos="100000">
                <a:srgbClr val="06B6D4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198" name="文本框 197" descr="{&quot;isTemplate&quot;:true,&quot;type&quot;:&quot;text&quot;}"/>
          <p:cNvSpPr txBox="1"/>
          <p:nvPr/>
        </p:nvSpPr>
        <p:spPr>
          <a:xfrm>
            <a:off x="819150" y="352425"/>
            <a:ext cx="4124325" cy="3905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0F172A"/>
                </a:solidFill>
                <a:latin typeface="Source Han Sans SC"/>
                <a:ea typeface="Source Han Sans SC"/>
              </a:rPr>
              <a:t>定位与核心闭环</a:t>
            </a:r>
            <a:endParaRPr lang="zh-CN" sz="2550" b="1">
              <a:solidFill>
                <a:srgbClr val="0F172A"/>
              </a:solidFill>
              <a:latin typeface="Source Han Sans SC"/>
              <a:ea typeface="Source Han Sans SC"/>
            </a:endParaRPr>
          </a:p>
        </p:txBody>
      </p:sp>
      <p:sp>
        <p:nvSpPr>
          <p:cNvPr id="199" name="文本框 198" descr="{&quot;isTemplate&quot;:true,&quot;type&quot;:&quot;text&quot;}"/>
          <p:cNvSpPr txBox="1"/>
          <p:nvPr/>
        </p:nvSpPr>
        <p:spPr>
          <a:xfrm>
            <a:off x="819150" y="781050"/>
            <a:ext cx="4124325" cy="2095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64748B"/>
                </a:solidFill>
                <a:latin typeface="Source Han Sans SC"/>
                <a:ea typeface="Source Han Sans SC"/>
              </a:rPr>
              <a:t>把「找题</a:t>
            </a:r>
            <a:r>
              <a:rPr lang="en-US" sz="1350">
                <a:solidFill>
                  <a:srgbClr val="64748B"/>
                </a:solidFill>
                <a:latin typeface="Source Han Sans SC"/>
                <a:ea typeface="Source Han Sans SC"/>
              </a:rPr>
              <a:t> — </a:t>
            </a:r>
            <a:r>
              <a:rPr lang="zh-CN" sz="1350">
                <a:solidFill>
                  <a:srgbClr val="64748B"/>
                </a:solidFill>
                <a:latin typeface="Source Han Sans SC"/>
                <a:ea typeface="Source Han Sans SC"/>
              </a:rPr>
              <a:t>写稿</a:t>
            </a:r>
            <a:r>
              <a:rPr lang="en-US" sz="1350">
                <a:solidFill>
                  <a:srgbClr val="64748B"/>
                </a:solidFill>
                <a:latin typeface="Source Han Sans SC"/>
                <a:ea typeface="Source Han Sans SC"/>
              </a:rPr>
              <a:t> — </a:t>
            </a:r>
            <a:r>
              <a:rPr lang="zh-CN" sz="1350">
                <a:solidFill>
                  <a:srgbClr val="64748B"/>
                </a:solidFill>
                <a:latin typeface="Source Han Sans SC"/>
                <a:ea typeface="Source Han Sans SC"/>
              </a:rPr>
              <a:t>改稿</a:t>
            </a:r>
            <a:r>
              <a:rPr lang="en-US" sz="1350">
                <a:solidFill>
                  <a:srgbClr val="64748B"/>
                </a:solidFill>
                <a:latin typeface="Source Han Sans SC"/>
                <a:ea typeface="Source Han Sans SC"/>
              </a:rPr>
              <a:t> — </a:t>
            </a:r>
            <a:r>
              <a:rPr lang="zh-CN" sz="1350">
                <a:solidFill>
                  <a:srgbClr val="64748B"/>
                </a:solidFill>
                <a:latin typeface="Source Han Sans SC"/>
                <a:ea typeface="Source Han Sans SC"/>
              </a:rPr>
              <a:t>发布」压缩进同一条链路</a:t>
            </a:r>
            <a:endParaRPr lang="zh-CN" sz="1350">
              <a:solidFill>
                <a:srgbClr val="64748B"/>
              </a:solidFill>
              <a:latin typeface="Source Han Sans SC"/>
              <a:ea typeface="Source Han Sans SC"/>
            </a:endParaRPr>
          </a:p>
        </p:txBody>
      </p:sp>
      <p:sp>
        <p:nvSpPr>
          <p:cNvPr id="200" name="文本框 199" descr="{&quot;isTemplate&quot;:true,&quot;type&quot;:&quot;text&quot;}"/>
          <p:cNvSpPr txBox="1"/>
          <p:nvPr/>
        </p:nvSpPr>
        <p:spPr>
          <a:xfrm>
            <a:off x="609600" y="1143000"/>
            <a:ext cx="3676650" cy="1362075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75000"/>
              </a:lnSpc>
            </a:pPr>
            <a:r>
              <a:rPr lang="zh-CN" sz="1275">
                <a:solidFill>
                  <a:srgbClr val="334155"/>
                </a:solidFill>
                <a:latin typeface="Source Han Sans SC"/>
                <a:ea typeface="Source Han Sans SC"/>
              </a:rPr>
              <a:t>面向微信公众号</a:t>
            </a:r>
            <a:r>
              <a:rPr lang="en-US" sz="1275">
                <a:solidFill>
                  <a:srgbClr val="334155"/>
                </a:solidFill>
                <a:latin typeface="Source Han Sans SC"/>
                <a:ea typeface="Source Han Sans SC"/>
              </a:rPr>
              <a:t> / </a:t>
            </a:r>
            <a:r>
              <a:rPr lang="zh-CN" sz="1275">
                <a:solidFill>
                  <a:srgbClr val="334155"/>
                </a:solidFill>
                <a:latin typeface="Source Han Sans SC"/>
                <a:ea typeface="Source Han Sans SC"/>
              </a:rPr>
              <a:t>小红书</a:t>
            </a:r>
            <a:r>
              <a:rPr lang="en-US" sz="1275">
                <a:solidFill>
                  <a:srgbClr val="334155"/>
                </a:solidFill>
                <a:latin typeface="Source Han Sans SC"/>
                <a:ea typeface="Source Han Sans SC"/>
              </a:rPr>
              <a:t> / </a:t>
            </a:r>
            <a:r>
              <a:rPr lang="zh-CN" sz="1275">
                <a:solidFill>
                  <a:srgbClr val="334155"/>
                </a:solidFill>
                <a:latin typeface="Source Han Sans SC"/>
                <a:ea typeface="Source Han Sans SC"/>
              </a:rPr>
              <a:t>抖音的一站式</a:t>
            </a:r>
            <a:r>
              <a:rPr lang="en-US" sz="1275">
                <a:solidFill>
                  <a:srgbClr val="334155"/>
                </a:solidFill>
                <a:latin typeface="Source Han Sans SC"/>
                <a:ea typeface="Source Han Sans SC"/>
              </a:rPr>
              <a:t> AI </a:t>
            </a:r>
            <a:r>
              <a:rPr lang="zh-CN" sz="1275">
                <a:solidFill>
                  <a:srgbClr val="334155"/>
                </a:solidFill>
                <a:latin typeface="Source Han Sans SC"/>
                <a:ea typeface="Source Han Sans SC"/>
              </a:rPr>
              <a:t>内容生产工作台。素材库与真实热榜打底，选题、生成、适配、导出逐环相扣，创作者不必在多个工具之间反复搬运上下文。</a:t>
            </a:r>
            <a:endParaRPr lang="zh-CN" sz="1275">
              <a:solidFill>
                <a:srgbClr val="334155"/>
              </a:solidFill>
              <a:latin typeface="Source Han Sans SC"/>
              <a:ea typeface="Source Han Sans SC"/>
            </a:endParaRPr>
          </a:p>
        </p:txBody>
      </p:sp>
      <p:sp>
        <p:nvSpPr>
          <p:cNvPr id="201" name="圆角矩形 200"/>
          <p:cNvSpPr/>
          <p:nvPr/>
        </p:nvSpPr>
        <p:spPr>
          <a:xfrm>
            <a:off x="609600" y="2657475"/>
            <a:ext cx="1162050" cy="723900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202" name="文本框 201" descr="{&quot;isTemplate&quot;:true,&quot;type&quot;:&quot;text&quot;}"/>
          <p:cNvSpPr txBox="1"/>
          <p:nvPr/>
        </p:nvSpPr>
        <p:spPr>
          <a:xfrm>
            <a:off x="1104900" y="2771775"/>
            <a:ext cx="171450" cy="3238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100" b="1">
                <a:solidFill>
                  <a:srgbClr val="3B82F6"/>
                </a:solidFill>
                <a:latin typeface="Source Han Sans SC"/>
                <a:ea typeface="Source Han Sans SC"/>
              </a:rPr>
              <a:t>3</a:t>
            </a:r>
            <a:endParaRPr lang="en-US" sz="2100" b="1">
              <a:solidFill>
                <a:srgbClr val="3B82F6"/>
              </a:solidFill>
              <a:latin typeface="Source Han Sans SC"/>
              <a:ea typeface="Source Han Sans SC"/>
            </a:endParaRPr>
          </a:p>
        </p:txBody>
      </p:sp>
      <p:sp>
        <p:nvSpPr>
          <p:cNvPr id="203" name="文本框 202" descr="{&quot;isTemplate&quot;:true,&quot;type&quot;:&quot;text&quot;}"/>
          <p:cNvSpPr txBox="1"/>
          <p:nvPr/>
        </p:nvSpPr>
        <p:spPr>
          <a:xfrm>
            <a:off x="942975" y="3114675"/>
            <a:ext cx="495300" cy="1524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64748B"/>
                </a:solidFill>
                <a:latin typeface="Source Han Sans SC"/>
                <a:ea typeface="Source Han Sans SC"/>
              </a:rPr>
              <a:t>目标平台</a:t>
            </a:r>
            <a:endParaRPr lang="zh-CN" sz="975">
              <a:solidFill>
                <a:srgbClr val="64748B"/>
              </a:solidFill>
              <a:latin typeface="Source Han Sans SC"/>
              <a:ea typeface="Source Han Sans SC"/>
            </a:endParaRPr>
          </a:p>
        </p:txBody>
      </p:sp>
      <p:sp>
        <p:nvSpPr>
          <p:cNvPr id="204" name="圆角矩形 203"/>
          <p:cNvSpPr/>
          <p:nvPr/>
        </p:nvSpPr>
        <p:spPr>
          <a:xfrm>
            <a:off x="1866900" y="2657475"/>
            <a:ext cx="1162050" cy="723900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205" name="文本框 204" descr="{&quot;isTemplate&quot;:true,&quot;type&quot;:&quot;text&quot;}"/>
          <p:cNvSpPr txBox="1"/>
          <p:nvPr/>
        </p:nvSpPr>
        <p:spPr>
          <a:xfrm>
            <a:off x="2362200" y="2771775"/>
            <a:ext cx="171450" cy="3238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100" b="1">
                <a:solidFill>
                  <a:srgbClr val="3B82F6"/>
                </a:solidFill>
                <a:latin typeface="Source Han Sans SC"/>
                <a:ea typeface="Source Han Sans SC"/>
              </a:rPr>
              <a:t>5</a:t>
            </a:r>
            <a:endParaRPr lang="en-US" sz="2100" b="1">
              <a:solidFill>
                <a:srgbClr val="3B82F6"/>
              </a:solidFill>
              <a:latin typeface="Source Han Sans SC"/>
              <a:ea typeface="Source Han Sans SC"/>
            </a:endParaRPr>
          </a:p>
        </p:txBody>
      </p:sp>
      <p:sp>
        <p:nvSpPr>
          <p:cNvPr id="206" name="文本框 205" descr="{&quot;isTemplate&quot;:true,&quot;type&quot;:&quot;text&quot;}"/>
          <p:cNvSpPr txBox="1"/>
          <p:nvPr/>
        </p:nvSpPr>
        <p:spPr>
          <a:xfrm>
            <a:off x="2200275" y="3114675"/>
            <a:ext cx="495300" cy="1524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64748B"/>
                </a:solidFill>
                <a:latin typeface="Source Han Sans SC"/>
                <a:ea typeface="Source Han Sans SC"/>
              </a:rPr>
              <a:t>内容领域</a:t>
            </a:r>
            <a:endParaRPr lang="zh-CN" sz="975">
              <a:solidFill>
                <a:srgbClr val="64748B"/>
              </a:solidFill>
              <a:latin typeface="Source Han Sans SC"/>
              <a:ea typeface="Source Han Sans SC"/>
            </a:endParaRPr>
          </a:p>
        </p:txBody>
      </p:sp>
      <p:sp>
        <p:nvSpPr>
          <p:cNvPr id="207" name="圆角矩形 206"/>
          <p:cNvSpPr/>
          <p:nvPr/>
        </p:nvSpPr>
        <p:spPr>
          <a:xfrm>
            <a:off x="3124200" y="2657475"/>
            <a:ext cx="1162050" cy="723900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208" name="文本框 207" descr="{&quot;isTemplate&quot;:true,&quot;type&quot;:&quot;text&quot;}"/>
          <p:cNvSpPr txBox="1"/>
          <p:nvPr/>
        </p:nvSpPr>
        <p:spPr>
          <a:xfrm>
            <a:off x="3619500" y="2771775"/>
            <a:ext cx="171450" cy="3238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100" b="1">
                <a:solidFill>
                  <a:srgbClr val="3B82F6"/>
                </a:solidFill>
                <a:latin typeface="Source Han Sans SC"/>
                <a:ea typeface="Source Han Sans SC"/>
              </a:rPr>
              <a:t>3</a:t>
            </a:r>
            <a:endParaRPr lang="en-US" sz="2100" b="1">
              <a:solidFill>
                <a:srgbClr val="3B82F6"/>
              </a:solidFill>
              <a:latin typeface="Source Han Sans SC"/>
              <a:ea typeface="Source Han Sans SC"/>
            </a:endParaRPr>
          </a:p>
        </p:txBody>
      </p:sp>
      <p:sp>
        <p:nvSpPr>
          <p:cNvPr id="209" name="文本框 208" descr="{&quot;isTemplate&quot;:true,&quot;type&quot;:&quot;text&quot;}"/>
          <p:cNvSpPr txBox="1"/>
          <p:nvPr/>
        </p:nvSpPr>
        <p:spPr>
          <a:xfrm>
            <a:off x="3457575" y="3114675"/>
            <a:ext cx="495300" cy="1524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64748B"/>
                </a:solidFill>
                <a:latin typeface="Source Han Sans SC"/>
                <a:ea typeface="Source Han Sans SC"/>
              </a:rPr>
              <a:t>创作风格</a:t>
            </a:r>
            <a:endParaRPr lang="zh-CN" sz="975">
              <a:solidFill>
                <a:srgbClr val="64748B"/>
              </a:solidFill>
              <a:latin typeface="Source Han Sans SC"/>
              <a:ea typeface="Source Han Sans SC"/>
            </a:endParaRPr>
          </a:p>
        </p:txBody>
      </p:sp>
      <p:sp>
        <p:nvSpPr>
          <p:cNvPr id="210" name="圆角矩形 209"/>
          <p:cNvSpPr/>
          <p:nvPr/>
        </p:nvSpPr>
        <p:spPr>
          <a:xfrm>
            <a:off x="609600" y="3533775"/>
            <a:ext cx="3676650" cy="800100"/>
          </a:xfrm>
          <a:prstGeom prst="roundRect">
            <a:avLst>
              <a:gd name="adj" fmla="val 14286"/>
            </a:avLst>
          </a:prstGeom>
          <a:solidFill>
            <a:srgbClr val="3B82F6">
              <a:alpha val="7000"/>
            </a:srgbClr>
          </a:solidFill>
          <a:ln w="12700">
            <a:solidFill>
              <a:srgbClr val="3B82F6">
                <a:alpha val="22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11" name="文本框 210" descr="{&quot;isTemplate&quot;:true,&quot;type&quot;:&quot;text&quot;}"/>
          <p:cNvSpPr txBox="1"/>
          <p:nvPr/>
        </p:nvSpPr>
        <p:spPr>
          <a:xfrm>
            <a:off x="762000" y="3657600"/>
            <a:ext cx="3371850" cy="552450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050">
                <a:solidFill>
                  <a:srgbClr val="334155"/>
                </a:solidFill>
                <a:latin typeface="Source Han Sans SC"/>
                <a:ea typeface="Source Han Sans SC"/>
              </a:rPr>
              <a:t>环节之间靠</a:t>
            </a:r>
            <a:r>
              <a:rPr lang="en-US" sz="1050">
                <a:solidFill>
                  <a:srgbClr val="334155"/>
                </a:solidFill>
                <a:latin typeface="Source Han Sans SC"/>
                <a:ea typeface="Source Han Sans SC"/>
              </a:rPr>
              <a:t> FlowContext </a:t>
            </a:r>
            <a:r>
              <a:rPr lang="zh-CN" sz="1050">
                <a:solidFill>
                  <a:srgbClr val="334155"/>
                </a:solidFill>
                <a:latin typeface="Source Han Sans SC"/>
                <a:ea typeface="Source Han Sans SC"/>
              </a:rPr>
              <a:t>传递上下文：热点带着领域与建议角度进入选题，选题带着素材进入生成。</a:t>
            </a:r>
            <a:endParaRPr lang="zh-CN" sz="1050">
              <a:solidFill>
                <a:srgbClr val="334155"/>
              </a:solidFill>
              <a:latin typeface="Source Han Sans SC"/>
              <a:ea typeface="Source Han Sans SC"/>
            </a:endParaRPr>
          </a:p>
        </p:txBody>
      </p:sp>
      <p:sp>
        <p:nvSpPr>
          <p:cNvPr id="212" name="圆角矩形 211"/>
          <p:cNvSpPr/>
          <p:nvPr/>
        </p:nvSpPr>
        <p:spPr>
          <a:xfrm>
            <a:off x="609600" y="5200650"/>
            <a:ext cx="3676650" cy="895350"/>
          </a:xfrm>
          <a:prstGeom prst="roundRect">
            <a:avLst>
              <a:gd name="adj" fmla="val 12766"/>
            </a:avLst>
          </a:prstGeom>
          <a:solidFill>
            <a:srgbClr val="0F172A"/>
          </a:solidFill>
        </p:spPr>
        <p:txBody>
          <a:bodyPr/>
          <a:p/>
        </p:txBody>
      </p:sp>
      <p:sp>
        <p:nvSpPr>
          <p:cNvPr id="213" name="文本框 212" descr="{&quot;isTemplate&quot;:true,&quot;type&quot;:&quot;text&quot;}"/>
          <p:cNvSpPr txBox="1"/>
          <p:nvPr/>
        </p:nvSpPr>
        <p:spPr>
          <a:xfrm>
            <a:off x="781050" y="5353050"/>
            <a:ext cx="3333750" cy="590550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125">
                <a:solidFill>
                  <a:srgbClr val="E2E8F0"/>
                </a:solidFill>
                <a:latin typeface="Source Han Sans SC"/>
                <a:ea typeface="Source Han Sans SC"/>
              </a:rPr>
              <a:t>闭环即差异点：单点工具只解决一环，我们交付的是一条可演示、可度量的完整流水线。</a:t>
            </a:r>
            <a:endParaRPr lang="zh-CN" sz="1125">
              <a:solidFill>
                <a:srgbClr val="E2E8F0"/>
              </a:solidFill>
              <a:latin typeface="Source Han Sans SC"/>
              <a:ea typeface="Source Han Sans SC"/>
            </a:endParaRPr>
          </a:p>
        </p:txBody>
      </p:sp>
      <p:sp>
        <p:nvSpPr>
          <p:cNvPr id="214" name="圆角矩形 213"/>
          <p:cNvSpPr/>
          <p:nvPr/>
        </p:nvSpPr>
        <p:spPr>
          <a:xfrm>
            <a:off x="4533900" y="1143000"/>
            <a:ext cx="7048500" cy="495300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90500" dist="38100" dir="540000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215" name="文本框 214" descr="{&quot;isTemplate&quot;:true,&quot;type&quot;:&quot;text&quot;}"/>
          <p:cNvSpPr txBox="1"/>
          <p:nvPr/>
        </p:nvSpPr>
        <p:spPr>
          <a:xfrm>
            <a:off x="4724400" y="1352550"/>
            <a:ext cx="6667500" cy="2095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0F172A"/>
                </a:solidFill>
                <a:latin typeface="Source Han Sans SC"/>
                <a:ea typeface="Source Han Sans SC"/>
              </a:rPr>
              <a:t>核心闭环（计划书</a:t>
            </a:r>
            <a:r>
              <a:rPr lang="en-US" sz="1350" b="1">
                <a:solidFill>
                  <a:srgbClr val="0F172A"/>
                </a:solidFill>
                <a:latin typeface="Source Han Sans SC"/>
                <a:ea typeface="Source Han Sans SC"/>
              </a:rPr>
              <a:t> T4.4 </a:t>
            </a:r>
            <a:r>
              <a:rPr lang="zh-CN" sz="1350" b="1">
                <a:solidFill>
                  <a:srgbClr val="0F172A"/>
                </a:solidFill>
                <a:latin typeface="Source Han Sans SC"/>
                <a:ea typeface="Source Han Sans SC"/>
              </a:rPr>
              <a:t>验收项）</a:t>
            </a:r>
            <a:endParaRPr lang="zh-CN" sz="1350" b="1">
              <a:solidFill>
                <a:srgbClr val="0F172A"/>
              </a:solidFill>
              <a:latin typeface="Source Han Sans SC"/>
              <a:ea typeface="Source Han Sans SC"/>
            </a:endParaRPr>
          </a:p>
        </p:txBody>
      </p:sp>
      <p:sp>
        <p:nvSpPr>
          <p:cNvPr id="216" name="文本框 215" descr="{&quot;isTemplate&quot;:true,&quot;type&quot;:&quot;text&quot;}"/>
          <p:cNvSpPr txBox="1"/>
          <p:nvPr/>
        </p:nvSpPr>
        <p:spPr>
          <a:xfrm>
            <a:off x="4724400" y="1600200"/>
            <a:ext cx="6667500" cy="1524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64748B"/>
                </a:solidFill>
                <a:latin typeface="Source Han Sans SC"/>
                <a:ea typeface="Source Han Sans SC"/>
              </a:rPr>
              <a:t>六页工作台串起五个环节，全程不切换工具</a:t>
            </a:r>
            <a:endParaRPr lang="zh-CN" sz="975">
              <a:solidFill>
                <a:srgbClr val="64748B"/>
              </a:solidFill>
              <a:latin typeface="Source Han Sans SC"/>
              <a:ea typeface="Source Han Sans SC"/>
            </a:endParaRPr>
          </a:p>
        </p:txBody>
      </p:sp>
      <p:pic>
        <p:nvPicPr>
          <p:cNvPr id="217" name="图片 216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24400" y="1752600"/>
            <a:ext cx="6667500" cy="3733800"/>
          </a:xfrm>
          <a:prstGeom prst="rect">
            <a:avLst/>
          </a:prstGeom>
        </p:spPr>
      </p:pic>
      <p:sp>
        <p:nvSpPr>
          <p:cNvPr id="218" name="圆角矩形 217"/>
          <p:cNvSpPr/>
          <p:nvPr/>
        </p:nvSpPr>
        <p:spPr>
          <a:xfrm>
            <a:off x="609600" y="6343650"/>
            <a:ext cx="95250" cy="95250"/>
          </a:xfrm>
          <a:prstGeom prst="roundRect">
            <a:avLst>
              <a:gd name="adj" fmla="val 20000"/>
            </a:avLst>
          </a:prstGeom>
          <a:gradFill>
            <a:gsLst>
              <a:gs pos="0">
                <a:srgbClr val="3B82F6"/>
              </a:gs>
              <a:gs pos="100000">
                <a:srgbClr val="06B6D4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219" name="文本框 218" descr="{&quot;isTemplate&quot;:true,&quot;type&quot;:&quot;text&quot;}"/>
          <p:cNvSpPr txBox="1"/>
          <p:nvPr/>
        </p:nvSpPr>
        <p:spPr>
          <a:xfrm>
            <a:off x="781050" y="6305550"/>
            <a:ext cx="20193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94A3B8"/>
                </a:solidFill>
                <a:latin typeface="Source Han Sans SC"/>
                <a:ea typeface="Source Han Sans SC"/>
              </a:rPr>
              <a:t>AI </a:t>
            </a:r>
            <a:r>
              <a:rPr lang="zh-CN" sz="1050">
                <a:solidFill>
                  <a:srgbClr val="94A3B8"/>
                </a:solidFill>
                <a:latin typeface="Source Han Sans SC"/>
                <a:ea typeface="Source Han Sans SC"/>
              </a:rPr>
              <a:t>自媒体内容创作助手</a:t>
            </a:r>
            <a:r>
              <a:rPr lang="en-US" sz="1050">
                <a:solidFill>
                  <a:srgbClr val="94A3B8"/>
                </a:solidFill>
                <a:latin typeface="Source Han Sans SC"/>
                <a:ea typeface="Source Han Sans SC"/>
              </a:rPr>
              <a:t> · </a:t>
            </a:r>
            <a:r>
              <a:rPr lang="zh-CN" sz="1050">
                <a:solidFill>
                  <a:srgbClr val="94A3B8"/>
                </a:solidFill>
                <a:latin typeface="Source Han Sans SC"/>
                <a:ea typeface="Source Han Sans SC"/>
              </a:rPr>
              <a:t>项目汇报</a:t>
            </a:r>
            <a:endParaRPr lang="zh-CN" sz="1050">
              <a:solidFill>
                <a:srgbClr val="94A3B8"/>
              </a:solidFill>
              <a:latin typeface="Source Han Sans SC"/>
              <a:ea typeface="Source Han Sans SC"/>
            </a:endParaRPr>
          </a:p>
        </p:txBody>
      </p:sp>
      <p:sp>
        <p:nvSpPr>
          <p:cNvPr id="220" name="文本框 219" descr="{&quot;isTemplate&quot;:true,&quot;type&quot;:&quot;text&quot;}"/>
          <p:cNvSpPr txBox="1"/>
          <p:nvPr/>
        </p:nvSpPr>
        <p:spPr>
          <a:xfrm>
            <a:off x="11125200" y="6305550"/>
            <a:ext cx="4572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94A3B8"/>
                </a:solidFill>
                <a:latin typeface="Source Han Sans SC"/>
                <a:ea typeface="Source Han Sans SC"/>
              </a:rPr>
              <a:t>04 / 14</a:t>
            </a:r>
            <a:endParaRPr lang="en-US" sz="1050">
              <a:solidFill>
                <a:srgbClr val="94A3B8"/>
              </a:solidFill>
              <a:latin typeface="Source Han Sans SC"/>
              <a:ea typeface="Source Han Sans SC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21" name="" descr="&lt;Slide style={{ width: 1280, height: 720, padding: '20px 64px', fontFamily: '&quot;Source Han Sans SC&quot;, &quot;Noto Sans SC&quot;, &quot;PingFang SC&quot;, &quot;Microsoft YaHei&quot;, sans-serif', background: '#F8FAFC' }}&gt;&#13;&#10;  &lt;Box style={{ height: 100, justifyContent: 'center' }}&gt;&#13;&#10;    &lt;Box style={{ flexDirection: 'row', alignItems: 'center', gap: 16 }}&gt;&#13;&#10;      &lt;Box style={{ width: 6, height: 34, background: 'linear-gradient(135deg, #3B82F6 0%, #06B6D4 100%)', borderRadius: 3 }} /&gt;&#13;&#10;      &lt;Box&gt;&#13;&#10;        &lt;Text style={{ fontSize: 34, fontWeight: 'bold', color: '#0F172A' }}&gt;功能全景与工程规模&lt;/Text&gt;&#13;&#10;        &lt;Text style={{ fontSize: 18, color: '#64748B', marginTop: 4 }}&gt;六个模块对应闭环上的六个位置，不是功能堆叠&lt;/Text&gt;&#13;&#10;      &lt;/Box&gt;&#13;&#10;    &lt;/Box&gt;&#13;&#10;  &lt;/Box&gt;&#13;&#10;&#13;&#10;  &lt;Box style={{ flexDirection: 'row', gap: 26, height: 324 }}&gt;&#13;&#10;    &lt;Box style={{ width: 268, flexDirection: 'column' }}&gt;&#13;&#10;      &lt;Text style={{ fontSize: 15, color: '#94A3B8', letterSpacing: 3 }}&gt;MODULES&lt;/Text&gt;&#13;&#10;      &lt;Text style={{ fontSize: 40, fontWeight: 'bold', color: '#0F172A', lineHeight: 1.15, marginTop: 6 }}&gt;&#13;&#10;        六模块&#13;&#10;      &lt;/Text&gt;&#13;&#10;      &lt;Text style={{ fontSize: 16, color: '#334155', lineHeight: 1.8, marginTop: 14 }}&gt;&#13;&#10;        每个模块只做一件事，但上下游都有结构化接口。素材与热点负责「输入」，选题与生成负责「加工」，适配与导出负责「交付」，人设贯穿全程作为约束。&#13;&#10;      &lt;/Text&gt;&#13;&#10;      &lt;Box style={{ marginTop: 'auto', flexDirection: 'row', alignItems: 'center', gap: 8 }}&gt;&#13;&#10;        &lt;Box style={{ width: 20, height: 20, borderRadius: 4, background: 'linear-gradient(135deg, #3B82F6, #06B6D4)' }} /&gt;&#13;&#10;        &lt;Text style={{ fontSize: 13, color: '#64748B' }}&gt;标记者为热点 V2 重点重构模块&lt;/Text&gt;&#13;&#10;      &lt;/Box&gt;&#13;&#10;    &lt;/Box&gt;&#13;&#10;&#13;&#10;    &lt;Box style={{ flex: 1, flexDirection: 'column', gap: 12 }}&gt;&#13;&#10;      &lt;Box style={{ flexDirection: 'row', gap: 12, flex: 1 }}&gt;&#13;&#10;        &lt;Box style={{ flex: 1, background: '#0F172A', borderRadius: 13, padding: '13px 16px', flexDirection: 'row', gap: 14 }}&gt;&#13;&#10;          &lt;Box style={{ width: 34, height: 34, borderRadius: 9, background: 'linear-gradient(135deg, #3B82F6, #06B6D4)', alignItems: 'center', justifyContent: 'center' }}&gt;&#13;&#10;            &lt;Text style={{ fontSize: 16, fontWeight: 'bold', color: '#FFFFFF' }}&gt;热&lt;/Text&gt;&#13;&#10;          &lt;/Box&gt;&#13;&#10;          &lt;Box style={{ flex: 1 }}&gt;&#13;&#10;            &lt;Box style={{ flexDirection: 'row', alignItems: 'center', gap: 8 }}&gt;&#13;&#10;              &lt;Text style={{ fontSize: 18, fontWeight: 'bold', color: '#FFFFFF' }}&gt;热点看板&lt;/Text&gt;&#13;&#10;              &lt;Text style={{ fontSize: 11, color: '#67E8F9', letterSpacing: 1 }}&gt;V2 重构&lt;/Text&gt;&#13;&#10;            &lt;/Box&gt;&#13;&#10;            &lt;Text style={{ fontSize: 12.5, color: '#CBD5E1', marginTop: 5, lineHeight: 1.6 }}&gt;&#13;&#10;              六源真实热榜采集，跨平台聚合、归一化热度，按领域推荐并给出建议角度&#13;&#10;            &lt;/Text&gt;&#13;&#10;          &lt;/Box&gt;&#13;&#10;        &lt;/Box&gt;&#13;&#10;        &lt;Box style={{ flex: 1, background: '#FFFFFF', border: '1px solid #E2E8F0', borderRadius: 13, padding: '13px 16px', flexDirection: 'row', gap: 14 }}&gt;&#13;&#10;          &lt;Box style={{ width: 34, height: 34, borderRadius: 9, background: '#EFF6FF', alignItems: 'center', justifyContent: 'center' }}&gt;&#13;&#10;            &lt;Text style={{ fontSize: 16, fontWeight: 'bold', color: '#3B82F6' }}&gt;素&lt;/Text&gt;&#13;&#10;          &lt;/Box&gt;&#13;&#10;          &lt;Box style={{ flex: 1 }}&gt;&#13;&#10;            &lt;Text style={{ fontSize: 18, fontWeight: 'bold', color: '#0F172A' }}&gt;素材库&lt;/Text&gt;&#13;&#10;            &lt;Text style={{ fontSize: 12.5, color: '#64748B', marginTop: 5, lineHeight: 1.6 }}&gt;&#13;&#10;              90 篇入库、270 分块，按领域与平台筛选，支持语义检索与风格标签&#13;&#10;            &lt;/Text&gt;&#13;&#10;          &lt;/Box&gt;&#13;&#10;        &lt;/Box&gt;&#13;&#10;      &lt;/Box&gt;&#13;&#10;&#13;&#10;      &lt;Box style={{ flexDirection: 'row', gap: 12, flex: 1 }}&gt;&#13;&#10;        &lt;Box style={{ flex: 1, background: '#FFFFFF', border: '1px solid #E2E8F0', borderRadius: 13, padding: '13px 16px', flexDirection: 'row', gap: 14 }}&gt;&#13;&#10;          &lt;Box style={{ width: 34, height: 34, borderRadius: 9, background: '#EFF6FF', alignItems: 'center', justifyContent: 'center' }}&gt;&#13;&#10;            &lt;Text style={{ fontSize: 16, fontWeight: 'bold', color: '#3B82F6' }}&gt;题&lt;/Text&gt;&#13;&#10;          &lt;/Box&gt;&#13;&#10;          &lt;Box style={{ flex: 1 }}&gt;&#13;&#10;            &lt;Text style={{ fontSize: 18, fontWeight: 'bold', color: '#0F172A' }}&gt;选题列表&lt;/Text&gt;&#13;&#10;            &lt;Text style={{ fontSize: 12.5, color: '#64748B', marginTop: 5, lineHeight: 1.6 }}&gt;&#13;&#10;              一句话生成多角度选题；热点可直传，领域与角度一并继承&#13;&#10;            &lt;/Text&gt;&#13;&#10;          &lt;/Box&gt;&#13;&#10;        &lt;/Box&gt;&#13;&#10;        &lt;Box style={{ flex: 1, background: '#FFFFFF', border: '1px solid #E2E8F0', borderRadius: 13, padding: '13px 16px', flexDirection: 'row', gap: 14 }}&gt;&#13;&#10;          &lt;Box style={{ width: 34, height: 34, borderRadius: 9, background: '#EFF6FF', alignItems: 'center', justifyContent: 'center' }}&gt;&#13;&#10;            &lt;Text style={{ fontSize: 16, fontWeight: 'bold', color: '#3B82F6' }}&gt;撰&lt;/Text&gt;&#13;&#10;          &lt;/Box&gt;&#13;&#10;          &lt;Box style={{ flex: 1 }}&gt;&#13;&#10;            &lt;Text style={{ fontSize: 18, fontWeight: 'bold', color: '#0F172A' }}&gt;文案生成&lt;/Text&gt;&#13;&#10;            &lt;Text style={{ fontSize: 12.5, color: '#64748B', marginTop: 5, lineHeight: 1.6 }}&gt;&#13;&#10;              RAG 两阶段检索增强，单次产出 ≥3 个风格版本并做结构校验&#13;&#10;            &lt;/Text&gt;&#13;&#10;          &lt;/Box&gt;&#13;&#10;        &lt;/Box&gt;&#13;&#10;      &lt;/Box&gt;&#13;&#10;&#13;&#10;      &lt;Box style={{ flexDirection: 'row', gap: 12, flex: 1 }}&gt;&#13;&#10;        &lt;Box style={{ flex: 1, background: '#FFFFFF', border: '1px solid #E2E8F0', borderRadius: 13, padding: '13px 16px', flexDirection: 'row', gap: 14 }}&gt;&#13;&#10;          &lt;Box style={{ width: 34, height: 34, borderRadius: 9, background: '#EFF6FF', alignItems: 'center', justifyContent: 'center' }}&gt;&#13;&#10;            &lt;Text style={{ fontSize: 16, fontWeight: 'bold', color: '#3B82F6' }}&gt;适&lt;/Text&gt;&#13;&#10;          &lt;/Box&gt;&#13;&#10;          &lt;Box style={{ flex: 1 }}&gt;&#13;&#10;            &lt;Text style={{ fontSize: 18, fontWeight: 'bold', color: '#0F172A' }}&gt;平台适配&lt;/Text&gt;&#13;&#10;            &lt;Text style={{ fontSize: 12.5, color: '#64748B', marginTop: 5, lineHeight: 1.6 }}&gt;&#13;&#10;              按三平台硬性规范改写标题、标签与篇幅，导出前给出符合性检查&#13;&#10;            &lt;/Text&gt;&#13;&#10;          &lt;/Box&gt;&#13;&#10;        &lt;/Box&gt;&#13;&#10;        &lt;Box style={{ flex: 1, background: '#FFFFFF', border: '1px solid #E2E8F0', borderRadius: 13, padding: '13px 16px', flexDirection: 'row', gap: 14 }}&gt;&#13;&#10;          &lt;Box style={{ width: 34, height: 34, borderRadius: 9, background: '#EFF6FF', alignItems: 'center', justifyContent: 'center' }}&gt;&#13;&#10;            &lt;Text style={{ fontSize: 16, fontWeight: 'bold', color: '#3B82F6' }}&gt;人&lt;/Text&gt;&#13;&#10;          &lt;/Box&gt;&#13;&#10;          &lt;Box style={{ flex: 1 }}&gt;&#13;&#10;            &lt;Text style={{ fontSize: 18, fontWeight: 'bold', color: '#0F172A' }}&gt;人设设定&lt;/Text&gt;&#13;&#10;            &lt;Text style={{ fontSize: 12.5, color: '#64748B', marginTop: 5, lineHeight: 1.6 }}&gt;&#13;&#10;              领域、受众、语气可配置，作为前置约束注入每一次生成&#13;&#10;            &lt;/Text&gt;&#13;&#10;          &lt;/Box&gt;&#13;&#10;        &lt;/Box&gt;&#13;&#10;      &lt;/Box&gt;&#13;&#10;    &lt;/Box&gt;&#13;&#10;  &lt;/Box&gt;&#13;&#10;&#13;&#10;  &lt;Box style={{ height: 180, marginTop: 16, background: '#FFFFFF', border: '1px solid #E2E8F0', borderRadius: 14, padding: '16px 26px', flexDirection: 'row', alignItems: 'center', boxShadow: '0 4px 20px rgba(15,23,42,0.06)' }}&gt;&#13;&#10;    &lt;Box style={{ width: 132 }}&gt;&#13;&#10;      &lt;Text style={{ fontSize: 13, color: '#94A3B8', letterSpacing: 2 }}&gt;SCALE&lt;/Text&gt;&#13;&#10;      &lt;Text style={{ fontSize: 17, fontWeight: 'bold', color: '#0F172A', marginTop: 4 }}&gt;当前规模&lt;/Text&gt;&#13;&#10;      &lt;Text style={{ fontSize: 12, color: '#64748B', marginTop: 4, lineHeight: 1.5 }}&gt;均为运行时实测&lt;/Text&gt;&#13;&#10;    &lt;/Box&gt;&#13;&#10;    &lt;Box style={{ width: 1, height: 80, background: '#E2E8F0' }} /&gt;&#13;&#10;    &lt;Box style={{ flex: 1, flexDirection: 'row', justifyContent: 'space-around' }}&gt;&#13;&#10;      &lt;Box style={{ alignItems: 'center' }}&gt;&#13;&#10;        &lt;Text style={{ fontSize: 34, fontWeight: 'bold', color: '#3B82F6', letterSpacing: -1 }}&gt;90&lt;/Text&gt;&#13;&#10;        &lt;Text style={{ fontSize: 12.5, color: '#64748B', marginTop: 2 }}&gt;篇素材文本&lt;/Text&gt;&#13;&#10;      &lt;/Box&gt;&#13;&#10;      &lt;Box style={{ alignItems: 'center' }}&gt;&#13;&#10;        &lt;Text style={{ fontSize: 34, fontWeight: 'bold', color: '#3B82F6', letterSpacing: -1 }}&gt;270&lt;/Text&gt;&#13;&#10;        &lt;Text style={{ fontSize: 12.5, color: '#64748B', marginTop: 2 }}&gt;个检索分块&lt;/Text&gt;&#13;&#10;      &lt;/Box&gt;&#13;&#10;      &lt;Box style={{ alignItems: 'center' }}&gt;&#13;&#10;        &lt;Text style={{ fontSize: 34, fontWeight: 'bold', color: '#3B82F6', letterSpacing: -1 }}&gt;180&lt;/Text&gt;&#13;&#10;        &lt;Text style={{ fontSize: 12.5, color: '#64748B', marginTop: 2 }}&gt;条评测任务&lt;/Text&gt;&#13;&#10;      &lt;/Box&gt;&#13;&#10;      &lt;Box style={{ alignItems: 'center' }}&gt;&#13;&#10;        &lt;Text style={{ fontSize: 34, fontWeight: 'bold', color: '#3B82F6', letterSpacing: -1 }}&gt;6&lt;/Text&gt;&#13;&#10;        &lt;Text style={{ fontSize: 12.5, color: '#64748B', marginTop: 2 }}&gt;个热榜来源&lt;/Text&gt;&#13;&#10;      &lt;/Box&gt;&#13;&#10;      &lt;Box style={{ alignItems: 'center' }}&gt;&#13;&#10;        &lt;Text style={{ fontSize: 34, fontWeight: 'bold', color: '#3B82F6', letterSpacing: -1 }}&gt;14&lt;/Text&gt;&#13;&#10;        &lt;Text style={{ fontSize: 12.5, color: '#64748B', marginTop: 2 }}&gt;张数据表&lt;/Text&gt;&#13;&#10;      &lt;/Box&gt;&#13;&#10;      &lt;Box style={{ alignItems: 'center' }}&gt;&#13;&#10;        &lt;Text style={{ fontSize: 34, fontWeight: 'bold', color: '#3B82F6', letterSpacing: -1 }}&gt;19&lt;/Text&gt;&#13;&#10;        &lt;Text style={{ fontSize: 12.5, color: '#64748B', marginTop: 2 }}&gt;个接口路由&lt;/Text&gt;&#13;&#10;      &lt;/Box&gt;&#13;&#10;    &lt;/Box&gt;&#13;&#10;  &lt;/Box&gt;&#13;&#10;&#13;&#10;  &lt;Box style={{ height: 60, flexDirection: 'row', justifyContent: 'space-between', alignItems: 'center' }}&gt;&#13;&#10;    &lt;Box style={{ flexDirection: 'row', alignItems: 'center', gap: 8 }}&gt;&#13;&#10;      &lt;Box style={{ width: 10, height: 10, borderRadius: 2, background: 'linear-gradient(135deg, #3B82F6, #06B6D4)' }} /&gt;&#13;&#10;      &lt;Text style={{ fontSize: 14, color: '#94A3B8' }}&gt;AI 自媒体内容创作助手 · 项目汇报&lt;/Text&gt;&#13;&#10;    &lt;/Box&gt;&#13;&#10;    &lt;Text style={{ fontSize: 14, color: '#94A3B8' }}&gt;05 / 14&lt;/Text&gt;&#13;&#10;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矩形 22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</p:spPr>
        <p:txBody>
          <a:bodyPr/>
          <a:p/>
        </p:txBody>
      </p:sp>
      <p:sp>
        <p:nvSpPr>
          <p:cNvPr id="223" name="圆角矩形 222"/>
          <p:cNvSpPr/>
          <p:nvPr/>
        </p:nvSpPr>
        <p:spPr>
          <a:xfrm>
            <a:off x="609600" y="514350"/>
            <a:ext cx="57150" cy="32385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3B82F6"/>
              </a:gs>
              <a:gs pos="100000">
                <a:srgbClr val="06B6D4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224" name="文本框 223" descr="{&quot;isTemplate&quot;:true,&quot;type&quot;:&quot;text&quot;}"/>
          <p:cNvSpPr txBox="1"/>
          <p:nvPr/>
        </p:nvSpPr>
        <p:spPr>
          <a:xfrm>
            <a:off x="819150" y="352425"/>
            <a:ext cx="3600450" cy="3905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0F172A"/>
                </a:solidFill>
                <a:latin typeface="Source Han Sans SC"/>
                <a:ea typeface="Source Han Sans SC"/>
              </a:rPr>
              <a:t>功能全景与工程规模</a:t>
            </a:r>
            <a:endParaRPr lang="zh-CN" sz="2550" b="1">
              <a:solidFill>
                <a:srgbClr val="0F172A"/>
              </a:solidFill>
              <a:latin typeface="Source Han Sans SC"/>
              <a:ea typeface="Source Han Sans SC"/>
            </a:endParaRPr>
          </a:p>
        </p:txBody>
      </p:sp>
      <p:sp>
        <p:nvSpPr>
          <p:cNvPr id="225" name="文本框 224" descr="{&quot;isTemplate&quot;:true,&quot;type&quot;:&quot;text&quot;}"/>
          <p:cNvSpPr txBox="1"/>
          <p:nvPr/>
        </p:nvSpPr>
        <p:spPr>
          <a:xfrm>
            <a:off x="819150" y="781050"/>
            <a:ext cx="3600450" cy="2095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64748B"/>
                </a:solidFill>
                <a:latin typeface="Source Han Sans SC"/>
                <a:ea typeface="Source Han Sans SC"/>
              </a:rPr>
              <a:t>六个模块对应闭环上的六个位置，不是功能堆叠</a:t>
            </a:r>
            <a:endParaRPr lang="zh-CN" sz="1350">
              <a:solidFill>
                <a:srgbClr val="64748B"/>
              </a:solidFill>
              <a:latin typeface="Source Han Sans SC"/>
              <a:ea typeface="Source Han Sans SC"/>
            </a:endParaRPr>
          </a:p>
        </p:txBody>
      </p:sp>
      <p:sp>
        <p:nvSpPr>
          <p:cNvPr id="226" name="文本框 225" descr="{&quot;isTemplate&quot;:true,&quot;type&quot;:&quot;text&quot;}"/>
          <p:cNvSpPr txBox="1"/>
          <p:nvPr/>
        </p:nvSpPr>
        <p:spPr>
          <a:xfrm>
            <a:off x="609600" y="1143000"/>
            <a:ext cx="2552700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225">
                <a:solidFill>
                  <a:srgbClr val="94A3B8"/>
                </a:solidFill>
                <a:latin typeface="Source Han Sans SC"/>
                <a:ea typeface="Source Han Sans SC"/>
              </a:rPr>
              <a:t>MODULES</a:t>
            </a:r>
            <a:endParaRPr lang="en-US" sz="1125" spc="225">
              <a:solidFill>
                <a:srgbClr val="94A3B8"/>
              </a:solidFill>
              <a:latin typeface="Source Han Sans SC"/>
              <a:ea typeface="Source Han Sans SC"/>
            </a:endParaRPr>
          </a:p>
        </p:txBody>
      </p:sp>
      <p:sp>
        <p:nvSpPr>
          <p:cNvPr id="227" name="文本框 226" descr="{&quot;isTemplate&quot;:true,&quot;type&quot;:&quot;text&quot;}"/>
          <p:cNvSpPr txBox="1"/>
          <p:nvPr/>
        </p:nvSpPr>
        <p:spPr>
          <a:xfrm>
            <a:off x="609600" y="1371600"/>
            <a:ext cx="2552700" cy="5334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15000"/>
              </a:lnSpc>
            </a:pPr>
            <a:r>
              <a:rPr lang="zh-CN" sz="3000" b="1">
                <a:solidFill>
                  <a:srgbClr val="0F172A"/>
                </a:solidFill>
                <a:latin typeface="Source Han Sans SC"/>
                <a:ea typeface="Source Han Sans SC"/>
              </a:rPr>
              <a:t>六模块</a:t>
            </a:r>
            <a:endParaRPr lang="zh-CN" sz="3000" b="1">
              <a:solidFill>
                <a:srgbClr val="0F172A"/>
              </a:solidFill>
              <a:latin typeface="Source Han Sans SC"/>
              <a:ea typeface="Source Han Sans SC"/>
            </a:endParaRPr>
          </a:p>
        </p:txBody>
      </p:sp>
      <p:sp>
        <p:nvSpPr>
          <p:cNvPr id="228" name="文本框 227" descr="{&quot;isTemplate&quot;:true,&quot;type&quot;:&quot;text&quot;}"/>
          <p:cNvSpPr txBox="1"/>
          <p:nvPr/>
        </p:nvSpPr>
        <p:spPr>
          <a:xfrm>
            <a:off x="609600" y="2038350"/>
            <a:ext cx="2552700" cy="1647825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80000"/>
              </a:lnSpc>
            </a:pPr>
            <a:r>
              <a:rPr lang="zh-CN" sz="1200">
                <a:solidFill>
                  <a:srgbClr val="334155"/>
                </a:solidFill>
                <a:latin typeface="Source Han Sans SC"/>
                <a:ea typeface="Source Han Sans SC"/>
              </a:rPr>
              <a:t>每个模块只做一件事，但上下游都有结构化接口。素材与热点负责「输入」，选题与生成负责「加工」，适配与导出负责「交付」，人设贯穿全程作为约束。</a:t>
            </a:r>
            <a:endParaRPr lang="zh-CN" sz="1200">
              <a:solidFill>
                <a:srgbClr val="334155"/>
              </a:solidFill>
              <a:latin typeface="Source Han Sans SC"/>
              <a:ea typeface="Source Han Sans SC"/>
            </a:endParaRPr>
          </a:p>
        </p:txBody>
      </p:sp>
      <p:sp>
        <p:nvSpPr>
          <p:cNvPr id="229" name="圆角矩形 228"/>
          <p:cNvSpPr/>
          <p:nvPr/>
        </p:nvSpPr>
        <p:spPr>
          <a:xfrm>
            <a:off x="609600" y="4038600"/>
            <a:ext cx="190500" cy="190500"/>
          </a:xfrm>
          <a:prstGeom prst="roundRect">
            <a:avLst>
              <a:gd name="adj" fmla="val 20000"/>
            </a:avLst>
          </a:prstGeom>
          <a:gradFill>
            <a:gsLst>
              <a:gs pos="0">
                <a:srgbClr val="3B82F6"/>
              </a:gs>
              <a:gs pos="100000">
                <a:srgbClr val="06B6D4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230" name="文本框 229" descr="{&quot;isTemplate&quot;:true,&quot;type&quot;:&quot;text&quot;}"/>
          <p:cNvSpPr txBox="1"/>
          <p:nvPr/>
        </p:nvSpPr>
        <p:spPr>
          <a:xfrm>
            <a:off x="876300" y="4057650"/>
            <a:ext cx="1724025" cy="1524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64748B"/>
                </a:solidFill>
                <a:latin typeface="Source Han Sans SC"/>
                <a:ea typeface="Source Han Sans SC"/>
              </a:rPr>
              <a:t>标记者为热点</a:t>
            </a:r>
            <a:r>
              <a:rPr lang="en-US" sz="975">
                <a:solidFill>
                  <a:srgbClr val="64748B"/>
                </a:solidFill>
                <a:latin typeface="Source Han Sans SC"/>
                <a:ea typeface="Source Han Sans SC"/>
              </a:rPr>
              <a:t> V2 </a:t>
            </a:r>
            <a:r>
              <a:rPr lang="zh-CN" sz="975">
                <a:solidFill>
                  <a:srgbClr val="64748B"/>
                </a:solidFill>
                <a:latin typeface="Source Han Sans SC"/>
                <a:ea typeface="Source Han Sans SC"/>
              </a:rPr>
              <a:t>重点重构模块</a:t>
            </a:r>
            <a:endParaRPr lang="zh-CN" sz="975">
              <a:solidFill>
                <a:srgbClr val="64748B"/>
              </a:solidFill>
              <a:latin typeface="Source Han Sans SC"/>
              <a:ea typeface="Source Han Sans SC"/>
            </a:endParaRPr>
          </a:p>
        </p:txBody>
      </p:sp>
      <p:sp>
        <p:nvSpPr>
          <p:cNvPr id="231" name="圆角矩形 230"/>
          <p:cNvSpPr/>
          <p:nvPr/>
        </p:nvSpPr>
        <p:spPr>
          <a:xfrm>
            <a:off x="3409950" y="1143000"/>
            <a:ext cx="4029075" cy="1028700"/>
          </a:xfrm>
          <a:prstGeom prst="roundRect">
            <a:avLst>
              <a:gd name="adj" fmla="val 12037"/>
            </a:avLst>
          </a:prstGeom>
          <a:solidFill>
            <a:srgbClr val="0F172A"/>
          </a:solidFill>
        </p:spPr>
        <p:txBody>
          <a:bodyPr/>
          <a:p/>
        </p:txBody>
      </p:sp>
      <p:sp>
        <p:nvSpPr>
          <p:cNvPr id="232" name="圆角矩形 231"/>
          <p:cNvSpPr/>
          <p:nvPr/>
        </p:nvSpPr>
        <p:spPr>
          <a:xfrm>
            <a:off x="3562350" y="1266825"/>
            <a:ext cx="323850" cy="323850"/>
          </a:xfrm>
          <a:prstGeom prst="roundRect">
            <a:avLst>
              <a:gd name="adj" fmla="val 26471"/>
            </a:avLst>
          </a:prstGeom>
          <a:gradFill>
            <a:gsLst>
              <a:gs pos="0">
                <a:srgbClr val="3B82F6"/>
              </a:gs>
              <a:gs pos="100000">
                <a:srgbClr val="06B6D4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233" name="文本框 232" descr="{&quot;isTemplate&quot;:true,&quot;type&quot;:&quot;text&quot;}"/>
          <p:cNvSpPr txBox="1"/>
          <p:nvPr/>
        </p:nvSpPr>
        <p:spPr>
          <a:xfrm>
            <a:off x="3648075" y="1333500"/>
            <a:ext cx="152400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FFFFFF"/>
                </a:solidFill>
                <a:latin typeface="Source Han Sans SC"/>
                <a:ea typeface="Source Han Sans SC"/>
              </a:rPr>
              <a:t>热</a:t>
            </a:r>
            <a:endParaRPr lang="zh-CN" sz="1200" b="1">
              <a:solidFill>
                <a:srgbClr val="FFFFFF"/>
              </a:solidFill>
              <a:latin typeface="Source Han Sans SC"/>
              <a:ea typeface="Source Han Sans SC"/>
            </a:endParaRPr>
          </a:p>
        </p:txBody>
      </p:sp>
      <p:sp>
        <p:nvSpPr>
          <p:cNvPr id="234" name="文本框 233" descr="{&quot;isTemplate&quot;:true,&quot;type&quot;:&quot;text&quot;}"/>
          <p:cNvSpPr txBox="1"/>
          <p:nvPr/>
        </p:nvSpPr>
        <p:spPr>
          <a:xfrm>
            <a:off x="4019550" y="1266825"/>
            <a:ext cx="685800" cy="2095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FFFFFF"/>
                </a:solidFill>
                <a:latin typeface="Source Han Sans SC"/>
                <a:ea typeface="Source Han Sans SC"/>
              </a:rPr>
              <a:t>热点看板</a:t>
            </a:r>
            <a:endParaRPr lang="zh-CN" sz="1350" b="1">
              <a:solidFill>
                <a:srgbClr val="FFFFFF"/>
              </a:solidFill>
              <a:latin typeface="Source Han Sans SC"/>
              <a:ea typeface="Source Han Sans SC"/>
            </a:endParaRPr>
          </a:p>
        </p:txBody>
      </p:sp>
      <p:sp>
        <p:nvSpPr>
          <p:cNvPr id="235" name="文本框 234" descr="{&quot;isTemplate&quot;:true,&quot;type&quot;:&quot;text&quot;}"/>
          <p:cNvSpPr txBox="1"/>
          <p:nvPr/>
        </p:nvSpPr>
        <p:spPr>
          <a:xfrm>
            <a:off x="4781550" y="1304925"/>
            <a:ext cx="428625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 spc="75">
                <a:solidFill>
                  <a:srgbClr val="67E8F9"/>
                </a:solidFill>
                <a:latin typeface="Source Han Sans SC"/>
                <a:ea typeface="Source Han Sans SC"/>
              </a:rPr>
              <a:t>V2 </a:t>
            </a:r>
            <a:r>
              <a:rPr lang="zh-CN" sz="825" spc="75">
                <a:solidFill>
                  <a:srgbClr val="67E8F9"/>
                </a:solidFill>
                <a:latin typeface="Source Han Sans SC"/>
                <a:ea typeface="Source Han Sans SC"/>
              </a:rPr>
              <a:t>重构</a:t>
            </a:r>
            <a:endParaRPr lang="zh-CN" sz="825" spc="75">
              <a:solidFill>
                <a:srgbClr val="67E8F9"/>
              </a:solidFill>
              <a:latin typeface="Source Han Sans SC"/>
              <a:ea typeface="Source Han Sans SC"/>
            </a:endParaRPr>
          </a:p>
        </p:txBody>
      </p:sp>
      <p:sp>
        <p:nvSpPr>
          <p:cNvPr id="236" name="文本框 235" descr="{&quot;isTemplate&quot;:true,&quot;type&quot;:&quot;text&quot;}"/>
          <p:cNvSpPr txBox="1"/>
          <p:nvPr/>
        </p:nvSpPr>
        <p:spPr>
          <a:xfrm>
            <a:off x="4019550" y="1524000"/>
            <a:ext cx="3267075" cy="457200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940">
                <a:solidFill>
                  <a:srgbClr val="CBD5E1"/>
                </a:solidFill>
                <a:latin typeface="Source Han Sans SC"/>
                <a:ea typeface="Source Han Sans SC"/>
              </a:rPr>
              <a:t>六源真实热榜采集，跨平台聚合、归一化热度，按领域推荐并给出建议角度</a:t>
            </a:r>
            <a:endParaRPr lang="zh-CN" sz="940">
              <a:solidFill>
                <a:srgbClr val="CBD5E1"/>
              </a:solidFill>
              <a:latin typeface="Source Han Sans SC"/>
              <a:ea typeface="Source Han Sans SC"/>
            </a:endParaRPr>
          </a:p>
        </p:txBody>
      </p:sp>
      <p:sp>
        <p:nvSpPr>
          <p:cNvPr id="237" name="圆角矩形 236"/>
          <p:cNvSpPr/>
          <p:nvPr/>
        </p:nvSpPr>
        <p:spPr>
          <a:xfrm>
            <a:off x="7553325" y="1143000"/>
            <a:ext cx="4029075" cy="1028700"/>
          </a:xfrm>
          <a:prstGeom prst="roundRect">
            <a:avLst>
              <a:gd name="adj" fmla="val 1203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238" name="圆角矩形 237"/>
          <p:cNvSpPr/>
          <p:nvPr/>
        </p:nvSpPr>
        <p:spPr>
          <a:xfrm>
            <a:off x="7705725" y="1266825"/>
            <a:ext cx="323850" cy="323850"/>
          </a:xfrm>
          <a:prstGeom prst="roundRect">
            <a:avLst>
              <a:gd name="adj" fmla="val 26471"/>
            </a:avLst>
          </a:prstGeom>
          <a:solidFill>
            <a:srgbClr val="EFF6FF"/>
          </a:solidFill>
        </p:spPr>
        <p:txBody>
          <a:bodyPr/>
          <a:p/>
        </p:txBody>
      </p:sp>
      <p:sp>
        <p:nvSpPr>
          <p:cNvPr id="239" name="文本框 238" descr="{&quot;isTemplate&quot;:true,&quot;type&quot;:&quot;text&quot;}"/>
          <p:cNvSpPr txBox="1"/>
          <p:nvPr/>
        </p:nvSpPr>
        <p:spPr>
          <a:xfrm>
            <a:off x="7791450" y="1333500"/>
            <a:ext cx="152400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3B82F6"/>
                </a:solidFill>
                <a:latin typeface="Source Han Sans SC"/>
                <a:ea typeface="Source Han Sans SC"/>
              </a:rPr>
              <a:t>素</a:t>
            </a:r>
            <a:endParaRPr lang="zh-CN" sz="1200" b="1">
              <a:solidFill>
                <a:srgbClr val="3B82F6"/>
              </a:solidFill>
              <a:latin typeface="Source Han Sans SC"/>
              <a:ea typeface="Source Han Sans SC"/>
            </a:endParaRPr>
          </a:p>
        </p:txBody>
      </p:sp>
      <p:sp>
        <p:nvSpPr>
          <p:cNvPr id="240" name="文本框 239" descr="{&quot;isTemplate&quot;:true,&quot;type&quot;:&quot;text&quot;}"/>
          <p:cNvSpPr txBox="1"/>
          <p:nvPr/>
        </p:nvSpPr>
        <p:spPr>
          <a:xfrm>
            <a:off x="8162925" y="1266825"/>
            <a:ext cx="3267075" cy="2095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0F172A"/>
                </a:solidFill>
                <a:latin typeface="Source Han Sans SC"/>
                <a:ea typeface="Source Han Sans SC"/>
              </a:rPr>
              <a:t>素材库</a:t>
            </a:r>
            <a:endParaRPr lang="zh-CN" sz="1350" b="1">
              <a:solidFill>
                <a:srgbClr val="0F172A"/>
              </a:solidFill>
              <a:latin typeface="Source Han Sans SC"/>
              <a:ea typeface="Source Han Sans SC"/>
            </a:endParaRPr>
          </a:p>
        </p:txBody>
      </p:sp>
      <p:sp>
        <p:nvSpPr>
          <p:cNvPr id="241" name="文本框 240" descr="{&quot;isTemplate&quot;:true,&quot;type&quot;:&quot;text&quot;}"/>
          <p:cNvSpPr txBox="1"/>
          <p:nvPr/>
        </p:nvSpPr>
        <p:spPr>
          <a:xfrm>
            <a:off x="8162925" y="1524000"/>
            <a:ext cx="3267075" cy="457200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940">
                <a:solidFill>
                  <a:srgbClr val="64748B"/>
                </a:solidFill>
                <a:latin typeface="Source Han Sans SC"/>
                <a:ea typeface="Source Han Sans SC"/>
              </a:rPr>
              <a:t>90 </a:t>
            </a:r>
            <a:r>
              <a:rPr lang="zh-CN" sz="940">
                <a:solidFill>
                  <a:srgbClr val="64748B"/>
                </a:solidFill>
                <a:latin typeface="Source Han Sans SC"/>
                <a:ea typeface="Source Han Sans SC"/>
              </a:rPr>
              <a:t>篇入库、</a:t>
            </a:r>
            <a:r>
              <a:rPr lang="en-US" sz="940">
                <a:solidFill>
                  <a:srgbClr val="64748B"/>
                </a:solidFill>
                <a:latin typeface="Source Han Sans SC"/>
                <a:ea typeface="Source Han Sans SC"/>
              </a:rPr>
              <a:t>270 </a:t>
            </a:r>
            <a:r>
              <a:rPr lang="zh-CN" sz="940">
                <a:solidFill>
                  <a:srgbClr val="64748B"/>
                </a:solidFill>
                <a:latin typeface="Source Han Sans SC"/>
                <a:ea typeface="Source Han Sans SC"/>
              </a:rPr>
              <a:t>分块，按领域与平台筛选，支持语义检索与风格标签</a:t>
            </a:r>
            <a:endParaRPr lang="zh-CN" sz="940">
              <a:solidFill>
                <a:srgbClr val="64748B"/>
              </a:solidFill>
              <a:latin typeface="Source Han Sans SC"/>
              <a:ea typeface="Source Han Sans SC"/>
            </a:endParaRPr>
          </a:p>
        </p:txBody>
      </p:sp>
      <p:sp>
        <p:nvSpPr>
          <p:cNvPr id="242" name="圆角矩形 241"/>
          <p:cNvSpPr/>
          <p:nvPr/>
        </p:nvSpPr>
        <p:spPr>
          <a:xfrm>
            <a:off x="3409950" y="2286000"/>
            <a:ext cx="4029075" cy="800100"/>
          </a:xfrm>
          <a:prstGeom prst="roundRect">
            <a:avLst>
              <a:gd name="adj" fmla="val 1547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243" name="圆角矩形 242"/>
          <p:cNvSpPr/>
          <p:nvPr/>
        </p:nvSpPr>
        <p:spPr>
          <a:xfrm>
            <a:off x="3562350" y="2409825"/>
            <a:ext cx="323850" cy="323850"/>
          </a:xfrm>
          <a:prstGeom prst="roundRect">
            <a:avLst>
              <a:gd name="adj" fmla="val 26471"/>
            </a:avLst>
          </a:prstGeom>
          <a:solidFill>
            <a:srgbClr val="EFF6FF"/>
          </a:solidFill>
        </p:spPr>
        <p:txBody>
          <a:bodyPr/>
          <a:p/>
        </p:txBody>
      </p:sp>
      <p:sp>
        <p:nvSpPr>
          <p:cNvPr id="244" name="文本框 243" descr="{&quot;isTemplate&quot;:true,&quot;type&quot;:&quot;text&quot;}"/>
          <p:cNvSpPr txBox="1"/>
          <p:nvPr/>
        </p:nvSpPr>
        <p:spPr>
          <a:xfrm>
            <a:off x="3648075" y="2476500"/>
            <a:ext cx="152400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3B82F6"/>
                </a:solidFill>
                <a:latin typeface="Source Han Sans SC"/>
                <a:ea typeface="Source Han Sans SC"/>
              </a:rPr>
              <a:t>题</a:t>
            </a:r>
            <a:endParaRPr lang="zh-CN" sz="1200" b="1">
              <a:solidFill>
                <a:srgbClr val="3B82F6"/>
              </a:solidFill>
              <a:latin typeface="Source Han Sans SC"/>
              <a:ea typeface="Source Han Sans SC"/>
            </a:endParaRPr>
          </a:p>
        </p:txBody>
      </p:sp>
      <p:sp>
        <p:nvSpPr>
          <p:cNvPr id="245" name="文本框 244" descr="{&quot;isTemplate&quot;:true,&quot;type&quot;:&quot;text&quot;}"/>
          <p:cNvSpPr txBox="1"/>
          <p:nvPr/>
        </p:nvSpPr>
        <p:spPr>
          <a:xfrm>
            <a:off x="4019550" y="2409825"/>
            <a:ext cx="3267075" cy="2095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0F172A"/>
                </a:solidFill>
                <a:latin typeface="Source Han Sans SC"/>
                <a:ea typeface="Source Han Sans SC"/>
              </a:rPr>
              <a:t>选题列表</a:t>
            </a:r>
            <a:endParaRPr lang="zh-CN" sz="1350" b="1">
              <a:solidFill>
                <a:srgbClr val="0F172A"/>
              </a:solidFill>
              <a:latin typeface="Source Han Sans SC"/>
              <a:ea typeface="Source Han Sans SC"/>
            </a:endParaRPr>
          </a:p>
        </p:txBody>
      </p:sp>
      <p:sp>
        <p:nvSpPr>
          <p:cNvPr id="246" name="文本框 245" descr="{&quot;isTemplate&quot;:true,&quot;type&quot;:&quot;text&quot;}"/>
          <p:cNvSpPr txBox="1"/>
          <p:nvPr/>
        </p:nvSpPr>
        <p:spPr>
          <a:xfrm>
            <a:off x="4019550" y="2667000"/>
            <a:ext cx="3267075" cy="2286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940">
                <a:solidFill>
                  <a:srgbClr val="64748B"/>
                </a:solidFill>
                <a:latin typeface="Source Han Sans SC"/>
                <a:ea typeface="Source Han Sans SC"/>
              </a:rPr>
              <a:t>一句话生成多角度选题；热点可直传，领域与角度一并继承</a:t>
            </a:r>
            <a:endParaRPr lang="zh-CN" sz="940">
              <a:solidFill>
                <a:srgbClr val="64748B"/>
              </a:solidFill>
              <a:latin typeface="Source Han Sans SC"/>
              <a:ea typeface="Source Han Sans SC"/>
            </a:endParaRPr>
          </a:p>
        </p:txBody>
      </p:sp>
      <p:sp>
        <p:nvSpPr>
          <p:cNvPr id="247" name="圆角矩形 246"/>
          <p:cNvSpPr/>
          <p:nvPr/>
        </p:nvSpPr>
        <p:spPr>
          <a:xfrm>
            <a:off x="7553325" y="2286000"/>
            <a:ext cx="4029075" cy="800100"/>
          </a:xfrm>
          <a:prstGeom prst="roundRect">
            <a:avLst>
              <a:gd name="adj" fmla="val 1547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248" name="圆角矩形 247"/>
          <p:cNvSpPr/>
          <p:nvPr/>
        </p:nvSpPr>
        <p:spPr>
          <a:xfrm>
            <a:off x="7705725" y="2409825"/>
            <a:ext cx="323850" cy="323850"/>
          </a:xfrm>
          <a:prstGeom prst="roundRect">
            <a:avLst>
              <a:gd name="adj" fmla="val 26471"/>
            </a:avLst>
          </a:prstGeom>
          <a:solidFill>
            <a:srgbClr val="EFF6FF"/>
          </a:solidFill>
        </p:spPr>
        <p:txBody>
          <a:bodyPr/>
          <a:p/>
        </p:txBody>
      </p:sp>
      <p:sp>
        <p:nvSpPr>
          <p:cNvPr id="249" name="文本框 248" descr="{&quot;isTemplate&quot;:true,&quot;type&quot;:&quot;text&quot;}"/>
          <p:cNvSpPr txBox="1"/>
          <p:nvPr/>
        </p:nvSpPr>
        <p:spPr>
          <a:xfrm>
            <a:off x="7791450" y="2476500"/>
            <a:ext cx="152400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3B82F6"/>
                </a:solidFill>
                <a:latin typeface="Source Han Sans SC"/>
                <a:ea typeface="Source Han Sans SC"/>
              </a:rPr>
              <a:t>撰</a:t>
            </a:r>
            <a:endParaRPr lang="zh-CN" sz="1200" b="1">
              <a:solidFill>
                <a:srgbClr val="3B82F6"/>
              </a:solidFill>
              <a:latin typeface="Source Han Sans SC"/>
              <a:ea typeface="Source Han Sans SC"/>
            </a:endParaRPr>
          </a:p>
        </p:txBody>
      </p:sp>
      <p:sp>
        <p:nvSpPr>
          <p:cNvPr id="250" name="文本框 249" descr="{&quot;isTemplate&quot;:true,&quot;type&quot;:&quot;text&quot;}"/>
          <p:cNvSpPr txBox="1"/>
          <p:nvPr/>
        </p:nvSpPr>
        <p:spPr>
          <a:xfrm>
            <a:off x="8162925" y="2409825"/>
            <a:ext cx="3267075" cy="2095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0F172A"/>
                </a:solidFill>
                <a:latin typeface="Source Han Sans SC"/>
                <a:ea typeface="Source Han Sans SC"/>
              </a:rPr>
              <a:t>文案生成</a:t>
            </a:r>
            <a:endParaRPr lang="zh-CN" sz="1350" b="1">
              <a:solidFill>
                <a:srgbClr val="0F172A"/>
              </a:solidFill>
              <a:latin typeface="Source Han Sans SC"/>
              <a:ea typeface="Source Han Sans SC"/>
            </a:endParaRPr>
          </a:p>
        </p:txBody>
      </p:sp>
      <p:sp>
        <p:nvSpPr>
          <p:cNvPr id="251" name="文本框 250" descr="{&quot;isTemplate&quot;:true,&quot;type&quot;:&quot;text&quot;}"/>
          <p:cNvSpPr txBox="1"/>
          <p:nvPr/>
        </p:nvSpPr>
        <p:spPr>
          <a:xfrm>
            <a:off x="8162925" y="2667000"/>
            <a:ext cx="3267075" cy="2286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940">
                <a:solidFill>
                  <a:srgbClr val="64748B"/>
                </a:solidFill>
                <a:latin typeface="Source Han Sans SC"/>
                <a:ea typeface="Source Han Sans SC"/>
              </a:rPr>
              <a:t>RAG </a:t>
            </a:r>
            <a:r>
              <a:rPr lang="zh-CN" sz="940">
                <a:solidFill>
                  <a:srgbClr val="64748B"/>
                </a:solidFill>
                <a:latin typeface="Source Han Sans SC"/>
                <a:ea typeface="Source Han Sans SC"/>
              </a:rPr>
              <a:t>两阶段检索增强，单次产出</a:t>
            </a:r>
            <a:r>
              <a:rPr lang="en-US" sz="940">
                <a:solidFill>
                  <a:srgbClr val="64748B"/>
                </a:solidFill>
                <a:latin typeface="Source Han Sans SC"/>
                <a:ea typeface="Source Han Sans SC"/>
              </a:rPr>
              <a:t> ≥3 </a:t>
            </a:r>
            <a:r>
              <a:rPr lang="zh-CN" sz="940">
                <a:solidFill>
                  <a:srgbClr val="64748B"/>
                </a:solidFill>
                <a:latin typeface="Source Han Sans SC"/>
                <a:ea typeface="Source Han Sans SC"/>
              </a:rPr>
              <a:t>个风格版本并做结构校验</a:t>
            </a:r>
            <a:endParaRPr lang="zh-CN" sz="940">
              <a:solidFill>
                <a:srgbClr val="64748B"/>
              </a:solidFill>
              <a:latin typeface="Source Han Sans SC"/>
              <a:ea typeface="Source Han Sans SC"/>
            </a:endParaRPr>
          </a:p>
        </p:txBody>
      </p:sp>
      <p:sp>
        <p:nvSpPr>
          <p:cNvPr id="252" name="圆角矩形 251"/>
          <p:cNvSpPr/>
          <p:nvPr/>
        </p:nvSpPr>
        <p:spPr>
          <a:xfrm>
            <a:off x="3409950" y="3200400"/>
            <a:ext cx="4029075" cy="1028700"/>
          </a:xfrm>
          <a:prstGeom prst="roundRect">
            <a:avLst>
              <a:gd name="adj" fmla="val 1203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253" name="圆角矩形 252"/>
          <p:cNvSpPr/>
          <p:nvPr/>
        </p:nvSpPr>
        <p:spPr>
          <a:xfrm>
            <a:off x="3562350" y="3324225"/>
            <a:ext cx="323850" cy="323850"/>
          </a:xfrm>
          <a:prstGeom prst="roundRect">
            <a:avLst>
              <a:gd name="adj" fmla="val 26471"/>
            </a:avLst>
          </a:prstGeom>
          <a:solidFill>
            <a:srgbClr val="EFF6FF"/>
          </a:solidFill>
        </p:spPr>
        <p:txBody>
          <a:bodyPr/>
          <a:p/>
        </p:txBody>
      </p:sp>
      <p:sp>
        <p:nvSpPr>
          <p:cNvPr id="254" name="文本框 253" descr="{&quot;isTemplate&quot;:true,&quot;type&quot;:&quot;text&quot;}"/>
          <p:cNvSpPr txBox="1"/>
          <p:nvPr/>
        </p:nvSpPr>
        <p:spPr>
          <a:xfrm>
            <a:off x="3648075" y="3390900"/>
            <a:ext cx="152400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3B82F6"/>
                </a:solidFill>
                <a:latin typeface="Source Han Sans SC"/>
                <a:ea typeface="Source Han Sans SC"/>
              </a:rPr>
              <a:t>适</a:t>
            </a:r>
            <a:endParaRPr lang="zh-CN" sz="1200" b="1">
              <a:solidFill>
                <a:srgbClr val="3B82F6"/>
              </a:solidFill>
              <a:latin typeface="Source Han Sans SC"/>
              <a:ea typeface="Source Han Sans SC"/>
            </a:endParaRPr>
          </a:p>
        </p:txBody>
      </p:sp>
      <p:sp>
        <p:nvSpPr>
          <p:cNvPr id="255" name="文本框 254" descr="{&quot;isTemplate&quot;:true,&quot;type&quot;:&quot;text&quot;}"/>
          <p:cNvSpPr txBox="1"/>
          <p:nvPr/>
        </p:nvSpPr>
        <p:spPr>
          <a:xfrm>
            <a:off x="4019550" y="3324225"/>
            <a:ext cx="3267075" cy="2095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0F172A"/>
                </a:solidFill>
                <a:latin typeface="Source Han Sans SC"/>
                <a:ea typeface="Source Han Sans SC"/>
              </a:rPr>
              <a:t>平台适配</a:t>
            </a:r>
            <a:endParaRPr lang="zh-CN" sz="1350" b="1">
              <a:solidFill>
                <a:srgbClr val="0F172A"/>
              </a:solidFill>
              <a:latin typeface="Source Han Sans SC"/>
              <a:ea typeface="Source Han Sans SC"/>
            </a:endParaRPr>
          </a:p>
        </p:txBody>
      </p:sp>
      <p:sp>
        <p:nvSpPr>
          <p:cNvPr id="256" name="文本框 255" descr="{&quot;isTemplate&quot;:true,&quot;type&quot;:&quot;text&quot;}"/>
          <p:cNvSpPr txBox="1"/>
          <p:nvPr/>
        </p:nvSpPr>
        <p:spPr>
          <a:xfrm>
            <a:off x="4019550" y="3581400"/>
            <a:ext cx="3267075" cy="457200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940">
                <a:solidFill>
                  <a:srgbClr val="64748B"/>
                </a:solidFill>
                <a:latin typeface="Source Han Sans SC"/>
                <a:ea typeface="Source Han Sans SC"/>
              </a:rPr>
              <a:t>按三平台硬性规范改写标题、标签与篇幅，导出前给出符合性检查</a:t>
            </a:r>
            <a:endParaRPr lang="zh-CN" sz="940">
              <a:solidFill>
                <a:srgbClr val="64748B"/>
              </a:solidFill>
              <a:latin typeface="Source Han Sans SC"/>
              <a:ea typeface="Source Han Sans SC"/>
            </a:endParaRPr>
          </a:p>
        </p:txBody>
      </p:sp>
      <p:sp>
        <p:nvSpPr>
          <p:cNvPr id="257" name="圆角矩形 256"/>
          <p:cNvSpPr/>
          <p:nvPr/>
        </p:nvSpPr>
        <p:spPr>
          <a:xfrm>
            <a:off x="7553325" y="3200400"/>
            <a:ext cx="4029075" cy="1028700"/>
          </a:xfrm>
          <a:prstGeom prst="roundRect">
            <a:avLst>
              <a:gd name="adj" fmla="val 1203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258" name="圆角矩形 257"/>
          <p:cNvSpPr/>
          <p:nvPr/>
        </p:nvSpPr>
        <p:spPr>
          <a:xfrm>
            <a:off x="7705725" y="3324225"/>
            <a:ext cx="323850" cy="323850"/>
          </a:xfrm>
          <a:prstGeom prst="roundRect">
            <a:avLst>
              <a:gd name="adj" fmla="val 26471"/>
            </a:avLst>
          </a:prstGeom>
          <a:solidFill>
            <a:srgbClr val="EFF6FF"/>
          </a:solidFill>
        </p:spPr>
        <p:txBody>
          <a:bodyPr/>
          <a:p/>
        </p:txBody>
      </p:sp>
      <p:sp>
        <p:nvSpPr>
          <p:cNvPr id="259" name="文本框 258" descr="{&quot;isTemplate&quot;:true,&quot;type&quot;:&quot;text&quot;}"/>
          <p:cNvSpPr txBox="1"/>
          <p:nvPr/>
        </p:nvSpPr>
        <p:spPr>
          <a:xfrm>
            <a:off x="7791450" y="3390900"/>
            <a:ext cx="152400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3B82F6"/>
                </a:solidFill>
                <a:latin typeface="Source Han Sans SC"/>
                <a:ea typeface="Source Han Sans SC"/>
              </a:rPr>
              <a:t>人</a:t>
            </a:r>
            <a:endParaRPr lang="zh-CN" sz="1200" b="1">
              <a:solidFill>
                <a:srgbClr val="3B82F6"/>
              </a:solidFill>
              <a:latin typeface="Source Han Sans SC"/>
              <a:ea typeface="Source Han Sans SC"/>
            </a:endParaRPr>
          </a:p>
        </p:txBody>
      </p:sp>
      <p:sp>
        <p:nvSpPr>
          <p:cNvPr id="260" name="文本框 259" descr="{&quot;isTemplate&quot;:true,&quot;type&quot;:&quot;text&quot;}"/>
          <p:cNvSpPr txBox="1"/>
          <p:nvPr/>
        </p:nvSpPr>
        <p:spPr>
          <a:xfrm>
            <a:off x="8162925" y="3324225"/>
            <a:ext cx="3267075" cy="2095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0F172A"/>
                </a:solidFill>
                <a:latin typeface="Source Han Sans SC"/>
                <a:ea typeface="Source Han Sans SC"/>
              </a:rPr>
              <a:t>人设设定</a:t>
            </a:r>
            <a:endParaRPr lang="zh-CN" sz="1350" b="1">
              <a:solidFill>
                <a:srgbClr val="0F172A"/>
              </a:solidFill>
              <a:latin typeface="Source Han Sans SC"/>
              <a:ea typeface="Source Han Sans SC"/>
            </a:endParaRPr>
          </a:p>
        </p:txBody>
      </p:sp>
      <p:sp>
        <p:nvSpPr>
          <p:cNvPr id="261" name="文本框 260" descr="{&quot;isTemplate&quot;:true,&quot;type&quot;:&quot;text&quot;}"/>
          <p:cNvSpPr txBox="1"/>
          <p:nvPr/>
        </p:nvSpPr>
        <p:spPr>
          <a:xfrm>
            <a:off x="8162925" y="3581400"/>
            <a:ext cx="3267075" cy="2286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940">
                <a:solidFill>
                  <a:srgbClr val="64748B"/>
                </a:solidFill>
                <a:latin typeface="Source Han Sans SC"/>
                <a:ea typeface="Source Han Sans SC"/>
              </a:rPr>
              <a:t>领域、受众、语气可配置，作为前置约束注入每一次生成</a:t>
            </a:r>
            <a:endParaRPr lang="zh-CN" sz="940">
              <a:solidFill>
                <a:srgbClr val="64748B"/>
              </a:solidFill>
              <a:latin typeface="Source Han Sans SC"/>
              <a:ea typeface="Source Han Sans SC"/>
            </a:endParaRPr>
          </a:p>
        </p:txBody>
      </p:sp>
      <p:sp>
        <p:nvSpPr>
          <p:cNvPr id="262" name="圆角矩形 261"/>
          <p:cNvSpPr/>
          <p:nvPr/>
        </p:nvSpPr>
        <p:spPr>
          <a:xfrm>
            <a:off x="609600" y="4381500"/>
            <a:ext cx="10972800" cy="171450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90500" dist="38100" dir="540000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263" name="文本框 262" descr="{&quot;isTemplate&quot;:true,&quot;type&quot;:&quot;text&quot;}"/>
          <p:cNvSpPr txBox="1"/>
          <p:nvPr/>
        </p:nvSpPr>
        <p:spPr>
          <a:xfrm>
            <a:off x="857250" y="4924425"/>
            <a:ext cx="1257300" cy="1524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150">
                <a:solidFill>
                  <a:srgbClr val="94A3B8"/>
                </a:solidFill>
                <a:latin typeface="Source Han Sans SC"/>
                <a:ea typeface="Source Han Sans SC"/>
              </a:rPr>
              <a:t>SCALE</a:t>
            </a:r>
            <a:endParaRPr lang="en-US" sz="975" spc="150">
              <a:solidFill>
                <a:srgbClr val="94A3B8"/>
              </a:solidFill>
              <a:latin typeface="Source Han Sans SC"/>
              <a:ea typeface="Source Han Sans SC"/>
            </a:endParaRPr>
          </a:p>
        </p:txBody>
      </p:sp>
      <p:sp>
        <p:nvSpPr>
          <p:cNvPr id="264" name="文本框 263" descr="{&quot;isTemplate&quot;:true,&quot;type&quot;:&quot;text&quot;}"/>
          <p:cNvSpPr txBox="1"/>
          <p:nvPr/>
        </p:nvSpPr>
        <p:spPr>
          <a:xfrm>
            <a:off x="857250" y="5114925"/>
            <a:ext cx="1257300" cy="2000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0F172A"/>
                </a:solidFill>
                <a:latin typeface="Source Han Sans SC"/>
                <a:ea typeface="Source Han Sans SC"/>
              </a:rPr>
              <a:t>当前规模</a:t>
            </a:r>
            <a:endParaRPr lang="zh-CN" sz="1275" b="1">
              <a:solidFill>
                <a:srgbClr val="0F172A"/>
              </a:solidFill>
              <a:latin typeface="Source Han Sans SC"/>
              <a:ea typeface="Source Han Sans SC"/>
            </a:endParaRPr>
          </a:p>
        </p:txBody>
      </p:sp>
      <p:sp>
        <p:nvSpPr>
          <p:cNvPr id="265" name="文本框 264" descr="{&quot;isTemplate&quot;:true,&quot;type&quot;:&quot;text&quot;}"/>
          <p:cNvSpPr txBox="1"/>
          <p:nvPr/>
        </p:nvSpPr>
        <p:spPr>
          <a:xfrm>
            <a:off x="857250" y="5353050"/>
            <a:ext cx="1257300" cy="2095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900">
                <a:solidFill>
                  <a:srgbClr val="64748B"/>
                </a:solidFill>
                <a:latin typeface="Source Han Sans SC"/>
                <a:ea typeface="Source Han Sans SC"/>
              </a:rPr>
              <a:t>均为运行时实测</a:t>
            </a:r>
            <a:endParaRPr lang="zh-CN" sz="900">
              <a:solidFill>
                <a:srgbClr val="64748B"/>
              </a:solidFill>
              <a:latin typeface="Source Han Sans SC"/>
              <a:ea typeface="Source Han Sans SC"/>
            </a:endParaRPr>
          </a:p>
        </p:txBody>
      </p:sp>
      <p:sp>
        <p:nvSpPr>
          <p:cNvPr id="266" name="矩形 265"/>
          <p:cNvSpPr/>
          <p:nvPr/>
        </p:nvSpPr>
        <p:spPr>
          <a:xfrm>
            <a:off x="2114550" y="4857750"/>
            <a:ext cx="9525" cy="762000"/>
          </a:xfrm>
          <a:prstGeom prst="rect">
            <a:avLst/>
          </a:prstGeom>
          <a:solidFill>
            <a:srgbClr val="E2E8F0"/>
          </a:solidFill>
        </p:spPr>
        <p:txBody>
          <a:bodyPr/>
          <a:p/>
        </p:txBody>
      </p:sp>
      <p:sp>
        <p:nvSpPr>
          <p:cNvPr id="267" name="文本框 266" descr="{&quot;isTemplate&quot;:true,&quot;type&quot;:&quot;text&quot;}"/>
          <p:cNvSpPr txBox="1"/>
          <p:nvPr/>
        </p:nvSpPr>
        <p:spPr>
          <a:xfrm>
            <a:off x="2714625" y="4962525"/>
            <a:ext cx="381000" cy="3905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 spc="-75">
                <a:solidFill>
                  <a:srgbClr val="3B82F6"/>
                </a:solidFill>
                <a:latin typeface="Source Han Sans SC"/>
                <a:ea typeface="Source Han Sans SC"/>
              </a:rPr>
              <a:t>90</a:t>
            </a:r>
            <a:endParaRPr lang="en-US" sz="2550" b="1" spc="-75">
              <a:solidFill>
                <a:srgbClr val="3B82F6"/>
              </a:solidFill>
              <a:latin typeface="Source Han Sans SC"/>
              <a:ea typeface="Source Han Sans SC"/>
            </a:endParaRPr>
          </a:p>
        </p:txBody>
      </p:sp>
      <p:sp>
        <p:nvSpPr>
          <p:cNvPr id="268" name="文本框 267" descr="{&quot;isTemplate&quot;:true,&quot;type&quot;:&quot;text&quot;}"/>
          <p:cNvSpPr txBox="1"/>
          <p:nvPr/>
        </p:nvSpPr>
        <p:spPr>
          <a:xfrm>
            <a:off x="2600325" y="5372100"/>
            <a:ext cx="60007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40">
                <a:solidFill>
                  <a:srgbClr val="64748B"/>
                </a:solidFill>
                <a:latin typeface="Source Han Sans SC"/>
                <a:ea typeface="Source Han Sans SC"/>
              </a:rPr>
              <a:t>篇素材文本</a:t>
            </a:r>
            <a:endParaRPr lang="zh-CN" sz="940">
              <a:solidFill>
                <a:srgbClr val="64748B"/>
              </a:solidFill>
              <a:latin typeface="Source Han Sans SC"/>
              <a:ea typeface="Source Han Sans SC"/>
            </a:endParaRPr>
          </a:p>
        </p:txBody>
      </p:sp>
      <p:sp>
        <p:nvSpPr>
          <p:cNvPr id="269" name="文本框 268" descr="{&quot;isTemplate&quot;:true,&quot;type&quot;:&quot;text&quot;}"/>
          <p:cNvSpPr txBox="1"/>
          <p:nvPr/>
        </p:nvSpPr>
        <p:spPr>
          <a:xfrm>
            <a:off x="4181475" y="4962525"/>
            <a:ext cx="571500" cy="3905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 spc="-75">
                <a:solidFill>
                  <a:srgbClr val="3B82F6"/>
                </a:solidFill>
                <a:latin typeface="Source Han Sans SC"/>
                <a:ea typeface="Source Han Sans SC"/>
              </a:rPr>
              <a:t>270</a:t>
            </a:r>
            <a:endParaRPr lang="en-US" sz="2550" b="1" spc="-75">
              <a:solidFill>
                <a:srgbClr val="3B82F6"/>
              </a:solidFill>
              <a:latin typeface="Source Han Sans SC"/>
              <a:ea typeface="Source Han Sans SC"/>
            </a:endParaRPr>
          </a:p>
        </p:txBody>
      </p:sp>
      <p:sp>
        <p:nvSpPr>
          <p:cNvPr id="270" name="文本框 269" descr="{&quot;isTemplate&quot;:true,&quot;type&quot;:&quot;text&quot;}"/>
          <p:cNvSpPr txBox="1"/>
          <p:nvPr/>
        </p:nvSpPr>
        <p:spPr>
          <a:xfrm>
            <a:off x="4162425" y="5372100"/>
            <a:ext cx="60007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40">
                <a:solidFill>
                  <a:srgbClr val="64748B"/>
                </a:solidFill>
                <a:latin typeface="Source Han Sans SC"/>
                <a:ea typeface="Source Han Sans SC"/>
              </a:rPr>
              <a:t>个检索分块</a:t>
            </a:r>
            <a:endParaRPr lang="zh-CN" sz="940">
              <a:solidFill>
                <a:srgbClr val="64748B"/>
              </a:solidFill>
              <a:latin typeface="Source Han Sans SC"/>
              <a:ea typeface="Source Han Sans SC"/>
            </a:endParaRPr>
          </a:p>
        </p:txBody>
      </p:sp>
      <p:sp>
        <p:nvSpPr>
          <p:cNvPr id="271" name="文本框 270" descr="{&quot;isTemplate&quot;:true,&quot;type&quot;:&quot;text&quot;}"/>
          <p:cNvSpPr txBox="1"/>
          <p:nvPr/>
        </p:nvSpPr>
        <p:spPr>
          <a:xfrm>
            <a:off x="5734050" y="4962525"/>
            <a:ext cx="571500" cy="3905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 spc="-75">
                <a:solidFill>
                  <a:srgbClr val="3B82F6"/>
                </a:solidFill>
                <a:latin typeface="Source Han Sans SC"/>
                <a:ea typeface="Source Han Sans SC"/>
              </a:rPr>
              <a:t>180</a:t>
            </a:r>
            <a:endParaRPr lang="en-US" sz="2550" b="1" spc="-75">
              <a:solidFill>
                <a:srgbClr val="3B82F6"/>
              </a:solidFill>
              <a:latin typeface="Source Han Sans SC"/>
              <a:ea typeface="Source Han Sans SC"/>
            </a:endParaRPr>
          </a:p>
        </p:txBody>
      </p:sp>
      <p:sp>
        <p:nvSpPr>
          <p:cNvPr id="272" name="文本框 271" descr="{&quot;isTemplate&quot;:true,&quot;type&quot;:&quot;text&quot;}"/>
          <p:cNvSpPr txBox="1"/>
          <p:nvPr/>
        </p:nvSpPr>
        <p:spPr>
          <a:xfrm>
            <a:off x="5715000" y="5372100"/>
            <a:ext cx="60007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40">
                <a:solidFill>
                  <a:srgbClr val="64748B"/>
                </a:solidFill>
                <a:latin typeface="Source Han Sans SC"/>
                <a:ea typeface="Source Han Sans SC"/>
              </a:rPr>
              <a:t>条评测任务</a:t>
            </a:r>
            <a:endParaRPr lang="zh-CN" sz="940">
              <a:solidFill>
                <a:srgbClr val="64748B"/>
              </a:solidFill>
              <a:latin typeface="Source Han Sans SC"/>
              <a:ea typeface="Source Han Sans SC"/>
            </a:endParaRPr>
          </a:p>
        </p:txBody>
      </p:sp>
      <p:sp>
        <p:nvSpPr>
          <p:cNvPr id="273" name="文本框 272" descr="{&quot;isTemplate&quot;:true,&quot;type&quot;:&quot;text&quot;}"/>
          <p:cNvSpPr txBox="1"/>
          <p:nvPr/>
        </p:nvSpPr>
        <p:spPr>
          <a:xfrm>
            <a:off x="7477125" y="4962525"/>
            <a:ext cx="190500" cy="3905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 spc="-75">
                <a:solidFill>
                  <a:srgbClr val="3B82F6"/>
                </a:solidFill>
                <a:latin typeface="Source Han Sans SC"/>
                <a:ea typeface="Source Han Sans SC"/>
              </a:rPr>
              <a:t>6</a:t>
            </a:r>
            <a:endParaRPr lang="en-US" sz="2550" b="1" spc="-75">
              <a:solidFill>
                <a:srgbClr val="3B82F6"/>
              </a:solidFill>
              <a:latin typeface="Source Han Sans SC"/>
              <a:ea typeface="Source Han Sans SC"/>
            </a:endParaRPr>
          </a:p>
        </p:txBody>
      </p:sp>
      <p:sp>
        <p:nvSpPr>
          <p:cNvPr id="274" name="文本框 273" descr="{&quot;isTemplate&quot;:true,&quot;type&quot;:&quot;text&quot;}"/>
          <p:cNvSpPr txBox="1"/>
          <p:nvPr/>
        </p:nvSpPr>
        <p:spPr>
          <a:xfrm>
            <a:off x="7267575" y="5372100"/>
            <a:ext cx="60007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40">
                <a:solidFill>
                  <a:srgbClr val="64748B"/>
                </a:solidFill>
                <a:latin typeface="Source Han Sans SC"/>
                <a:ea typeface="Source Han Sans SC"/>
              </a:rPr>
              <a:t>个热榜来源</a:t>
            </a:r>
            <a:endParaRPr lang="zh-CN" sz="940">
              <a:solidFill>
                <a:srgbClr val="64748B"/>
              </a:solidFill>
              <a:latin typeface="Source Han Sans SC"/>
              <a:ea typeface="Source Han Sans SC"/>
            </a:endParaRPr>
          </a:p>
        </p:txBody>
      </p:sp>
      <p:sp>
        <p:nvSpPr>
          <p:cNvPr id="275" name="文本框 274" descr="{&quot;isTemplate&quot;:true,&quot;type&quot;:&quot;text&quot;}"/>
          <p:cNvSpPr txBox="1"/>
          <p:nvPr/>
        </p:nvSpPr>
        <p:spPr>
          <a:xfrm>
            <a:off x="8877300" y="4962525"/>
            <a:ext cx="381000" cy="3905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 spc="-75">
                <a:solidFill>
                  <a:srgbClr val="3B82F6"/>
                </a:solidFill>
                <a:latin typeface="Source Han Sans SC"/>
                <a:ea typeface="Source Han Sans SC"/>
              </a:rPr>
              <a:t>14</a:t>
            </a:r>
            <a:endParaRPr lang="en-US" sz="2550" b="1" spc="-75">
              <a:solidFill>
                <a:srgbClr val="3B82F6"/>
              </a:solidFill>
              <a:latin typeface="Source Han Sans SC"/>
              <a:ea typeface="Source Han Sans SC"/>
            </a:endParaRPr>
          </a:p>
        </p:txBody>
      </p:sp>
      <p:sp>
        <p:nvSpPr>
          <p:cNvPr id="276" name="文本框 275" descr="{&quot;isTemplate&quot;:true,&quot;type&quot;:&quot;text&quot;}"/>
          <p:cNvSpPr txBox="1"/>
          <p:nvPr/>
        </p:nvSpPr>
        <p:spPr>
          <a:xfrm>
            <a:off x="8829675" y="5372100"/>
            <a:ext cx="476250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40">
                <a:solidFill>
                  <a:srgbClr val="64748B"/>
                </a:solidFill>
                <a:latin typeface="Source Han Sans SC"/>
                <a:ea typeface="Source Han Sans SC"/>
              </a:rPr>
              <a:t>张数据表</a:t>
            </a:r>
            <a:endParaRPr lang="zh-CN" sz="940">
              <a:solidFill>
                <a:srgbClr val="64748B"/>
              </a:solidFill>
              <a:latin typeface="Source Han Sans SC"/>
              <a:ea typeface="Source Han Sans SC"/>
            </a:endParaRPr>
          </a:p>
        </p:txBody>
      </p:sp>
      <p:sp>
        <p:nvSpPr>
          <p:cNvPr id="277" name="文本框 276" descr="{&quot;isTemplate&quot;:true,&quot;type&quot;:&quot;text&quot;}"/>
          <p:cNvSpPr txBox="1"/>
          <p:nvPr/>
        </p:nvSpPr>
        <p:spPr>
          <a:xfrm>
            <a:off x="10372725" y="4962525"/>
            <a:ext cx="381000" cy="3905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 spc="-75">
                <a:solidFill>
                  <a:srgbClr val="3B82F6"/>
                </a:solidFill>
                <a:latin typeface="Source Han Sans SC"/>
                <a:ea typeface="Source Han Sans SC"/>
              </a:rPr>
              <a:t>19</a:t>
            </a:r>
            <a:endParaRPr lang="en-US" sz="2550" b="1" spc="-75">
              <a:solidFill>
                <a:srgbClr val="3B82F6"/>
              </a:solidFill>
              <a:latin typeface="Source Han Sans SC"/>
              <a:ea typeface="Source Han Sans SC"/>
            </a:endParaRPr>
          </a:p>
        </p:txBody>
      </p:sp>
      <p:sp>
        <p:nvSpPr>
          <p:cNvPr id="278" name="文本框 277" descr="{&quot;isTemplate&quot;:true,&quot;type&quot;:&quot;text&quot;}"/>
          <p:cNvSpPr txBox="1"/>
          <p:nvPr/>
        </p:nvSpPr>
        <p:spPr>
          <a:xfrm>
            <a:off x="10258425" y="5372100"/>
            <a:ext cx="60007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40">
                <a:solidFill>
                  <a:srgbClr val="64748B"/>
                </a:solidFill>
                <a:latin typeface="Source Han Sans SC"/>
                <a:ea typeface="Source Han Sans SC"/>
              </a:rPr>
              <a:t>个接口路由</a:t>
            </a:r>
            <a:endParaRPr lang="zh-CN" sz="940">
              <a:solidFill>
                <a:srgbClr val="64748B"/>
              </a:solidFill>
              <a:latin typeface="Source Han Sans SC"/>
              <a:ea typeface="Source Han Sans SC"/>
            </a:endParaRPr>
          </a:p>
        </p:txBody>
      </p:sp>
      <p:sp>
        <p:nvSpPr>
          <p:cNvPr id="279" name="圆角矩形 278"/>
          <p:cNvSpPr/>
          <p:nvPr/>
        </p:nvSpPr>
        <p:spPr>
          <a:xfrm>
            <a:off x="609600" y="6343650"/>
            <a:ext cx="95250" cy="95250"/>
          </a:xfrm>
          <a:prstGeom prst="roundRect">
            <a:avLst>
              <a:gd name="adj" fmla="val 20000"/>
            </a:avLst>
          </a:prstGeom>
          <a:gradFill>
            <a:gsLst>
              <a:gs pos="0">
                <a:srgbClr val="3B82F6"/>
              </a:gs>
              <a:gs pos="100000">
                <a:srgbClr val="06B6D4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280" name="文本框 279" descr="{&quot;isTemplate&quot;:true,&quot;type&quot;:&quot;text&quot;}"/>
          <p:cNvSpPr txBox="1"/>
          <p:nvPr/>
        </p:nvSpPr>
        <p:spPr>
          <a:xfrm>
            <a:off x="781050" y="6305550"/>
            <a:ext cx="20193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94A3B8"/>
                </a:solidFill>
                <a:latin typeface="Source Han Sans SC"/>
                <a:ea typeface="Source Han Sans SC"/>
              </a:rPr>
              <a:t>AI </a:t>
            </a:r>
            <a:r>
              <a:rPr lang="zh-CN" sz="1050">
                <a:solidFill>
                  <a:srgbClr val="94A3B8"/>
                </a:solidFill>
                <a:latin typeface="Source Han Sans SC"/>
                <a:ea typeface="Source Han Sans SC"/>
              </a:rPr>
              <a:t>自媒体内容创作助手</a:t>
            </a:r>
            <a:r>
              <a:rPr lang="en-US" sz="1050">
                <a:solidFill>
                  <a:srgbClr val="94A3B8"/>
                </a:solidFill>
                <a:latin typeface="Source Han Sans SC"/>
                <a:ea typeface="Source Han Sans SC"/>
              </a:rPr>
              <a:t> · </a:t>
            </a:r>
            <a:r>
              <a:rPr lang="zh-CN" sz="1050">
                <a:solidFill>
                  <a:srgbClr val="94A3B8"/>
                </a:solidFill>
                <a:latin typeface="Source Han Sans SC"/>
                <a:ea typeface="Source Han Sans SC"/>
              </a:rPr>
              <a:t>项目汇报</a:t>
            </a:r>
            <a:endParaRPr lang="zh-CN" sz="1050">
              <a:solidFill>
                <a:srgbClr val="94A3B8"/>
              </a:solidFill>
              <a:latin typeface="Source Han Sans SC"/>
              <a:ea typeface="Source Han Sans SC"/>
            </a:endParaRPr>
          </a:p>
        </p:txBody>
      </p:sp>
      <p:sp>
        <p:nvSpPr>
          <p:cNvPr id="281" name="文本框 280" descr="{&quot;isTemplate&quot;:true,&quot;type&quot;:&quot;text&quot;}"/>
          <p:cNvSpPr txBox="1"/>
          <p:nvPr/>
        </p:nvSpPr>
        <p:spPr>
          <a:xfrm>
            <a:off x="11125200" y="6305550"/>
            <a:ext cx="4572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94A3B8"/>
                </a:solidFill>
                <a:latin typeface="Source Han Sans SC"/>
                <a:ea typeface="Source Han Sans SC"/>
              </a:rPr>
              <a:t>05 / 14</a:t>
            </a:r>
            <a:endParaRPr lang="en-US" sz="1050">
              <a:solidFill>
                <a:srgbClr val="94A3B8"/>
              </a:solidFill>
              <a:latin typeface="Source Han Sans SC"/>
              <a:ea typeface="Source Han Sans SC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82" name="" descr="&lt;Slide style={{ width: 1280, height: 720, padding: '0 84px', fontFamily: '&quot;Source Han Sans SC&quot;, &quot;Noto Sans SC&quot;, &quot;PingFang SC&quot;, &quot;Microsoft YaHei&quot;, sans-serif', position: 'relative', overflow: 'hidden', background: '#0F172A' }}&gt;&#10;  &lt;Box style={{ position: 'absolute', top: 0, left: 0, width: 1280, height: 720, background: 'radial-gradient(circle at 18% 46%, rgba(59,130,246,0.20) 0%, rgba(15,23,42,0) 58%)' }} /&gt;&#10;&#10;  &lt;Box style={{ position: 'relative', flexDirection: 'row', alignItems: 'center', gap: 56, height: 720 }}&gt;&#10;    &lt;Box style={{ width: 380 }}&gt;&#10;      &lt;Text style={{ fontSize: 15, color: '#67E8F9', letterSpacing: 5 }}&gt;CHAPTER TWO&lt;/Text&gt;&#10;      &lt;Text style={{ fontSize: 210, fontWeight: 'bold', lineHeight: 0.9, letterSpacing: -10, marginTop: 6, backgroundImage: 'linear-gradient(160deg, #60A5FA 0%, #22D3EE 100%)', backgroundClip: 'text', color: 'transparent' }}&gt;&#10;        02&#10;      &lt;/Text&gt;&#10;      &lt;Box style={{ width: 52, height: 3, background: '#06B6D4', borderRadius: 2, marginTop: 18 }} /&gt;&#10;      &lt;Text style={{ fontSize: 54, fontWeight: 'bold', color: '#FFFFFF', marginTop: 22 }}&gt;技术方案&lt;/Text&gt;&#10;    &lt;/Box&gt;&#10;&#10;    &lt;Box style={{ flex: 1 }}&gt;&#10;      &lt;Text style={{ fontSize: 18, color: '#CBD5E1', lineHeight: 1.8 }}&gt;&#10;        系统能跑起来靠的是三条技术主线，这一章逐条拆开：架构怎么分层、热榜怎么从六个来源变成可比的数据、推荐又怎么被度量。&#10;      &lt;/Text&gt;&#10;&#10;      &lt;Box style={{ flexDirection: 'column', gap: 14, marginTop: 34 }}&gt;&#10;        &lt;Box style={{ flexDirection: 'row', alignItems: 'center', gap: 18, background: 'rgba(255,255,255,0.05)', border: '1px solid rgba(148,163,184,0.22)', borderRadius: 12, padding: '16px 20px' }}&gt;&#10;          &lt;Text style={{ fontSize: 26, fontWeight: 'bold', color: '#38BDF8', letterSpacing: -1, width: 44 }}&gt;07&lt;/Text&gt;&#10;          &lt;Box style={{ flex: 1 }}&gt;&#10;            &lt;Text style={{ fontSize: 19, fontWeight: 'bold', color: '#FFFFFF' }}&gt;分层架构与三条架构决策&lt;/Text&gt;&#10;            &lt;Text style={{ fontSize: 13.5, color: '#94A3B8', marginTop: 3 }}&gt;五层职责边界 · 两阶段检索 · 字段加密 · 流式输出&lt;/Text&gt;&#10;          &lt;/Box&gt;&#10;        &lt;/Box&gt;&#10;        &lt;Box style={{ flexDirection: 'row', alignItems: 'center', gap: 18, background: 'rgba(255,255,255,0.05)', border: '1px solid rgba(148,163,184,0.22)', borderRadius: 12, padding: '16px 20px' }}&gt;&#10;          &lt;Text style={{ fontSize: 26, fontWeight: 'bold', color: '#38BDF8', letterSpacing: -1, width: 44 }}&gt;08&lt;/Text&gt;&#10;          &lt;Box style={{ flex: 1 }}&gt;&#10;            &lt;Text style={{ fontSize: 19, fontWeight: 'bold', color: '#FFFFFF' }}&gt;热点采集的三层数据模型&lt;/Text&gt;&#10;            &lt;Text style={{ fontSize: 13.5, color: '#94A3B8', marginTop: 3 }}&gt;原始层留证据 · 聚合层做可比 · 物化层保读性能&lt;/Text&gt;&#10;          &lt;/Box&gt;&#10;        &lt;/Box&gt;&#10;        &lt;Box style={{ flexDirection: 'row', alignItems: 'center', gap: 18, background: 'rgba(255,255,255,0.05)', border: '1px solid rgba(148,163,184,0.22)', borderRadius: 12, padding: '16px 20px' }}&gt;&#10;          &lt;Text style={{ fontSize: 26, fontWeight: 'bold', color: '#38BDF8', letterSpacing: -1, width: 44 }}&gt;09&lt;/Text&gt;&#10;          &lt;Box style={{ flex: 1 }}&gt;&#10;            &lt;Text style={{ fontSize: 19, fontWeight: 'bold', color: '#FFFFFF' }}&gt;推荐流与采纳漏斗&lt;/Text&gt;&#10;            &lt;Text style={{ fontSize: 13.5, color: '#94A3B8', marginTop: 3 }}&gt;五因子打分 · 命中不足不凑数 · 曝光到出题的三级度量&lt;/Text&gt;&#10;          &lt;/Box&gt;&#10;        &lt;/Box&gt;&#10;      &lt;/Box&gt;&#10;    &lt;/Box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矩形 28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</p:spPr>
        <p:txBody>
          <a:bodyPr/>
          <a:p/>
        </p:txBody>
      </p:sp>
      <p:sp>
        <p:nvSpPr>
          <p:cNvPr id="284" name="矩形 28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3B82F6">
                  <a:alpha val="20000"/>
                </a:srgbClr>
              </a:gs>
              <a:gs pos="58000">
                <a:srgbClr val="0F172A">
                  <a:alpha val="0"/>
                </a:srgbClr>
              </a:gs>
            </a:gsLst>
            <a:path path="circle">
              <a:fillToRect l="18000" t="46000" r="82000" b="54000"/>
            </a:path>
          </a:gradFill>
        </p:spPr>
        <p:txBody>
          <a:bodyPr/>
          <a:p/>
        </p:txBody>
      </p:sp>
      <p:sp>
        <p:nvSpPr>
          <p:cNvPr id="285" name="文本框 284" descr="{&quot;isTemplate&quot;:true,&quot;type&quot;:&quot;text&quot;}"/>
          <p:cNvSpPr txBox="1"/>
          <p:nvPr/>
        </p:nvSpPr>
        <p:spPr>
          <a:xfrm>
            <a:off x="800100" y="1724025"/>
            <a:ext cx="3619500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375">
                <a:solidFill>
                  <a:srgbClr val="67E8F9"/>
                </a:solidFill>
                <a:latin typeface="Source Han Sans SC"/>
                <a:ea typeface="Source Han Sans SC"/>
              </a:rPr>
              <a:t>CHAPTER TWO</a:t>
            </a:r>
            <a:endParaRPr lang="en-US" sz="1125" spc="375">
              <a:solidFill>
                <a:srgbClr val="67E8F9"/>
              </a:solidFill>
              <a:latin typeface="Source Han Sans SC"/>
              <a:ea typeface="Source Han Sans SC"/>
            </a:endParaRPr>
          </a:p>
        </p:txBody>
      </p:sp>
      <p:sp>
        <p:nvSpPr>
          <p:cNvPr id="286" name="文本框 285" descr="{&quot;isTemplate&quot;:true,&quot;type&quot;:&quot;text&quot;}"/>
          <p:cNvSpPr txBox="1"/>
          <p:nvPr/>
        </p:nvSpPr>
        <p:spPr>
          <a:xfrm>
            <a:off x="800100" y="1952625"/>
            <a:ext cx="3619500" cy="21621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90000"/>
              </a:lnSpc>
            </a:pPr>
            <a:r>
              <a:rPr lang="en-US" sz="15750" b="1" spc="-750">
                <a:gradFill>
                  <a:gsLst>
                    <a:gs pos="0">
                      <a:srgbClr val="60A5FA"/>
                    </a:gs>
                    <a:gs pos="100000">
                      <a:srgbClr val="22D3EE"/>
                    </a:gs>
                  </a:gsLst>
                  <a:lin ang="4200000" scaled="1"/>
                </a:gradFill>
                <a:latin typeface="Source Han Sans SC"/>
                <a:ea typeface="Source Han Sans SC"/>
              </a:rPr>
              <a:t>02</a:t>
            </a:r>
            <a:endParaRPr lang="en-US" sz="15750" b="1" spc="-750">
              <a:gradFill>
                <a:gsLst>
                  <a:gs pos="0">
                    <a:srgbClr val="60A5FA"/>
                  </a:gs>
                  <a:gs pos="100000">
                    <a:srgbClr val="22D3EE"/>
                  </a:gs>
                </a:gsLst>
                <a:lin ang="4200000" scaled="1"/>
              </a:gradFill>
              <a:latin typeface="Source Han Sans SC"/>
              <a:ea typeface="Source Han Sans SC"/>
            </a:endParaRPr>
          </a:p>
        </p:txBody>
      </p:sp>
      <p:sp>
        <p:nvSpPr>
          <p:cNvPr id="287" name="圆角矩形 286"/>
          <p:cNvSpPr/>
          <p:nvPr/>
        </p:nvSpPr>
        <p:spPr>
          <a:xfrm>
            <a:off x="800100" y="4286250"/>
            <a:ext cx="495300" cy="28575"/>
          </a:xfrm>
          <a:prstGeom prst="roundRect">
            <a:avLst>
              <a:gd name="adj" fmla="val 66667"/>
            </a:avLst>
          </a:prstGeom>
          <a:solidFill>
            <a:srgbClr val="06B6D4"/>
          </a:solidFill>
        </p:spPr>
        <p:txBody>
          <a:bodyPr/>
          <a:p/>
        </p:txBody>
      </p:sp>
      <p:sp>
        <p:nvSpPr>
          <p:cNvPr id="288" name="文本框 287" descr="{&quot;isTemplate&quot;:true,&quot;type&quot;:&quot;text&quot;}"/>
          <p:cNvSpPr txBox="1"/>
          <p:nvPr/>
        </p:nvSpPr>
        <p:spPr>
          <a:xfrm>
            <a:off x="800100" y="4524375"/>
            <a:ext cx="3619500" cy="6191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4050" b="1">
                <a:solidFill>
                  <a:srgbClr val="FFFFFF"/>
                </a:solidFill>
                <a:latin typeface="Source Han Sans SC"/>
                <a:ea typeface="Source Han Sans SC"/>
              </a:rPr>
              <a:t>技术方案</a:t>
            </a:r>
            <a:endParaRPr lang="zh-CN" sz="4050" b="1">
              <a:solidFill>
                <a:srgbClr val="FFFFFF"/>
              </a:solidFill>
              <a:latin typeface="Source Han Sans SC"/>
              <a:ea typeface="Source Han Sans SC"/>
            </a:endParaRPr>
          </a:p>
        </p:txBody>
      </p:sp>
      <p:sp>
        <p:nvSpPr>
          <p:cNvPr id="289" name="文本框 288" descr="{&quot;isTemplate&quot;:true,&quot;type&quot;:&quot;text&quot;}"/>
          <p:cNvSpPr txBox="1"/>
          <p:nvPr/>
        </p:nvSpPr>
        <p:spPr>
          <a:xfrm>
            <a:off x="4953000" y="1695450"/>
            <a:ext cx="6438900" cy="742950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80000"/>
              </a:lnSpc>
            </a:pPr>
            <a:r>
              <a:rPr lang="zh-CN" sz="1350">
                <a:solidFill>
                  <a:srgbClr val="CBD5E1"/>
                </a:solidFill>
                <a:latin typeface="Source Han Sans SC"/>
                <a:ea typeface="Source Han Sans SC"/>
              </a:rPr>
              <a:t>系统能跑起来靠的是三条技术主线，这一章逐条拆开：架构怎么分层、热榜怎么从六个来源变成可比的数据、推荐又怎么被度量。</a:t>
            </a:r>
            <a:endParaRPr lang="zh-CN" sz="1350">
              <a:solidFill>
                <a:srgbClr val="CBD5E1"/>
              </a:solidFill>
              <a:latin typeface="Source Han Sans SC"/>
              <a:ea typeface="Source Han Sans SC"/>
            </a:endParaRPr>
          </a:p>
        </p:txBody>
      </p:sp>
      <p:sp>
        <p:nvSpPr>
          <p:cNvPr id="290" name="圆角矩形 289"/>
          <p:cNvSpPr/>
          <p:nvPr/>
        </p:nvSpPr>
        <p:spPr>
          <a:xfrm>
            <a:off x="4953000" y="2762250"/>
            <a:ext cx="6438900" cy="714375"/>
          </a:xfrm>
          <a:prstGeom prst="roundRect">
            <a:avLst>
              <a:gd name="adj" fmla="val 16000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94A3B8">
                <a:alpha val="22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91" name="文本框 290" descr="{&quot;isTemplate&quot;:true,&quot;type&quot;:&quot;text&quot;}"/>
          <p:cNvSpPr txBox="1"/>
          <p:nvPr/>
        </p:nvSpPr>
        <p:spPr>
          <a:xfrm>
            <a:off x="5143500" y="2971800"/>
            <a:ext cx="419100" cy="3048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 spc="-75">
                <a:solidFill>
                  <a:srgbClr val="38BDF8"/>
                </a:solidFill>
                <a:latin typeface="Source Han Sans SC"/>
                <a:ea typeface="Source Han Sans SC"/>
              </a:rPr>
              <a:t>07</a:t>
            </a:r>
            <a:endParaRPr lang="en-US" sz="1950" b="1" spc="-75">
              <a:solidFill>
                <a:srgbClr val="38BDF8"/>
              </a:solidFill>
              <a:latin typeface="Source Han Sans SC"/>
              <a:ea typeface="Source Han Sans SC"/>
            </a:endParaRPr>
          </a:p>
        </p:txBody>
      </p:sp>
      <p:sp>
        <p:nvSpPr>
          <p:cNvPr id="292" name="文本框 291" descr="{&quot;isTemplate&quot;:true,&quot;type&quot;:&quot;text&quot;}"/>
          <p:cNvSpPr txBox="1"/>
          <p:nvPr/>
        </p:nvSpPr>
        <p:spPr>
          <a:xfrm>
            <a:off x="5734050" y="2914650"/>
            <a:ext cx="5467350" cy="2190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FFFFFF"/>
                </a:solidFill>
                <a:latin typeface="Source Han Sans SC"/>
                <a:ea typeface="Source Han Sans SC"/>
              </a:rPr>
              <a:t>分层架构与三条架构决策</a:t>
            </a:r>
            <a:endParaRPr lang="zh-CN" sz="1425" b="1">
              <a:solidFill>
                <a:srgbClr val="FFFFFF"/>
              </a:solidFill>
              <a:latin typeface="Source Han Sans SC"/>
              <a:ea typeface="Source Han Sans SC"/>
            </a:endParaRPr>
          </a:p>
        </p:txBody>
      </p:sp>
      <p:sp>
        <p:nvSpPr>
          <p:cNvPr id="293" name="文本框 292" descr="{&quot;isTemplate&quot;:true,&quot;type&quot;:&quot;text&quot;}"/>
          <p:cNvSpPr txBox="1"/>
          <p:nvPr/>
        </p:nvSpPr>
        <p:spPr>
          <a:xfrm>
            <a:off x="5734050" y="3162300"/>
            <a:ext cx="546735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5">
                <a:solidFill>
                  <a:srgbClr val="94A3B8"/>
                </a:solidFill>
                <a:latin typeface="Source Han Sans SC"/>
                <a:ea typeface="Source Han Sans SC"/>
              </a:rPr>
              <a:t>五层职责边界</a:t>
            </a:r>
            <a:r>
              <a:rPr lang="en-US" sz="1015">
                <a:solidFill>
                  <a:srgbClr val="94A3B8"/>
                </a:solidFill>
                <a:latin typeface="Source Han Sans SC"/>
                <a:ea typeface="Source Han Sans SC"/>
              </a:rPr>
              <a:t> · </a:t>
            </a:r>
            <a:r>
              <a:rPr lang="zh-CN" sz="1015">
                <a:solidFill>
                  <a:srgbClr val="94A3B8"/>
                </a:solidFill>
                <a:latin typeface="Source Han Sans SC"/>
                <a:ea typeface="Source Han Sans SC"/>
              </a:rPr>
              <a:t>两阶段检索</a:t>
            </a:r>
            <a:r>
              <a:rPr lang="en-US" sz="1015">
                <a:solidFill>
                  <a:srgbClr val="94A3B8"/>
                </a:solidFill>
                <a:latin typeface="Source Han Sans SC"/>
                <a:ea typeface="Source Han Sans SC"/>
              </a:rPr>
              <a:t> · </a:t>
            </a:r>
            <a:r>
              <a:rPr lang="zh-CN" sz="1015">
                <a:solidFill>
                  <a:srgbClr val="94A3B8"/>
                </a:solidFill>
                <a:latin typeface="Source Han Sans SC"/>
                <a:ea typeface="Source Han Sans SC"/>
              </a:rPr>
              <a:t>字段加密</a:t>
            </a:r>
            <a:r>
              <a:rPr lang="en-US" sz="1015">
                <a:solidFill>
                  <a:srgbClr val="94A3B8"/>
                </a:solidFill>
                <a:latin typeface="Source Han Sans SC"/>
                <a:ea typeface="Source Han Sans SC"/>
              </a:rPr>
              <a:t> · </a:t>
            </a:r>
            <a:r>
              <a:rPr lang="zh-CN" sz="1015">
                <a:solidFill>
                  <a:srgbClr val="94A3B8"/>
                </a:solidFill>
                <a:latin typeface="Source Han Sans SC"/>
                <a:ea typeface="Source Han Sans SC"/>
              </a:rPr>
              <a:t>流式输出</a:t>
            </a:r>
            <a:endParaRPr lang="zh-CN" sz="1015">
              <a:solidFill>
                <a:srgbClr val="94A3B8"/>
              </a:solidFill>
              <a:latin typeface="Source Han Sans SC"/>
              <a:ea typeface="Source Han Sans SC"/>
            </a:endParaRPr>
          </a:p>
        </p:txBody>
      </p:sp>
      <p:sp>
        <p:nvSpPr>
          <p:cNvPr id="294" name="圆角矩形 293"/>
          <p:cNvSpPr/>
          <p:nvPr/>
        </p:nvSpPr>
        <p:spPr>
          <a:xfrm>
            <a:off x="4953000" y="3609975"/>
            <a:ext cx="6438900" cy="714375"/>
          </a:xfrm>
          <a:prstGeom prst="roundRect">
            <a:avLst>
              <a:gd name="adj" fmla="val 16000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94A3B8">
                <a:alpha val="22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95" name="文本框 294" descr="{&quot;isTemplate&quot;:true,&quot;type&quot;:&quot;text&quot;}"/>
          <p:cNvSpPr txBox="1"/>
          <p:nvPr/>
        </p:nvSpPr>
        <p:spPr>
          <a:xfrm>
            <a:off x="5143500" y="3819525"/>
            <a:ext cx="419100" cy="3048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 spc="-75">
                <a:solidFill>
                  <a:srgbClr val="38BDF8"/>
                </a:solidFill>
                <a:latin typeface="Source Han Sans SC"/>
                <a:ea typeface="Source Han Sans SC"/>
              </a:rPr>
              <a:t>08</a:t>
            </a:r>
            <a:endParaRPr lang="en-US" sz="1950" b="1" spc="-75">
              <a:solidFill>
                <a:srgbClr val="38BDF8"/>
              </a:solidFill>
              <a:latin typeface="Source Han Sans SC"/>
              <a:ea typeface="Source Han Sans SC"/>
            </a:endParaRPr>
          </a:p>
        </p:txBody>
      </p:sp>
      <p:sp>
        <p:nvSpPr>
          <p:cNvPr id="296" name="文本框 295" descr="{&quot;isTemplate&quot;:true,&quot;type&quot;:&quot;text&quot;}"/>
          <p:cNvSpPr txBox="1"/>
          <p:nvPr/>
        </p:nvSpPr>
        <p:spPr>
          <a:xfrm>
            <a:off x="5734050" y="3762375"/>
            <a:ext cx="5467350" cy="2190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FFFFFF"/>
                </a:solidFill>
                <a:latin typeface="Source Han Sans SC"/>
                <a:ea typeface="Source Han Sans SC"/>
              </a:rPr>
              <a:t>热点采集的三层数据模型</a:t>
            </a:r>
            <a:endParaRPr lang="zh-CN" sz="1425" b="1">
              <a:solidFill>
                <a:srgbClr val="FFFFFF"/>
              </a:solidFill>
              <a:latin typeface="Source Han Sans SC"/>
              <a:ea typeface="Source Han Sans SC"/>
            </a:endParaRPr>
          </a:p>
        </p:txBody>
      </p:sp>
      <p:sp>
        <p:nvSpPr>
          <p:cNvPr id="297" name="文本框 296" descr="{&quot;isTemplate&quot;:true,&quot;type&quot;:&quot;text&quot;}"/>
          <p:cNvSpPr txBox="1"/>
          <p:nvPr/>
        </p:nvSpPr>
        <p:spPr>
          <a:xfrm>
            <a:off x="5734050" y="4010025"/>
            <a:ext cx="546735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5">
                <a:solidFill>
                  <a:srgbClr val="94A3B8"/>
                </a:solidFill>
                <a:latin typeface="Source Han Sans SC"/>
                <a:ea typeface="Source Han Sans SC"/>
              </a:rPr>
              <a:t>原始层留证据</a:t>
            </a:r>
            <a:r>
              <a:rPr lang="en-US" sz="1015">
                <a:solidFill>
                  <a:srgbClr val="94A3B8"/>
                </a:solidFill>
                <a:latin typeface="Source Han Sans SC"/>
                <a:ea typeface="Source Han Sans SC"/>
              </a:rPr>
              <a:t> · </a:t>
            </a:r>
            <a:r>
              <a:rPr lang="zh-CN" sz="1015">
                <a:solidFill>
                  <a:srgbClr val="94A3B8"/>
                </a:solidFill>
                <a:latin typeface="Source Han Sans SC"/>
                <a:ea typeface="Source Han Sans SC"/>
              </a:rPr>
              <a:t>聚合层做可比</a:t>
            </a:r>
            <a:r>
              <a:rPr lang="en-US" sz="1015">
                <a:solidFill>
                  <a:srgbClr val="94A3B8"/>
                </a:solidFill>
                <a:latin typeface="Source Han Sans SC"/>
                <a:ea typeface="Source Han Sans SC"/>
              </a:rPr>
              <a:t> · </a:t>
            </a:r>
            <a:r>
              <a:rPr lang="zh-CN" sz="1015">
                <a:solidFill>
                  <a:srgbClr val="94A3B8"/>
                </a:solidFill>
                <a:latin typeface="Source Han Sans SC"/>
                <a:ea typeface="Source Han Sans SC"/>
              </a:rPr>
              <a:t>物化层保读性能</a:t>
            </a:r>
            <a:endParaRPr lang="zh-CN" sz="1015">
              <a:solidFill>
                <a:srgbClr val="94A3B8"/>
              </a:solidFill>
              <a:latin typeface="Source Han Sans SC"/>
              <a:ea typeface="Source Han Sans SC"/>
            </a:endParaRPr>
          </a:p>
        </p:txBody>
      </p:sp>
      <p:sp>
        <p:nvSpPr>
          <p:cNvPr id="298" name="圆角矩形 297"/>
          <p:cNvSpPr/>
          <p:nvPr/>
        </p:nvSpPr>
        <p:spPr>
          <a:xfrm>
            <a:off x="4953000" y="4457700"/>
            <a:ext cx="6438900" cy="714375"/>
          </a:xfrm>
          <a:prstGeom prst="roundRect">
            <a:avLst>
              <a:gd name="adj" fmla="val 16000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94A3B8">
                <a:alpha val="22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99" name="文本框 298" descr="{&quot;isTemplate&quot;:true,&quot;type&quot;:&quot;text&quot;}"/>
          <p:cNvSpPr txBox="1"/>
          <p:nvPr/>
        </p:nvSpPr>
        <p:spPr>
          <a:xfrm>
            <a:off x="5143500" y="4667250"/>
            <a:ext cx="419100" cy="3048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 spc="-75">
                <a:solidFill>
                  <a:srgbClr val="38BDF8"/>
                </a:solidFill>
                <a:latin typeface="Source Han Sans SC"/>
                <a:ea typeface="Source Han Sans SC"/>
              </a:rPr>
              <a:t>09</a:t>
            </a:r>
            <a:endParaRPr lang="en-US" sz="1950" b="1" spc="-75">
              <a:solidFill>
                <a:srgbClr val="38BDF8"/>
              </a:solidFill>
              <a:latin typeface="Source Han Sans SC"/>
              <a:ea typeface="Source Han Sans SC"/>
            </a:endParaRPr>
          </a:p>
        </p:txBody>
      </p:sp>
      <p:sp>
        <p:nvSpPr>
          <p:cNvPr id="300" name="文本框 299" descr="{&quot;isTemplate&quot;:true,&quot;type&quot;:&quot;text&quot;}"/>
          <p:cNvSpPr txBox="1"/>
          <p:nvPr/>
        </p:nvSpPr>
        <p:spPr>
          <a:xfrm>
            <a:off x="5734050" y="4610100"/>
            <a:ext cx="5467350" cy="2190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FFFFFF"/>
                </a:solidFill>
                <a:latin typeface="Source Han Sans SC"/>
                <a:ea typeface="Source Han Sans SC"/>
              </a:rPr>
              <a:t>推荐流与采纳漏斗</a:t>
            </a:r>
            <a:endParaRPr lang="zh-CN" sz="1425" b="1">
              <a:solidFill>
                <a:srgbClr val="FFFFFF"/>
              </a:solidFill>
              <a:latin typeface="Source Han Sans SC"/>
              <a:ea typeface="Source Han Sans SC"/>
            </a:endParaRPr>
          </a:p>
        </p:txBody>
      </p:sp>
      <p:sp>
        <p:nvSpPr>
          <p:cNvPr id="301" name="文本框 300" descr="{&quot;isTemplate&quot;:true,&quot;type&quot;:&quot;text&quot;}"/>
          <p:cNvSpPr txBox="1"/>
          <p:nvPr/>
        </p:nvSpPr>
        <p:spPr>
          <a:xfrm>
            <a:off x="5734050" y="4857750"/>
            <a:ext cx="546735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5">
                <a:solidFill>
                  <a:srgbClr val="94A3B8"/>
                </a:solidFill>
                <a:latin typeface="Source Han Sans SC"/>
                <a:ea typeface="Source Han Sans SC"/>
              </a:rPr>
              <a:t>五因子打分</a:t>
            </a:r>
            <a:r>
              <a:rPr lang="en-US" sz="1015">
                <a:solidFill>
                  <a:srgbClr val="94A3B8"/>
                </a:solidFill>
                <a:latin typeface="Source Han Sans SC"/>
                <a:ea typeface="Source Han Sans SC"/>
              </a:rPr>
              <a:t> · </a:t>
            </a:r>
            <a:r>
              <a:rPr lang="zh-CN" sz="1015">
                <a:solidFill>
                  <a:srgbClr val="94A3B8"/>
                </a:solidFill>
                <a:latin typeface="Source Han Sans SC"/>
                <a:ea typeface="Source Han Sans SC"/>
              </a:rPr>
              <a:t>命中不足不凑数</a:t>
            </a:r>
            <a:r>
              <a:rPr lang="en-US" sz="1015">
                <a:solidFill>
                  <a:srgbClr val="94A3B8"/>
                </a:solidFill>
                <a:latin typeface="Source Han Sans SC"/>
                <a:ea typeface="Source Han Sans SC"/>
              </a:rPr>
              <a:t> · </a:t>
            </a:r>
            <a:r>
              <a:rPr lang="zh-CN" sz="1015">
                <a:solidFill>
                  <a:srgbClr val="94A3B8"/>
                </a:solidFill>
                <a:latin typeface="Source Han Sans SC"/>
                <a:ea typeface="Source Han Sans SC"/>
              </a:rPr>
              <a:t>曝光到出题的三级度量</a:t>
            </a:r>
            <a:endParaRPr lang="zh-CN" sz="1015">
              <a:solidFill>
                <a:srgbClr val="94A3B8"/>
              </a:solidFill>
              <a:latin typeface="Source Han Sans SC"/>
              <a:ea typeface="Source Han Sans SC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02" name="" descr="&lt;Slide style={{ width: 1280, height: 720, padding: '20px 64px', fontFamily: '&quot;Source Han Sans SC&quot;, &quot;Noto Sans SC&quot;, &quot;PingFang SC&quot;, &quot;Microsoft YaHei&quot;, sans-serif', background: '#F8FAFC' }}&gt;&#10;  &lt;Box style={{ height: 100, justifyContent: 'center' }}&gt;&#10;    &lt;Box style={{ flexDirection: 'row', alignItems: 'center', gap: 16 }}&gt;&#10;      &lt;Box style={{ width: 6, height: 34, background: 'linear-gradient(135deg, #3B82F6 0%, #06B6D4 100%)', borderRadius: 3 }} /&gt;&#10;      &lt;Box&gt;&#10;        &lt;Text style={{ fontSize: 34, fontWeight: 'bold', color: '#0F172A' }}&gt;系统架构&lt;/Text&gt;&#10;        &lt;Text style={{ fontSize: 18, color: '#64748B', marginTop: 4 }}&gt;五层职责边界清晰，每层只依赖下一层的契约&lt;/Text&gt;&#10;      &lt;/Box&gt;&#10;    &lt;/Box&gt;&#10;  &lt;/Box&gt;&#10;&#10;  &lt;Box style={{ flexDirection: 'row', gap: 24, height: 520 }}&gt;&#10;    &lt;Box style={{ width: 648, background: '#FFFFFF', border: '1px solid #E2E8F0', borderRadius: 16, padding: '16px 18px', boxShadow: '0 4px 20px rgba(15,23,42,0.06)' }}&gt;&#10;      &lt;Box style={{ flexDirection: 'row', alignItems: 'center', justifyContent: 'space-between' }}&gt;&#10;        &lt;Text style={{ fontSize: 17, fontWeight: 'bold', color: '#0F172A' }}&gt;分层架构&lt;/Text&gt;&#10;        &lt;Text style={{ fontSize: 12.5, color: '#94A3B8' }}&gt;自上而下调用，自下而上供数&lt;/Text&gt;&#10;      &lt;/Box&gt;&#10;      &lt;svg width=&quot;612&quot; height=&quot;452&quot; viewBox=&quot;0 0 612 452&quot;&gt;&#10;        &lt;defs&gt;&#10;          &lt;linearGradient id=&quot;gArch&quot; x1=&quot;0&quot; y1=&quot;0&quot; x2=&quot;1&quot; y2=&quot;1&quot;&gt;&#10;            &lt;stop offset=&quot;0%&quot; stopColor=&quot;#3B82F6&quot; /&gt;&#10;            &lt;stop offset=&quot;100%&quot; stopColor=&quot;#06B6D4&quot; /&gt;&#10;          &lt;/linearGradient&gt;&#10;        &lt;/defs&gt;&#10;&#10;        &lt;g&gt;&#10;          &lt;rect x=&quot;0&quot; y=&quot;6&quot; width=&quot;84&quot; height=&quot;78&quot; rx=&quot;10&quot; fill=&quot;#0F172A&quot; /&gt;&#10;          &lt;text x=&quot;42&quot; y=&quot;40&quot; textAnchor=&quot;middle&quot; fontSize=&quot;13&quot; fontWeight=&quot;bold&quot; fill=&quot;#FFFFFF&quot;&gt;前端层&lt;/text&gt;&#10;          &lt;text x=&quot;42&quot; y=&quot;60&quot; textAnchor=&quot;middle&quot; fontSize=&quot;10&quot; fill=&quot;#94A3B8&quot;&gt;React 18&lt;/text&gt;&#10;          &lt;rect x=&quot;94&quot; y=&quot;24&quot; width=&quot;160&quot; height=&quot;42&quot; rx=&quot;8&quot; fill=&quot;#EFF6FF&quot; stroke=&quot;#BFDBFE&quot; /&gt;&#10;          &lt;text x=&quot;174&quot; y=&quot;50&quot; textAnchor=&quot;middle&quot; fontSize=&quot;11.5&quot; fill=&quot;#1E40AF&quot;&gt;六页工作台 + 路由&lt;/text&gt;&#10;          &lt;rect x=&quot;262&quot; y=&quot;24&quot; width=&quot;160&quot; height=&quot;42&quot; rx=&quot;8&quot; fill=&quot;#EFF6FF&quot; stroke=&quot;#BFDBFE&quot; /&gt;&#10;          &lt;text x=&quot;342&quot; y=&quot;50&quot; textAnchor=&quot;middle&quot; fontSize=&quot;11.5&quot; fill=&quot;#1E40AF&quot;&gt;FlowContext 跨页流转&lt;/text&gt;&#10;          &lt;rect x=&quot;430&quot; y=&quot;24&quot; width=&quot;182&quot; height=&quot;42&quot; rx=&quot;8&quot; fill=&quot;#EFF6FF&quot; stroke=&quot;#BFDBFE&quot; /&gt;&#10;          &lt;text x=&quot;521&quot; y=&quot;50&quot; textAnchor=&quot;middle&quot; fontSize=&quot;11.5&quot; fill=&quot;#1E40AF&quot;&gt;Mock / 真实后端双模&lt;/text&gt;&#10;        &lt;/g&gt;&#10;&#10;        &lt;g&gt;&#10;          &lt;rect x=&quot;0&quot; y=&quot;92&quot; width=&quot;84&quot; height=&quot;78&quot; rx=&quot;10&quot; fill=&quot;#0F172A&quot; /&gt;&#10;          &lt;text x=&quot;42&quot; y=&quot;126&quot; textAnchor=&quot;middle&quot; fontSize=&quot;13&quot; fontWeight=&quot;bold&quot; fill=&quot;#FFFFFF&quot;&gt;接口层&lt;/text&gt;&#10;          &lt;text x=&quot;42&quot; y=&quot;146&quot; textAnchor=&quot;middle&quot; fontSize=&quot;10&quot; fill=&quot;#94A3B8&quot;&gt;FastAPI&lt;/text&gt;&#10;          &lt;rect x=&quot;94&quot; y=&quot;110&quot; width=&quot;160&quot; height=&quot;42&quot; rx=&quot;8&quot; fill=&quot;#F0FDFA&quot; stroke=&quot;#99F6E4&quot; /&gt;&#10;          &lt;text x=&quot;174&quot; y=&quot;136&quot; textAnchor=&quot;middle&quot; fontSize=&quot;11.5&quot; fill=&quot;#0F766E&quot;&gt;19 个路由 / 20 方法&lt;/text&gt;&#10;          &lt;rect x=&quot;262&quot; y=&quot;110&quot; width=&quot;160&quot; height=&quot;42&quot; rx=&quot;8&quot; fill=&quot;#F0FDFA&quot; stroke=&quot;#99F6E4&quot; /&gt;&#10;          &lt;text x=&quot;342&quot; y=&quot;136&quot; textAnchor=&quot;middle&quot; fontSize=&quot;11.5&quot; fill=&quot;#0F766E&quot;&gt;JWT 鉴权与越权拦截&lt;/text&gt;&#10;          &lt;rect x=&quot;430&quot; y=&quot;110&quot; width=&quot;182&quot; height=&quot;42&quot; rx=&quot;8&quot; fill=&quot;#F0FDFA&quot; stroke=&quot;#99F6E4&quot; /&gt;&#10;          &lt;text x=&quot;521&quot; y=&quot;136&quot; textAnchor=&quot;middle&quot; fontSize=&quot;11.5&quot; fill=&quot;#0F766E&quot;&gt;SSE 流式生成&lt;/text&gt;&#10;        &lt;/g&gt;&#10;&#10;        &lt;g&gt;&#10;          &lt;rect x=&quot;0&quot; y=&quot;178&quot; width=&quot;84&quot; height=&quot;78&quot; rx=&quot;10&quot; fill=&quot;url(#gArch)&quot; /&gt;&#10;          &lt;text x=&quot;42&quot; y=&quot;212&quot; textAnchor=&quot;middle&quot; fontSize=&quot;13&quot; fontWeight=&quot;bold&quot; fill=&quot;#FFFFFF&quot;&gt;能力层&lt;/text&gt;&#10;          &lt;text x=&quot;42&quot; y=&quot;232&quot; textAnchor=&quot;middle&quot; fontSize=&quot;10&quot; fill=&quot;#E0F2FE&quot;&gt;核心逻辑&lt;/text&gt;&#10;          &lt;rect x=&quot;94&quot; y=&quot;196&quot; width=&quot;120&quot; height=&quot;42&quot; rx=&quot;8&quot; fill=&quot;#FFFFFF&quot; stroke=&quot;#93C5FD&quot; /&gt;&#10;          &lt;text x=&quot;154&quot; y=&quot;222&quot; textAnchor=&quot;middle&quot; fontSize=&quot;11.5&quot; fill=&quot;#1E40AF&quot;&gt;RAG 两阶段检索&lt;/text&gt;&#10;          &lt;rect x=&quot;222&quot; y=&quot;196&quot; width=&quot;120&quot; height=&quot;42&quot; rx=&quot;8&quot; fill=&quot;#FFFFFF&quot; stroke=&quot;#93C5FD&quot; /&gt;&#10;          &lt;text x=&quot;282&quot; y=&quot;222&quot; textAnchor=&quot;middle&quot; fontSize=&quot;11.5&quot; fill=&quot;#1E40AF&quot;&gt;生成与多版本&lt;/text&gt;&#10;          &lt;rect x=&quot;350&quot; y=&quot;196&quot; width=&quot;120&quot; height=&quot;42&quot; rx=&quot;8&quot; fill=&quot;#FFFFFF&quot; stroke=&quot;#93C5FD&quot; /&gt;&#10;          &lt;text x=&quot;410&quot; y=&quot;222&quot; textAnchor=&quot;middle&quot; fontSize=&quot;11.5&quot; fill=&quot;#1E40AF&quot;&gt;三平台适配规则&lt;/text&gt;&#10;          &lt;rect x=&quot;478&quot; y=&quot;196&quot; width=&quot;134&quot; height=&quot;42&quot; rx=&quot;8&quot; fill=&quot;#FFFFFF&quot; stroke=&quot;#93C5FD&quot; /&gt;&#10;          &lt;text x=&quot;545&quot; y=&quot;222&quot; textAnchor=&quot;middle&quot; fontSize=&quot;11.5&quot; fill=&quot;#1E40AF&quot;&gt;热点聚合与打分&lt;/text&gt;&#10;        &lt;/g&gt;&#10;&#10;        &lt;g&gt;&#10;          &lt;rect x=&quot;0&quot; y=&quot;264&quot; width=&quot;84&quot; height=&quot;78&quot; rx=&quot;10&quot; fill=&quot;#0F172A&quot; /&gt;&#10;          &lt;text x=&quot;42&quot; y=&quot;298&quot; textAnchor=&quot;middle&quot; fontSize=&quot;13&quot; fontWeight=&quot;bold&quot; fill=&quot;#FFFFFF&quot;&gt;数据层&lt;/text&gt;&#10;          &lt;text x=&quot;42&quot; y=&quot;318&quot; textAnchor=&quot;middle&quot; fontSize=&quot;10&quot; fill=&quot;#94A3B8&quot;&gt;存储与索引&lt;/text&gt;&#10;          &lt;rect x=&quot;94&quot; y=&quot;282&quot; width=&quot;160&quot; height=&quot;42&quot; rx=&quot;8&quot; fill=&quot;#F8FAFC&quot; stroke=&quot;#CBD5E1&quot; /&gt;&#10;          &lt;text x=&quot;174&quot; y=&quot;308&quot; textAnchor=&quot;middle&quot; fontSize=&quot;11.5&quot; fill=&quot;#334155&quot;&gt;SQLite · 14 张表&lt;/text&gt;&#10;          &lt;rect x=&quot;262&quot; y=&quot;282&quot; width=&quot;160&quot; height=&quot;42&quot; rx=&quot;8&quot; fill=&quot;#F8FAFC&quot; stroke=&quot;#CBD5E1&quot; /&gt;&#10;          &lt;text x=&quot;342&quot; y=&quot;308&quot; textAnchor=&quot;middle&quot; fontSize=&quot;11.5&quot; fill=&quot;#334155&quot;&gt;FAISS 向量索引&lt;/text&gt;&#10;          &lt;rect x=&quot;430&quot; y=&quot;282&quot; width=&quot;182&quot; height=&quot;42&quot; rx=&quot;8&quot; fill=&quot;#F8FAFC&quot; stroke=&quot;#CBD5E1&quot; /&gt;&#10;          &lt;text x=&quot;521&quot; y=&quot;308&quot; textAnchor=&quot;middle&quot; fontSize=&quot;11.5&quot; fill=&quot;#334155&quot;&gt;字段级 Fernet 加密&lt;/text&gt;&#10;        &lt;/g&gt;&#10;&#10;        &lt;g&gt;&#10;          &lt;rect x=&quot;0&quot; y=&quot;350&quot; width=&quot;84&quot; height=&quot;78&quot; rx=&quot;10&quot; fill=&quot;#0F172A&quot; /&gt;&#10;          &lt;text x=&quot;42&quot; y=&quot;384&quot; textAnchor=&quot;middle&quot; fontSize=&quot;13&quot; fontWeight=&quot;bold&quot; fill=&quot;#FFFFFF&quot;&gt;采集层&lt;/text&gt;&#10;          &lt;text x=&quot;42&quot; y=&quot;404&quot; textAnchor=&quot;middle&quot; fontSize=&quot;10&quot; fill=&quot;#94A3B8&quot;&gt;外部数据&lt;/text&gt;&#10;          &lt;rect x=&quot;94&quot; y=&quot;368&quot; width=&quot;160&quot; height=&quot;42&quot; rx=&quot;8&quot; fill=&quot;#FFFBEB&quot; stroke=&quot;#FDE68A&quot; /&gt;&#10;          &lt;text x=&quot;174&quot; y=&quot;394&quot; textAnchor=&quot;middle&quot; fontSize=&quot;11.5&quot; fill=&quot;#92400E&quot;&gt;六源适配器链&lt;/text&gt;&#10;          &lt;rect x=&quot;262&quot; y=&quot;368&quot; width=&quot;160&quot; height=&quot;42&quot; rx=&quot;8&quot; fill=&quot;#FFFBEB&quot; stroke=&quot;#FDE68A&quot; /&gt;&#10;          &lt;text x=&quot;342&quot; y=&quot;394&quot; textAnchor=&quot;middle&quot; fontSize=&quot;11.5&quot; fill=&quot;#92400E&quot;&gt;分源调度 + 熔断&lt;/text&gt;&#10;          &lt;rect x=&quot;430&quot; y=&quot;368&quot; width=&quot;182&quot; height=&quot;42&quot; rx=&quot;8&quot; fill=&quot;#FFFBEB&quot; stroke=&quot;#FDE68A&quot; /&gt;&#10;          &lt;text x=&quot;521&quot; y=&quot;394&quot; textAnchor=&quot;middle&quot; fontSize=&quot;11.5&quot; fill=&quot;#92400E&quot;&gt;微博 / 知乎 / 百度 / 抖音 / B站 / 头条&lt;/text&gt;&#10;        &lt;/g&gt;&#10;&#10;        &lt;text x=&quot;306&quot; y=&quot;446&quot; textAnchor=&quot;middle&quot; fontSize=&quot;11&quot; fill=&quot;#94A3B8&quot;&gt;冷启动无 LLM Key 时能力层降级为模板生成，接口契约不变——这是可离线演示的前提&lt;/text&gt;&#10;      &lt;/svg&gt;&#10;    &lt;/Box&gt;&#10;&#10;    &lt;Box style={{ flex: 1, flexDirection: 'column', gap: 12 }}&gt;&#10;      &lt;Box style={{ flex: 1, background: '#FFFFFF', border: '1px solid #E2E8F0', borderRadius: 14, padding: '14px 18px', boxShadow: '0 4px 20px rgba(15,23,42,0.05)' }}&gt;&#10;        &lt;Box style={{ flexDirection: 'row', alignItems: 'center', gap: 8 }}&gt;&#10;          &lt;Box style={{ width: 4, height: 16, background: 'linear-gradient(135deg, #3B82F6, #06B6D4)', borderRadius: 2 }} /&gt;&#10;          &lt;Text style={{ fontSize: 18, fontWeight: 'bold', color: '#0F172A' }}&gt;两阶段检索&lt;/Text&gt;&#10;        &lt;/Box&gt;&#10;        &lt;Text style={{ fontSize: 13.5, color: '#475569', marginTop: 6, lineHeight: 1.65 }}&gt;&#10;          向量召回 40 条候选，再按风格与领域重排取 Top-5。关闭重排后命中率跌到 61.1%，重排贡献 +38.9pp。&#10;        &lt;/Text&gt;&#10;      &lt;/Box&gt;&#10;      &lt;Box style={{ flex: 1, background: '#FFFFFF', border: '1px solid #E2E8F0', borderRadius: 14, padding: '14px 18px', boxShadow: '0 4px 20px rgba(15,23,42,0.05)' }}&gt;&#10;        &lt;Box style={{ flexDirection: 'row', alignItems: 'center', gap: 8 }}&gt;&#10;          &lt;Box style={{ width: 4, height: 16, background: 'linear-gradient(135deg, #3B82F6, #06B6D4)', borderRadius: 2 }} /&gt;&#10;          &lt;Text style={{ fontSize: 18, fontWeight: 'bold', color: '#0F172A' }}&gt;字段级加密&lt;/Text&gt;&#10;        &lt;/Box&gt;&#10;        &lt;Text style={{ fontSize: 13.5, color: '#475569', marginTop: 6, lineHeight: 1.65 }}&gt;&#10;          正文与敏感字段加密落库，检索只走索引与标题。这样加密不牺牲检索能力，越权请求也读不到明文。&#10;        &lt;/Text&gt;&#10;      &lt;/Box&gt;&#10;      &lt;Box style={{ flex: 1, background: '#0F172A', borderRadius: 14, padding: '14px 18px' }}&gt;&#10;        &lt;Box style={{ flexDirection: 'row', alignItems: 'center', gap: 8 }}&gt;&#10;          &lt;Box style={{ width: 4, height: 16, background: '#06B6D4', borderRadius: 2 }} /&gt;&#10;          &lt;Text style={{ fontSize: 18, fontWeight: 'bold', color: '#FFFFFF' }}&gt;流式与降级&lt;/Text&gt;&#10;        &lt;/Box&gt;&#10;        &lt;Text style={{ fontSize: 13.5, color: '#CBD5E1', marginTop: 6, lineHeight: 1.65 }}&gt;&#10;          SSE 边生成边推送，首字节即见文本；无 Key 时同一路由降级为模板生成，前端无需改一行代码。&#10;        &lt;/Text&gt;&#10;      &lt;/Box&gt;&#10;    &lt;/Box&gt;&#10;  &lt;/Box&gt;&#10;&#10;  &lt;Box style={{ height: 60, flexDirection: 'row', justifyContent: 'space-between', alignItems: 'center' }}&gt;&#10;    &lt;Box style={{ flexDirection: 'row', alignItems: 'center', gap: 8 }}&gt;&#10;      &lt;Box style={{ width: 10, height: 10, borderRadius: 2, background: 'linear-gradient(135deg, #3B82F6, #06B6D4)' }} /&gt;&#10;      &lt;Text style={{ fontSize: 14, color: '#94A3B8' }}&gt;AI 自媒体内容创作助手 · 项目汇报&lt;/Text&gt;&#10;    &lt;/Box&gt;&#10;    &lt;Text style={{ fontSize: 14, color: '#94A3B8' }}&gt;07 / 14&lt;/Text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矩形 30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</p:spPr>
        <p:txBody>
          <a:bodyPr/>
          <a:p/>
        </p:txBody>
      </p:sp>
      <p:sp>
        <p:nvSpPr>
          <p:cNvPr id="304" name="圆角矩形 303"/>
          <p:cNvSpPr/>
          <p:nvPr/>
        </p:nvSpPr>
        <p:spPr>
          <a:xfrm>
            <a:off x="609600" y="514350"/>
            <a:ext cx="57150" cy="32385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3B82F6"/>
              </a:gs>
              <a:gs pos="100000">
                <a:srgbClr val="06B6D4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305" name="文本框 304" descr="{&quot;isTemplate&quot;:true,&quot;type&quot;:&quot;text&quot;}"/>
          <p:cNvSpPr txBox="1"/>
          <p:nvPr/>
        </p:nvSpPr>
        <p:spPr>
          <a:xfrm>
            <a:off x="819150" y="352425"/>
            <a:ext cx="3429000" cy="3905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0F172A"/>
                </a:solidFill>
                <a:latin typeface="Source Han Sans SC"/>
                <a:ea typeface="Source Han Sans SC"/>
              </a:rPr>
              <a:t>系统架构</a:t>
            </a:r>
            <a:endParaRPr lang="zh-CN" sz="2550" b="1">
              <a:solidFill>
                <a:srgbClr val="0F172A"/>
              </a:solidFill>
              <a:latin typeface="Source Han Sans SC"/>
              <a:ea typeface="Source Han Sans SC"/>
            </a:endParaRPr>
          </a:p>
        </p:txBody>
      </p:sp>
      <p:sp>
        <p:nvSpPr>
          <p:cNvPr id="306" name="文本框 305" descr="{&quot;isTemplate&quot;:true,&quot;type&quot;:&quot;text&quot;}"/>
          <p:cNvSpPr txBox="1"/>
          <p:nvPr/>
        </p:nvSpPr>
        <p:spPr>
          <a:xfrm>
            <a:off x="819150" y="781050"/>
            <a:ext cx="3429000" cy="2095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64748B"/>
                </a:solidFill>
                <a:latin typeface="Source Han Sans SC"/>
                <a:ea typeface="Source Han Sans SC"/>
              </a:rPr>
              <a:t>五层职责边界清晰，每层只依赖下一层的契约</a:t>
            </a:r>
            <a:endParaRPr lang="zh-CN" sz="1350">
              <a:solidFill>
                <a:srgbClr val="64748B"/>
              </a:solidFill>
              <a:latin typeface="Source Han Sans SC"/>
              <a:ea typeface="Source Han Sans SC"/>
            </a:endParaRPr>
          </a:p>
        </p:txBody>
      </p:sp>
      <p:sp>
        <p:nvSpPr>
          <p:cNvPr id="307" name="圆角矩形 306"/>
          <p:cNvSpPr/>
          <p:nvPr/>
        </p:nvSpPr>
        <p:spPr>
          <a:xfrm>
            <a:off x="609600" y="1143000"/>
            <a:ext cx="6172200" cy="495300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90500" dist="38100" dir="540000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308" name="文本框 307" descr="{&quot;isTemplate&quot;:true,&quot;type&quot;:&quot;text&quot;}"/>
          <p:cNvSpPr txBox="1"/>
          <p:nvPr/>
        </p:nvSpPr>
        <p:spPr>
          <a:xfrm>
            <a:off x="781050" y="1295400"/>
            <a:ext cx="647700" cy="2000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0F172A"/>
                </a:solidFill>
                <a:latin typeface="Source Han Sans SC"/>
                <a:ea typeface="Source Han Sans SC"/>
              </a:rPr>
              <a:t>分层架构</a:t>
            </a:r>
            <a:endParaRPr lang="zh-CN" sz="1275" b="1">
              <a:solidFill>
                <a:srgbClr val="0F172A"/>
              </a:solidFill>
              <a:latin typeface="Source Han Sans SC"/>
              <a:ea typeface="Source Han Sans SC"/>
            </a:endParaRPr>
          </a:p>
        </p:txBody>
      </p:sp>
      <p:sp>
        <p:nvSpPr>
          <p:cNvPr id="309" name="文本框 308" descr="{&quot;isTemplate&quot;:true,&quot;type&quot;:&quot;text&quot;}"/>
          <p:cNvSpPr txBox="1"/>
          <p:nvPr/>
        </p:nvSpPr>
        <p:spPr>
          <a:xfrm>
            <a:off x="5057775" y="1323975"/>
            <a:ext cx="155257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40">
                <a:solidFill>
                  <a:srgbClr val="94A3B8"/>
                </a:solidFill>
                <a:latin typeface="Source Han Sans SC"/>
                <a:ea typeface="Source Han Sans SC"/>
              </a:rPr>
              <a:t>自上而下调用，自下而上供数</a:t>
            </a:r>
            <a:endParaRPr lang="zh-CN" sz="940">
              <a:solidFill>
                <a:srgbClr val="94A3B8"/>
              </a:solidFill>
              <a:latin typeface="Source Han Sans SC"/>
              <a:ea typeface="Source Han Sans SC"/>
            </a:endParaRPr>
          </a:p>
        </p:txBody>
      </p:sp>
      <p:pic>
        <p:nvPicPr>
          <p:cNvPr id="310" name="图片 309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81050" y="1495425"/>
            <a:ext cx="5829300" cy="4305300"/>
          </a:xfrm>
          <a:prstGeom prst="rect">
            <a:avLst/>
          </a:prstGeom>
        </p:spPr>
      </p:pic>
      <p:sp>
        <p:nvSpPr>
          <p:cNvPr id="311" name="圆角矩形 310"/>
          <p:cNvSpPr/>
          <p:nvPr/>
        </p:nvSpPr>
        <p:spPr>
          <a:xfrm>
            <a:off x="7010400" y="1143000"/>
            <a:ext cx="4572000" cy="1571625"/>
          </a:xfrm>
          <a:prstGeom prst="roundRect">
            <a:avLst>
              <a:gd name="adj" fmla="val 848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90500" dist="38100" dir="5400000">
              <a:srgbClr val="0F172A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312" name="圆角矩形 311"/>
          <p:cNvSpPr/>
          <p:nvPr/>
        </p:nvSpPr>
        <p:spPr>
          <a:xfrm>
            <a:off x="7181850" y="1304925"/>
            <a:ext cx="38100" cy="15240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3B82F6"/>
              </a:gs>
              <a:gs pos="100000">
                <a:srgbClr val="06B6D4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313" name="文本框 312" descr="{&quot;isTemplate&quot;:true,&quot;type&quot;:&quot;text&quot;}"/>
          <p:cNvSpPr txBox="1"/>
          <p:nvPr/>
        </p:nvSpPr>
        <p:spPr>
          <a:xfrm>
            <a:off x="7296150" y="1276350"/>
            <a:ext cx="857250" cy="2095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0F172A"/>
                </a:solidFill>
                <a:latin typeface="Source Han Sans SC"/>
                <a:ea typeface="Source Han Sans SC"/>
              </a:rPr>
              <a:t>两阶段检索</a:t>
            </a:r>
            <a:endParaRPr lang="zh-CN" sz="1350" b="1">
              <a:solidFill>
                <a:srgbClr val="0F172A"/>
              </a:solidFill>
              <a:latin typeface="Source Han Sans SC"/>
              <a:ea typeface="Source Han Sans SC"/>
            </a:endParaRPr>
          </a:p>
        </p:txBody>
      </p:sp>
      <p:sp>
        <p:nvSpPr>
          <p:cNvPr id="314" name="文本框 313" descr="{&quot;isTemplate&quot;:true,&quot;type&quot;:&quot;text&quot;}"/>
          <p:cNvSpPr txBox="1"/>
          <p:nvPr/>
        </p:nvSpPr>
        <p:spPr>
          <a:xfrm>
            <a:off x="7181850" y="1543050"/>
            <a:ext cx="4229100" cy="514350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015">
                <a:solidFill>
                  <a:srgbClr val="475569"/>
                </a:solidFill>
                <a:latin typeface="Source Han Sans SC"/>
                <a:ea typeface="Source Han Sans SC"/>
              </a:rPr>
              <a:t>向量召回</a:t>
            </a:r>
            <a:r>
              <a:rPr lang="en-US" sz="1015">
                <a:solidFill>
                  <a:srgbClr val="475569"/>
                </a:solidFill>
                <a:latin typeface="Source Han Sans SC"/>
                <a:ea typeface="Source Han Sans SC"/>
              </a:rPr>
              <a:t> 40 </a:t>
            </a:r>
            <a:r>
              <a:rPr lang="zh-CN" sz="1015">
                <a:solidFill>
                  <a:srgbClr val="475569"/>
                </a:solidFill>
                <a:latin typeface="Source Han Sans SC"/>
                <a:ea typeface="Source Han Sans SC"/>
              </a:rPr>
              <a:t>条候选，再按风格与领域重排取</a:t>
            </a:r>
            <a:r>
              <a:rPr lang="en-US" sz="1015">
                <a:solidFill>
                  <a:srgbClr val="475569"/>
                </a:solidFill>
                <a:latin typeface="Source Han Sans SC"/>
                <a:ea typeface="Source Han Sans SC"/>
              </a:rPr>
              <a:t> Top-5</a:t>
            </a:r>
            <a:r>
              <a:rPr lang="zh-CN" sz="1015">
                <a:solidFill>
                  <a:srgbClr val="475569"/>
                </a:solidFill>
                <a:latin typeface="Source Han Sans SC"/>
                <a:ea typeface="Source Han Sans SC"/>
              </a:rPr>
              <a:t>。关闭重排后命中率跌到</a:t>
            </a:r>
            <a:r>
              <a:rPr lang="en-US" sz="1015">
                <a:solidFill>
                  <a:srgbClr val="475569"/>
                </a:solidFill>
                <a:latin typeface="Source Han Sans SC"/>
                <a:ea typeface="Source Han Sans SC"/>
              </a:rPr>
              <a:t> 61.1%</a:t>
            </a:r>
            <a:r>
              <a:rPr lang="zh-CN" sz="1015">
                <a:solidFill>
                  <a:srgbClr val="475569"/>
                </a:solidFill>
                <a:latin typeface="Source Han Sans SC"/>
                <a:ea typeface="Source Han Sans SC"/>
              </a:rPr>
              <a:t>，重排贡献</a:t>
            </a:r>
            <a:r>
              <a:rPr lang="en-US" sz="1015">
                <a:solidFill>
                  <a:srgbClr val="475569"/>
                </a:solidFill>
                <a:latin typeface="Source Han Sans SC"/>
                <a:ea typeface="Source Han Sans SC"/>
              </a:rPr>
              <a:t> +38.9pp</a:t>
            </a:r>
            <a:r>
              <a:rPr lang="zh-CN" sz="1015">
                <a:solidFill>
                  <a:srgbClr val="475569"/>
                </a:solidFill>
                <a:latin typeface="Source Han Sans SC"/>
                <a:ea typeface="Source Han Sans SC"/>
              </a:rPr>
              <a:t>。</a:t>
            </a:r>
            <a:endParaRPr lang="zh-CN" sz="1015">
              <a:solidFill>
                <a:srgbClr val="475569"/>
              </a:solidFill>
              <a:latin typeface="Source Han Sans SC"/>
              <a:ea typeface="Source Han Sans SC"/>
            </a:endParaRPr>
          </a:p>
        </p:txBody>
      </p:sp>
      <p:sp>
        <p:nvSpPr>
          <p:cNvPr id="315" name="圆角矩形 314"/>
          <p:cNvSpPr/>
          <p:nvPr/>
        </p:nvSpPr>
        <p:spPr>
          <a:xfrm>
            <a:off x="7010400" y="2828925"/>
            <a:ext cx="4572000" cy="1581150"/>
          </a:xfrm>
          <a:prstGeom prst="roundRect">
            <a:avLst>
              <a:gd name="adj" fmla="val 843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90500" dist="38100" dir="5400000">
              <a:srgbClr val="0F172A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316" name="圆角矩形 315"/>
          <p:cNvSpPr/>
          <p:nvPr/>
        </p:nvSpPr>
        <p:spPr>
          <a:xfrm>
            <a:off x="7181850" y="2990850"/>
            <a:ext cx="38100" cy="15240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3B82F6"/>
              </a:gs>
              <a:gs pos="100000">
                <a:srgbClr val="06B6D4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317" name="文本框 316" descr="{&quot;isTemplate&quot;:true,&quot;type&quot;:&quot;text&quot;}"/>
          <p:cNvSpPr txBox="1"/>
          <p:nvPr/>
        </p:nvSpPr>
        <p:spPr>
          <a:xfrm>
            <a:off x="7296150" y="2962275"/>
            <a:ext cx="857250" cy="2095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0F172A"/>
                </a:solidFill>
                <a:latin typeface="Source Han Sans SC"/>
                <a:ea typeface="Source Han Sans SC"/>
              </a:rPr>
              <a:t>字段级加密</a:t>
            </a:r>
            <a:endParaRPr lang="zh-CN" sz="1350" b="1">
              <a:solidFill>
                <a:srgbClr val="0F172A"/>
              </a:solidFill>
              <a:latin typeface="Source Han Sans SC"/>
              <a:ea typeface="Source Han Sans SC"/>
            </a:endParaRPr>
          </a:p>
        </p:txBody>
      </p:sp>
      <p:sp>
        <p:nvSpPr>
          <p:cNvPr id="318" name="文本框 317" descr="{&quot;isTemplate&quot;:true,&quot;type&quot;:&quot;text&quot;}"/>
          <p:cNvSpPr txBox="1"/>
          <p:nvPr/>
        </p:nvSpPr>
        <p:spPr>
          <a:xfrm>
            <a:off x="7181850" y="3228975"/>
            <a:ext cx="4229100" cy="514350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015">
                <a:solidFill>
                  <a:srgbClr val="475569"/>
                </a:solidFill>
                <a:latin typeface="Source Han Sans SC"/>
                <a:ea typeface="Source Han Sans SC"/>
              </a:rPr>
              <a:t>正文与敏感字段加密落库，检索只走索引与标题。这样加密不牺牲检索能力，越权请求也读不到明文。</a:t>
            </a:r>
            <a:endParaRPr lang="zh-CN" sz="1015">
              <a:solidFill>
                <a:srgbClr val="475569"/>
              </a:solidFill>
              <a:latin typeface="Source Han Sans SC"/>
              <a:ea typeface="Source Han Sans SC"/>
            </a:endParaRPr>
          </a:p>
        </p:txBody>
      </p:sp>
      <p:sp>
        <p:nvSpPr>
          <p:cNvPr id="319" name="圆角矩形 318"/>
          <p:cNvSpPr/>
          <p:nvPr/>
        </p:nvSpPr>
        <p:spPr>
          <a:xfrm>
            <a:off x="7010400" y="4524375"/>
            <a:ext cx="4572000" cy="1571625"/>
          </a:xfrm>
          <a:prstGeom prst="roundRect">
            <a:avLst>
              <a:gd name="adj" fmla="val 8485"/>
            </a:avLst>
          </a:prstGeom>
          <a:solidFill>
            <a:srgbClr val="0F172A"/>
          </a:solidFill>
        </p:spPr>
        <p:txBody>
          <a:bodyPr/>
          <a:p/>
        </p:txBody>
      </p:sp>
      <p:sp>
        <p:nvSpPr>
          <p:cNvPr id="320" name="圆角矩形 319"/>
          <p:cNvSpPr/>
          <p:nvPr/>
        </p:nvSpPr>
        <p:spPr>
          <a:xfrm>
            <a:off x="7181850" y="4686300"/>
            <a:ext cx="38100" cy="152400"/>
          </a:xfrm>
          <a:prstGeom prst="roundRect">
            <a:avLst>
              <a:gd name="adj" fmla="val 50000"/>
            </a:avLst>
          </a:prstGeom>
          <a:solidFill>
            <a:srgbClr val="06B6D4"/>
          </a:solidFill>
        </p:spPr>
        <p:txBody>
          <a:bodyPr/>
          <a:p/>
        </p:txBody>
      </p:sp>
      <p:sp>
        <p:nvSpPr>
          <p:cNvPr id="321" name="文本框 320" descr="{&quot;isTemplate&quot;:true,&quot;type&quot;:&quot;text&quot;}"/>
          <p:cNvSpPr txBox="1"/>
          <p:nvPr/>
        </p:nvSpPr>
        <p:spPr>
          <a:xfrm>
            <a:off x="7296150" y="4657725"/>
            <a:ext cx="857250" cy="2095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FFFFFF"/>
                </a:solidFill>
                <a:latin typeface="Source Han Sans SC"/>
                <a:ea typeface="Source Han Sans SC"/>
              </a:rPr>
              <a:t>流式与降级</a:t>
            </a:r>
            <a:endParaRPr lang="zh-CN" sz="1350" b="1">
              <a:solidFill>
                <a:srgbClr val="FFFFFF"/>
              </a:solidFill>
              <a:latin typeface="Source Han Sans SC"/>
              <a:ea typeface="Source Han Sans SC"/>
            </a:endParaRPr>
          </a:p>
        </p:txBody>
      </p:sp>
      <p:sp>
        <p:nvSpPr>
          <p:cNvPr id="322" name="文本框 321" descr="{&quot;isTemplate&quot;:true,&quot;type&quot;:&quot;text&quot;}"/>
          <p:cNvSpPr txBox="1"/>
          <p:nvPr/>
        </p:nvSpPr>
        <p:spPr>
          <a:xfrm>
            <a:off x="7181850" y="4924425"/>
            <a:ext cx="4229100" cy="514350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en-US" sz="1015">
                <a:solidFill>
                  <a:srgbClr val="CBD5E1"/>
                </a:solidFill>
                <a:latin typeface="Source Han Sans SC"/>
                <a:ea typeface="Source Han Sans SC"/>
              </a:rPr>
              <a:t>SSE </a:t>
            </a:r>
            <a:r>
              <a:rPr lang="zh-CN" sz="1015">
                <a:solidFill>
                  <a:srgbClr val="CBD5E1"/>
                </a:solidFill>
                <a:latin typeface="Source Han Sans SC"/>
                <a:ea typeface="Source Han Sans SC"/>
              </a:rPr>
              <a:t>边生成边推送，首字节即见文本；无</a:t>
            </a:r>
            <a:r>
              <a:rPr lang="en-US" sz="1015">
                <a:solidFill>
                  <a:srgbClr val="CBD5E1"/>
                </a:solidFill>
                <a:latin typeface="Source Han Sans SC"/>
                <a:ea typeface="Source Han Sans SC"/>
              </a:rPr>
              <a:t> Key </a:t>
            </a:r>
            <a:r>
              <a:rPr lang="zh-CN" sz="1015">
                <a:solidFill>
                  <a:srgbClr val="CBD5E1"/>
                </a:solidFill>
                <a:latin typeface="Source Han Sans SC"/>
                <a:ea typeface="Source Han Sans SC"/>
              </a:rPr>
              <a:t>时同一路由降级为模板生成，前端无需改一行代码。</a:t>
            </a:r>
            <a:endParaRPr lang="zh-CN" sz="1015">
              <a:solidFill>
                <a:srgbClr val="CBD5E1"/>
              </a:solidFill>
              <a:latin typeface="Source Han Sans SC"/>
              <a:ea typeface="Source Han Sans SC"/>
            </a:endParaRPr>
          </a:p>
        </p:txBody>
      </p:sp>
      <p:sp>
        <p:nvSpPr>
          <p:cNvPr id="323" name="圆角矩形 322"/>
          <p:cNvSpPr/>
          <p:nvPr/>
        </p:nvSpPr>
        <p:spPr>
          <a:xfrm>
            <a:off x="609600" y="6343650"/>
            <a:ext cx="95250" cy="95250"/>
          </a:xfrm>
          <a:prstGeom prst="roundRect">
            <a:avLst>
              <a:gd name="adj" fmla="val 20000"/>
            </a:avLst>
          </a:prstGeom>
          <a:gradFill>
            <a:gsLst>
              <a:gs pos="0">
                <a:srgbClr val="3B82F6"/>
              </a:gs>
              <a:gs pos="100000">
                <a:srgbClr val="06B6D4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324" name="文本框 323" descr="{&quot;isTemplate&quot;:true,&quot;type&quot;:&quot;text&quot;}"/>
          <p:cNvSpPr txBox="1"/>
          <p:nvPr/>
        </p:nvSpPr>
        <p:spPr>
          <a:xfrm>
            <a:off x="781050" y="6305550"/>
            <a:ext cx="20193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94A3B8"/>
                </a:solidFill>
                <a:latin typeface="Source Han Sans SC"/>
                <a:ea typeface="Source Han Sans SC"/>
              </a:rPr>
              <a:t>AI </a:t>
            </a:r>
            <a:r>
              <a:rPr lang="zh-CN" sz="1050">
                <a:solidFill>
                  <a:srgbClr val="94A3B8"/>
                </a:solidFill>
                <a:latin typeface="Source Han Sans SC"/>
                <a:ea typeface="Source Han Sans SC"/>
              </a:rPr>
              <a:t>自媒体内容创作助手</a:t>
            </a:r>
            <a:r>
              <a:rPr lang="en-US" sz="1050">
                <a:solidFill>
                  <a:srgbClr val="94A3B8"/>
                </a:solidFill>
                <a:latin typeface="Source Han Sans SC"/>
                <a:ea typeface="Source Han Sans SC"/>
              </a:rPr>
              <a:t> · </a:t>
            </a:r>
            <a:r>
              <a:rPr lang="zh-CN" sz="1050">
                <a:solidFill>
                  <a:srgbClr val="94A3B8"/>
                </a:solidFill>
                <a:latin typeface="Source Han Sans SC"/>
                <a:ea typeface="Source Han Sans SC"/>
              </a:rPr>
              <a:t>项目汇报</a:t>
            </a:r>
            <a:endParaRPr lang="zh-CN" sz="1050">
              <a:solidFill>
                <a:srgbClr val="94A3B8"/>
              </a:solidFill>
              <a:latin typeface="Source Han Sans SC"/>
              <a:ea typeface="Source Han Sans SC"/>
            </a:endParaRPr>
          </a:p>
        </p:txBody>
      </p:sp>
      <p:sp>
        <p:nvSpPr>
          <p:cNvPr id="325" name="文本框 324" descr="{&quot;isTemplate&quot;:true,&quot;type&quot;:&quot;text&quot;}"/>
          <p:cNvSpPr txBox="1"/>
          <p:nvPr/>
        </p:nvSpPr>
        <p:spPr>
          <a:xfrm>
            <a:off x="11125200" y="6305550"/>
            <a:ext cx="4572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94A3B8"/>
                </a:solidFill>
                <a:latin typeface="Source Han Sans SC"/>
                <a:ea typeface="Source Han Sans SC"/>
              </a:rPr>
              <a:t>07 / 14</a:t>
            </a:r>
            <a:endParaRPr lang="en-US" sz="1050">
              <a:solidFill>
                <a:srgbClr val="94A3B8"/>
              </a:solidFill>
              <a:latin typeface="Source Han Sans SC"/>
              <a:ea typeface="Source Han Sans SC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26" name="" descr="&lt;Slide style={{ width: 1280, height: 720, padding: '20px 64px', fontFamily: '&quot;Source Han Sans SC&quot;, &quot;Noto Sans SC&quot;, &quot;PingFang SC&quot;, &quot;Microsoft YaHei&quot;, sans-serif', background: '#F8FAFC' }}&gt;&#10;  &lt;Box style={{ height: 100, justifyContent: 'center' }}&gt;&#10;    &lt;Box style={{ flexDirection: 'row', alignItems: 'center', gap: 16 }}&gt;&#10;      &lt;Box style={{ width: 6, height: 34, background: 'linear-gradient(135deg, #3B82F6 0%, #06B6D4 100%)', borderRadius: 3 }} /&gt;&#10;      &lt;Box&gt;&#10;        &lt;Text style={{ fontSize: 34, fontWeight: 'bold', color: '#0F172A' }}&gt;热点采集：三层数据模型&lt;/Text&gt;&#10;        &lt;Text style={{ fontSize: 18, color: '#64748B', marginTop: 4 }}&gt;真实热榜进得来、比得动、读得起——三个问题拆成三层各自解决&lt;/Text&gt;&#10;      &lt;/Box&gt;&#10;    &lt;/Box&gt;&#10;  &lt;/Box&gt;&#10;&#10;  &lt;Box style={{ height: 202, background: '#FFFFFF', border: '1px solid #E2E8F0', borderRadius: 16, padding: '10px 20px', justifyContent: 'center', boxShadow: '0 4px 20px rgba(15,23,42,0.06)' }}&gt;&#10;    &lt;svg width=&quot;1096&quot; height=&quot;182&quot; viewBox=&quot;0 0 1096 182&quot;&gt;&#10;      &lt;defs&gt;&#10;        &lt;linearGradient id=&quot;gN&quot; x1=&quot;0&quot; y1=&quot;0&quot; x2=&quot;1&quot; y2=&quot;1&quot;&gt;&#10;          &lt;stop offset=&quot;0%&quot; stopColor=&quot;#3B82F6&quot; /&gt;&#10;          &lt;stop offset=&quot;100%&quot; stopColor=&quot;#06B6D4&quot; /&gt;&#10;        &lt;/linearGradient&gt;&#10;        &lt;marker id=&quot;arG&quot; markerWidth=&quot;9&quot; markerHeight=&quot;9&quot; refX=&quot;7&quot; refY=&quot;4.5&quot; orient=&quot;auto&quot;&gt;&#10;          &lt;path d=&quot;M0 0 L9 4.5 L0 9 z&quot; fill=&quot;#93C5FD&quot; /&gt;&#10;        &lt;/marker&gt;&#10;      &lt;/defs&gt;&#10;&#10;      &lt;text x=&quot;106&quot; y=&quot;22&quot; textAnchor=&quot;middle&quot; fontSize=&quot;11&quot; fill=&quot;#94A3B8&quot; letterSpacing=&quot;1&quot;&gt;采 集&lt;/text&gt;&#10;      &lt;text x=&quot;392&quot; y=&quot;22&quot; textAnchor=&quot;middle&quot; fontSize=&quot;11&quot; fill=&quot;#94A3B8&quot; letterSpacing=&quot;1&quot;&gt;适 配&lt;/text&gt;&#10;      &lt;text x=&quot;678&quot; y=&quot;22&quot; textAnchor=&quot;middle&quot; fontSize=&quot;11&quot; fill=&quot;#94A3B8&quot; letterSpacing=&quot;1&quot;&gt;三 层 存 储&lt;/text&gt;&#10;&#10;      &lt;g&gt;&#10;        &lt;rect x=&quot;8&quot; y=&quot;34&quot; width=&quot;196&quot; height=&quot;112&quot; rx=&quot;12&quot; fill=&quot;#FFFBEB&quot; stroke=&quot;#FDE68A&quot; strokeWidth=&quot;1.5&quot; /&gt;&#10;        &lt;text x=&quot;106&quot; y=&quot;62&quot; textAnchor=&quot;middle&quot; fontSize=&quot;15&quot; fontWeight=&quot;bold&quot; fill=&quot;#92400E&quot;&gt;六源真实热榜&lt;/text&gt;&#10;        &lt;text x=&quot;106&quot; y=&quot;88&quot; textAnchor=&quot;middle&quot; fontSize=&quot;11.5&quot; fill=&quot;#B45309&quot;&gt;微博 · 知乎 · 百度&lt;/text&gt;&#10;        &lt;text x=&quot;106&quot; y=&quot;108&quot; textAnchor=&quot;middle&quot; fontSize=&quot;11.5&quot; fill=&quot;#B45309&quot;&gt;抖音 · B站 · 头条&lt;/text&gt;&#10;        &lt;text x=&quot;106&quot; y=&quot;130&quot; textAnchor=&quot;middle&quot; fontSize=&quot;10.5&quot; fill=&quot;#A16207&quot;&gt;实测 5 / 6 可用（知乎需登录态）&lt;/text&gt;&#10;      &lt;/g&gt;&#10;&#10;      &lt;path d=&quot;M208 90 L 232 90&quot; stroke=&quot;#93C5FD&quot; strokeWidth=&quot;2&quot; markerEnd=&quot;url(#arG)&quot; /&gt;&#10;&#10;      &lt;g&gt;&#10;        &lt;rect x=&quot;238&quot; y=&quot;34&quot; width=&quot;196&quot; height=&quot;112&quot; rx=&quot;12&quot; fill=&quot;#EFF6FF&quot; stroke=&quot;#BFDBFE&quot; strokeWidth=&quot;1.5&quot; /&gt;&#10;        &lt;text x=&quot;336&quot; y=&quot;62&quot; textAnchor=&quot;middle&quot; fontSize=&quot;15&quot; fontWeight=&quot;bold&quot; fill=&quot;#1E40AF&quot;&gt;适配器链&lt;/text&gt;&#10;        &lt;text x=&quot;336&quot; y=&quot;88&quot; textAnchor=&quot;middle&quot; fontSize=&quot;11.5&quot; fill=&quot;#3B82F6&quot;&gt;dailyhot → official&lt;/text&gt;&#10;        &lt;text x=&quot;336&quot; y=&quot;108&quot; textAnchor=&quot;middle&quot; fontSize=&quot;11.5&quot; fill=&quot;#3B82F6&quot;&gt;→ vvhan → tenapi&lt;/text&gt;&#10;        &lt;text x=&quot;336&quot; y=&quot;130&quot; textAnchor=&quot;middle&quot; fontSize=&quot;10.5&quot; fill=&quot;#60A5FA&quot;&gt;单源失败即熔断降级&lt;/text&gt;&#10;      &lt;/g&gt;&#10;&#10;      &lt;path d=&quot;M438 90 L 462 90&quot; stroke=&quot;#93C5FD&quot; strokeWidth=&quot;2&quot; markerEnd=&quot;url(#arG)&quot; /&gt;&#10;&#10;      &lt;g&gt;&#10;        &lt;rect x=&quot;468&quot; y=&quot;34&quot; width=&quot;196&quot; height=&quot;112&quot; rx=&quot;12&quot; fill=&quot;#FFFFFF&quot; stroke=&quot;#CBD5E1&quot; strokeWidth=&quot;1.5&quot; /&gt;&#10;        &lt;text x=&quot;566&quot; y=&quot;58&quot; textAnchor=&quot;middle&quot; fontSize=&quot;13&quot; fontWeight=&quot;bold&quot; fill=&quot;#0F172A&quot;&gt;hot_raw_items&lt;/text&gt;&#10;        &lt;text x=&quot;566&quot; y=&quot;82&quot; textAnchor=&quot;middle&quot; fontSize=&quot;15&quot; fontWeight=&quot;bold&quot; fill=&quot;#334155&quot;&gt;原始层&lt;/text&gt;&#10;        &lt;text x=&quot;566&quot; y=&quot;106&quot; textAnchor=&quot;middle&quot; fontSize=&quot;11.5&quot; fill=&quot;#64748B&quot;&gt;追加式，跨平台同名&lt;/text&gt;&#10;        &lt;text x=&quot;566&quot; y=&quot;124&quot; textAnchor=&quot;middle&quot; fontSize=&quot;11.5&quot; fill=&quot;#64748B&quot;&gt;各自保留，留证据链&lt;/text&gt;&#10;        &lt;text x=&quot;566&quot; y=&quot;142&quot; textAnchor=&quot;middle&quot; fontSize=&quot;10.5&quot; fill=&quot;#94A3B8&quot;&gt;按天清理&lt;/text&gt;&#10;      &lt;/g&gt;&#10;&#10;      &lt;path d=&quot;M668 90 L 692 90&quot; stroke=&quot;#93C5FD&quot; strokeWidth=&quot;2&quot; markerEnd=&quot;url(#arG)&quot; /&gt;&#10;&#10;      &lt;g&gt;&#10;        &lt;rect x=&quot;698&quot; y=&quot;34&quot; width=&quot;196&quot; height=&quot;112&quot; rx=&quot;12&quot; fill=&quot;#FFFFFF&quot; stroke=&quot;#CBD5E1&quot; strokeWidth=&quot;1.5&quot; /&gt;&#10;        &lt;text x=&quot;796&quot; y=&quot;58&quot; textAnchor=&quot;middle&quot; fontSize=&quot;13&quot; fontWeight=&quot;bold&quot; fill=&quot;#0F172A&quot;&gt;hot_signals&lt;/text&gt;&#10;        &lt;text x=&quot;796&quot; y=&quot;82&quot; textAnchor=&quot;middle&quot; fontSize=&quot;15&quot; fontWeight=&quot;bold&quot; fill=&quot;#334155&quot;&gt;聚合层&lt;/text&gt;&#10;        &lt;text x=&quot;796&quot; y=&quot;106&quot; textAnchor=&quot;middle&quot; fontSize=&quot;11.5&quot; fill=&quot;#64748B&quot;&gt;同话题跨源合并&lt;/text&gt;&#10;        &lt;text x=&quot;796&quot; y=&quot;124&quot; textAnchor=&quot;middle&quot; fontSize=&quot;11.5&quot; fill=&quot;#64748B&quot;&gt;热度归一化到 0–100&lt;/text&gt;&#10;        &lt;text x=&quot;796&quot; y=&quot;142&quot; textAnchor=&quot;middle&quot; fontSize=&quot;10.5&quot; fill=&quot;#94A3B8&quot;&gt;24h 生命周期&lt;/text&gt;&#10;      &lt;/g&gt;&#10;&#10;      &lt;path d=&quot;M898 90 L 922 90&quot; stroke=&quot;#93C5FD&quot; strokeWidth=&quot;2&quot; markerEnd=&quot;url(#arG)&quot; /&gt;&#10;&#10;      &lt;g&gt;&#10;        &lt;rect x=&quot;928&quot; y=&quot;34&quot; width=&quot;160&quot; height=&quot;112&quot; rx=&quot;12&quot; fill=&quot;url(#gN)&quot; /&gt;&#10;        &lt;text x=&quot;1008&quot; y=&quot;58&quot; textAnchor=&quot;middle&quot; fontSize=&quot;13&quot; fontWeight=&quot;bold&quot; fill=&quot;#E0F2FE&quot;&gt;hotspots&lt;/text&gt;&#10;        &lt;text x=&quot;1008&quot; y=&quot;82&quot; textAnchor=&quot;middle&quot; fontSize=&quot;15&quot; fontWeight=&quot;bold&quot; fill=&quot;#FFFFFF&quot;&gt;物化层&lt;/text&gt;&#10;        &lt;text x=&quot;1008&quot; y=&quot;106&quot; textAnchor=&quot;middle&quot; fontSize=&quot;11.5&quot; fill=&quot;#E0F2FE&quot;&gt;feed 打分与过滤&lt;/text&gt;&#10;        &lt;text x=&quot;1008&quot; y=&quot;124&quot; textAnchor=&quot;middle&quot; fontSize=&quot;11.5&quot; fill=&quot;#E0F2FE&quot;&gt;前端直接读&lt;/text&gt;&#10;        &lt;text x=&quot;1008&quot; y=&quot;142&quot; textAnchor=&quot;middle&quot; fontSize=&quot;10.5&quot; fill=&quot;#BAE6FD&quot;&gt;保留原表名兼容外键&lt;/text&gt;&#10;      &lt;/g&gt;&#10;    &lt;/svg&gt;&#10;  &lt;/Box&gt;&#10;&#10;  &lt;Box style={{ flexDirection: 'row', gap: 14, height: 302, marginTop: 16 }}&gt;&#10;    &lt;Box style={{ flex: 1, background: '#FFFFFF', border: '1px solid #E2E8F0', borderRadius: 14, padding: '16px 18px', flexDirection: 'column', boxShadow: '0 4px 20px rgba(15,23,42,0.05)' }}&gt;&#10;      &lt;Box style={{ flexDirection: 'row', alignItems: 'center', gap: 8 }}&gt;&#10;        &lt;Text style={{ fontSize: 12, color: '#94A3B8', letterSpacing: 1 }}&gt;LAYER 1&lt;/Text&gt;&#10;        &lt;Text style={{ fontSize: 18, fontWeight: 'bold', color: '#0F172A' }}&gt;原始层为什么不能合并&lt;/Text&gt;&#10;      &lt;/Box&gt;&#10;      &lt;Text style={{ fontSize: 13, color: '#475569', lineHeight: 1.75, marginTop: 8 }}&gt;&#10;        每个平台每次抓取整条追加，跨平台同名各自保留。同一条热点在微博第 5 名、在百度第 6 名，这两个事实都要能查到——一旦在写入时就合并，证据链就断了，事后无法判断是谁先上榜。&#10;      &lt;/Text&gt;&#10;      &lt;Box style={{ marginTop: 'auto', background: '#F8FAFC', borderRadius: 8, padding: '10px 12px' }}&gt;&#10;        &lt;Text style={{ fontSize: 12, color: '#64748B', lineHeight: 1.7 }}&gt;&#10;          取舍：冗余换可追溯。原始层按天清理，不参与任何读路径。&#10;        &lt;/Text&gt;&#10;      &lt;/Box&gt;&#10;    &lt;/Box&gt;&#10;&#10;    &lt;Box style={{ flex: 1, background: '#FFFFFF', border: '1px solid #E2E8F0', borderRadius: 14, padding: '16px 18px', flexDirection: 'column', boxShadow: '0 4px 20px rgba(15,23,42,0.05)' }}&gt;&#10;      &lt;Box style={{ flexDirection: 'row', alignItems: 'center', gap: 8 }}&gt;&#10;        &lt;Text style={{ fontSize: 12, color: '#94A3B8', letterSpacing: 1 }}&gt;LAYER 2&lt;/Text&gt;&#10;        &lt;Text style={{ fontSize: 18, fontWeight: 'bold', color: '#0F172A' }}&gt;聚合层为什么必须合并&lt;/Text&gt;&#10;      &lt;/Box&gt;&#10;      &lt;Text style={{ fontSize: 13, color: '#475569', lineHeight: 1.75, marginTop: 8 }}&gt;&#10;        六个来源的热度口径完全不同，直接展示没法比较。这一层按标题相似度把同话题并成一条，热度归一到 0–100，同时记下榜内名次与覆盖来源数。&#10;      &lt;/Text&gt;&#10;      &lt;Box style={{ marginTop: 'auto', background: 'rgba(245,158,11,0.10)', border: '1px solid rgba(245,158,11,0.30)', borderRadius: 8, padding: '10px 12px' }}&gt;&#10;        &lt;Text style={{ fontSize: 12, color: '#92400E', lineHeight: 1.7 }}&gt;&#10;          踩过的坑：分源调度下每批只有一个来源，若按批次聚合，覆盖来源数恒为 1。必须取各源最新快照再聚合。&#10;        &lt;/Text&gt;&#10;      &lt;/Box&gt;&#10;    &lt;/Box&gt;&#10;&#10;    &lt;Box style={{ flex: 1, background: '#FFFFFF', border: '1px solid #E2E8F0', borderRadius: 14, padding: '16px 18px', flexDirection: 'column', boxShadow: '0 4px 20px rgba(15,23,42,0.05)' }}&gt;&#10;      &lt;Box style={{ flexDirection: 'row', alignItems: 'center', gap: 8 }}&gt;&#10;        &lt;Text style={{ fontSize: 12, color: '#94A3B8', letterSpacing: 1 }}&gt;LAYER 3&lt;/Text&gt;&#10;        &lt;Text style={{ fontSize: 18, fontWeight: 'bold', color: '#0F172A' }}&gt;物化层为什么保留&lt;/Text&gt;&#10;      &lt;/Box&gt;&#10;      &lt;Text style={{ fontSize: 13, color: '#475569', lineHeight: 1.75, marginTop: 8 }}&gt;&#10;        理论上可以每次查询时现算，但前端首屏要按领域过滤再打分排序，现算撑不住。这层把聚合结果落成宽表，feed 打分与「剔除综合」都在这里完成。&#10;      &lt;/Text&gt;&#10;      &lt;Box style={{ marginTop: 'auto', background: '#F8FAFC', borderRadius: 8, padding: '10px 12px' }}&gt;&#10;        &lt;Text style={{ fontSize: 12, color: '#64748B', lineHeight: 1.7 }}&gt;&#10;          保留原表名不是为了省事：选题表的 hotspot_id 外键指向它，改名要动全部历史数据。&#10;        &lt;/Text&gt;&#10;      &lt;/Box&gt;&#10;    &lt;/Box&gt;&#10;  &lt;/Box&gt;&#10;&#10;  &lt;Box style={{ height: 60, flexDirection: 'row', justifyContent: 'space-between', alignItems: 'center' }}&gt;&#10;    &lt;Box style={{ flexDirection: 'row', alignItems: 'center', gap: 8 }}&gt;&#10;      &lt;Box style={{ width: 10, height: 10, borderRadius: 2, background: 'linear-gradient(135deg, #3B82F6, #06B6D4)' }} /&gt;&#10;      &lt;Text style={{ fontSize: 14, color: '#94A3B8' }}&gt;AI 自媒体内容创作助手 · 项目汇报&lt;/Text&gt;&#10;    &lt;/Box&gt;&#10;    &lt;Text style={{ fontSize: 14, color: '#94A3B8' }}&gt;08 / 14&lt;/Text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矩形 326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</p:spPr>
        <p:txBody>
          <a:bodyPr/>
          <a:p/>
        </p:txBody>
      </p:sp>
      <p:sp>
        <p:nvSpPr>
          <p:cNvPr id="328" name="圆角矩形 327"/>
          <p:cNvSpPr/>
          <p:nvPr/>
        </p:nvSpPr>
        <p:spPr>
          <a:xfrm>
            <a:off x="609600" y="514350"/>
            <a:ext cx="57150" cy="32385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3B82F6"/>
              </a:gs>
              <a:gs pos="100000">
                <a:srgbClr val="06B6D4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329" name="文本框 328" descr="{&quot;isTemplate&quot;:true,&quot;type&quot;:&quot;text&quot;}"/>
          <p:cNvSpPr txBox="1"/>
          <p:nvPr/>
        </p:nvSpPr>
        <p:spPr>
          <a:xfrm>
            <a:off x="819150" y="352425"/>
            <a:ext cx="5000625" cy="3905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0F172A"/>
                </a:solidFill>
                <a:latin typeface="Source Han Sans SC"/>
                <a:ea typeface="Source Han Sans SC"/>
              </a:rPr>
              <a:t>热点采集：三层数据模型</a:t>
            </a:r>
            <a:endParaRPr lang="zh-CN" sz="2550" b="1">
              <a:solidFill>
                <a:srgbClr val="0F172A"/>
              </a:solidFill>
              <a:latin typeface="Source Han Sans SC"/>
              <a:ea typeface="Source Han Sans SC"/>
            </a:endParaRPr>
          </a:p>
        </p:txBody>
      </p:sp>
      <p:sp>
        <p:nvSpPr>
          <p:cNvPr id="330" name="文本框 329" descr="{&quot;isTemplate&quot;:true,&quot;type&quot;:&quot;text&quot;}"/>
          <p:cNvSpPr txBox="1"/>
          <p:nvPr/>
        </p:nvSpPr>
        <p:spPr>
          <a:xfrm>
            <a:off x="819150" y="781050"/>
            <a:ext cx="5000625" cy="2095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64748B"/>
                </a:solidFill>
                <a:latin typeface="Source Han Sans SC"/>
                <a:ea typeface="Source Han Sans SC"/>
              </a:rPr>
              <a:t>真实热榜进得来、比得动、读得起——三个问题拆成三层各自解决</a:t>
            </a:r>
            <a:endParaRPr lang="zh-CN" sz="1350">
              <a:solidFill>
                <a:srgbClr val="64748B"/>
              </a:solidFill>
              <a:latin typeface="Source Han Sans SC"/>
              <a:ea typeface="Source Han Sans SC"/>
            </a:endParaRPr>
          </a:p>
        </p:txBody>
      </p:sp>
      <p:sp>
        <p:nvSpPr>
          <p:cNvPr id="331" name="圆角矩形 330"/>
          <p:cNvSpPr/>
          <p:nvPr/>
        </p:nvSpPr>
        <p:spPr>
          <a:xfrm>
            <a:off x="609600" y="1143000"/>
            <a:ext cx="10972800" cy="1924050"/>
          </a:xfrm>
          <a:prstGeom prst="roundRect">
            <a:avLst>
              <a:gd name="adj" fmla="val 792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90500" dist="38100" dir="5400000">
              <a:srgbClr val="0F172A">
                <a:alpha val="6000"/>
              </a:srgbClr>
            </a:outerShdw>
          </a:effectLst>
        </p:spPr>
        <p:txBody>
          <a:bodyPr/>
          <a:p/>
        </p:txBody>
      </p:sp>
      <p:pic>
        <p:nvPicPr>
          <p:cNvPr id="332" name="图片 331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00100" y="1238250"/>
            <a:ext cx="10439400" cy="1733550"/>
          </a:xfrm>
          <a:prstGeom prst="rect">
            <a:avLst/>
          </a:prstGeom>
        </p:spPr>
      </p:pic>
      <p:sp>
        <p:nvSpPr>
          <p:cNvPr id="333" name="圆角矩形 332"/>
          <p:cNvSpPr/>
          <p:nvPr/>
        </p:nvSpPr>
        <p:spPr>
          <a:xfrm>
            <a:off x="609600" y="3219450"/>
            <a:ext cx="3571875" cy="2876550"/>
          </a:xfrm>
          <a:prstGeom prst="roundRect">
            <a:avLst>
              <a:gd name="adj" fmla="val 463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90500" dist="38100" dir="5400000">
              <a:srgbClr val="0F172A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334" name="文本框 333" descr="{&quot;isTemplate&quot;:true,&quot;type&quot;:&quot;text&quot;}"/>
          <p:cNvSpPr txBox="1"/>
          <p:nvPr/>
        </p:nvSpPr>
        <p:spPr>
          <a:xfrm>
            <a:off x="781050" y="3409950"/>
            <a:ext cx="514350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spc="75">
                <a:solidFill>
                  <a:srgbClr val="94A3B8"/>
                </a:solidFill>
                <a:latin typeface="Source Han Sans SC"/>
                <a:ea typeface="Source Han Sans SC"/>
              </a:rPr>
              <a:t>LAYER 1</a:t>
            </a:r>
            <a:endParaRPr lang="en-US" sz="900" spc="75">
              <a:solidFill>
                <a:srgbClr val="94A3B8"/>
              </a:solidFill>
              <a:latin typeface="Source Han Sans SC"/>
              <a:ea typeface="Source Han Sans SC"/>
            </a:endParaRPr>
          </a:p>
        </p:txBody>
      </p:sp>
      <p:sp>
        <p:nvSpPr>
          <p:cNvPr id="335" name="文本框 334" descr="{&quot;isTemplate&quot;:true,&quot;type&quot;:&quot;text&quot;}"/>
          <p:cNvSpPr txBox="1"/>
          <p:nvPr/>
        </p:nvSpPr>
        <p:spPr>
          <a:xfrm>
            <a:off x="1371600" y="3371850"/>
            <a:ext cx="1714500" cy="2095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0F172A"/>
                </a:solidFill>
                <a:latin typeface="Source Han Sans SC"/>
                <a:ea typeface="Source Han Sans SC"/>
              </a:rPr>
              <a:t>原始层为什么不能合并</a:t>
            </a:r>
            <a:endParaRPr lang="zh-CN" sz="1350" b="1">
              <a:solidFill>
                <a:srgbClr val="0F172A"/>
              </a:solidFill>
              <a:latin typeface="Source Han Sans SC"/>
              <a:ea typeface="Source Han Sans SC"/>
            </a:endParaRPr>
          </a:p>
        </p:txBody>
      </p:sp>
      <p:sp>
        <p:nvSpPr>
          <p:cNvPr id="336" name="文本框 335" descr="{&quot;isTemplate&quot;:true,&quot;type&quot;:&quot;text&quot;}"/>
          <p:cNvSpPr txBox="1"/>
          <p:nvPr/>
        </p:nvSpPr>
        <p:spPr>
          <a:xfrm>
            <a:off x="781050" y="3657600"/>
            <a:ext cx="3228975" cy="1047750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75000"/>
              </a:lnSpc>
            </a:pPr>
            <a:r>
              <a:rPr lang="zh-CN" sz="975">
                <a:solidFill>
                  <a:srgbClr val="475569"/>
                </a:solidFill>
                <a:latin typeface="Source Han Sans SC"/>
                <a:ea typeface="Source Han Sans SC"/>
              </a:rPr>
              <a:t>每个平台每次抓取整条追加，跨平台同名各自保留。同一条热点在微博第</a:t>
            </a:r>
            <a:r>
              <a:rPr lang="en-US" sz="975">
                <a:solidFill>
                  <a:srgbClr val="475569"/>
                </a:solidFill>
                <a:latin typeface="Source Han Sans SC"/>
                <a:ea typeface="Source Han Sans SC"/>
              </a:rPr>
              <a:t> 5 </a:t>
            </a:r>
            <a:r>
              <a:rPr lang="zh-CN" sz="975">
                <a:solidFill>
                  <a:srgbClr val="475569"/>
                </a:solidFill>
                <a:latin typeface="Source Han Sans SC"/>
                <a:ea typeface="Source Han Sans SC"/>
              </a:rPr>
              <a:t>名、在百度第</a:t>
            </a:r>
            <a:r>
              <a:rPr lang="en-US" sz="975">
                <a:solidFill>
                  <a:srgbClr val="475569"/>
                </a:solidFill>
                <a:latin typeface="Source Han Sans SC"/>
                <a:ea typeface="Source Han Sans SC"/>
              </a:rPr>
              <a:t> 6 </a:t>
            </a:r>
            <a:r>
              <a:rPr lang="zh-CN" sz="975">
                <a:solidFill>
                  <a:srgbClr val="475569"/>
                </a:solidFill>
                <a:latin typeface="Source Han Sans SC"/>
                <a:ea typeface="Source Han Sans SC"/>
              </a:rPr>
              <a:t>名，这两个事实都要能查到——一旦在写入时就合并，证据链就断了，事后无法判断是谁先上榜。</a:t>
            </a:r>
            <a:endParaRPr lang="zh-CN" sz="975">
              <a:solidFill>
                <a:srgbClr val="475569"/>
              </a:solidFill>
              <a:latin typeface="Source Han Sans SC"/>
              <a:ea typeface="Source Han Sans SC"/>
            </a:endParaRPr>
          </a:p>
        </p:txBody>
      </p:sp>
      <p:sp>
        <p:nvSpPr>
          <p:cNvPr id="337" name="圆角矩形 336"/>
          <p:cNvSpPr/>
          <p:nvPr/>
        </p:nvSpPr>
        <p:spPr>
          <a:xfrm>
            <a:off x="781050" y="5286375"/>
            <a:ext cx="3228975" cy="657225"/>
          </a:xfrm>
          <a:prstGeom prst="roundRect">
            <a:avLst>
              <a:gd name="adj" fmla="val 11594"/>
            </a:avLst>
          </a:prstGeom>
          <a:solidFill>
            <a:srgbClr val="F8FAFC"/>
          </a:solidFill>
        </p:spPr>
        <p:txBody>
          <a:bodyPr/>
          <a:p/>
        </p:txBody>
      </p:sp>
      <p:sp>
        <p:nvSpPr>
          <p:cNvPr id="338" name="文本框 337" descr="{&quot;isTemplate&quot;:true,&quot;type&quot;:&quot;text&quot;}"/>
          <p:cNvSpPr txBox="1"/>
          <p:nvPr/>
        </p:nvSpPr>
        <p:spPr>
          <a:xfrm>
            <a:off x="895350" y="5381625"/>
            <a:ext cx="3000375" cy="466725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900">
                <a:solidFill>
                  <a:srgbClr val="64748B"/>
                </a:solidFill>
                <a:latin typeface="Source Han Sans SC"/>
                <a:ea typeface="Source Han Sans SC"/>
              </a:rPr>
              <a:t>取舍：冗余换可追溯。原始层按天清理，不参与任何读路径。</a:t>
            </a:r>
            <a:endParaRPr lang="zh-CN" sz="900">
              <a:solidFill>
                <a:srgbClr val="64748B"/>
              </a:solidFill>
              <a:latin typeface="Source Han Sans SC"/>
              <a:ea typeface="Source Han Sans SC"/>
            </a:endParaRPr>
          </a:p>
        </p:txBody>
      </p:sp>
      <p:sp>
        <p:nvSpPr>
          <p:cNvPr id="339" name="圆角矩形 338"/>
          <p:cNvSpPr/>
          <p:nvPr/>
        </p:nvSpPr>
        <p:spPr>
          <a:xfrm>
            <a:off x="4314825" y="3219450"/>
            <a:ext cx="3562350" cy="2876550"/>
          </a:xfrm>
          <a:prstGeom prst="roundRect">
            <a:avLst>
              <a:gd name="adj" fmla="val 463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90500" dist="38100" dir="5400000">
              <a:srgbClr val="0F172A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340" name="文本框 339" descr="{&quot;isTemplate&quot;:true,&quot;type&quot;:&quot;text&quot;}"/>
          <p:cNvSpPr txBox="1"/>
          <p:nvPr/>
        </p:nvSpPr>
        <p:spPr>
          <a:xfrm>
            <a:off x="4486275" y="3409950"/>
            <a:ext cx="514350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spc="75">
                <a:solidFill>
                  <a:srgbClr val="94A3B8"/>
                </a:solidFill>
                <a:latin typeface="Source Han Sans SC"/>
                <a:ea typeface="Source Han Sans SC"/>
              </a:rPr>
              <a:t>LAYER 2</a:t>
            </a:r>
            <a:endParaRPr lang="en-US" sz="900" spc="75">
              <a:solidFill>
                <a:srgbClr val="94A3B8"/>
              </a:solidFill>
              <a:latin typeface="Source Han Sans SC"/>
              <a:ea typeface="Source Han Sans SC"/>
            </a:endParaRPr>
          </a:p>
        </p:txBody>
      </p:sp>
      <p:sp>
        <p:nvSpPr>
          <p:cNvPr id="341" name="文本框 340" descr="{&quot;isTemplate&quot;:true,&quot;type&quot;:&quot;text&quot;}"/>
          <p:cNvSpPr txBox="1"/>
          <p:nvPr/>
        </p:nvSpPr>
        <p:spPr>
          <a:xfrm>
            <a:off x="5076825" y="3371850"/>
            <a:ext cx="1714500" cy="2095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0F172A"/>
                </a:solidFill>
                <a:latin typeface="Source Han Sans SC"/>
                <a:ea typeface="Source Han Sans SC"/>
              </a:rPr>
              <a:t>聚合层为什么必须合并</a:t>
            </a:r>
            <a:endParaRPr lang="zh-CN" sz="1350" b="1">
              <a:solidFill>
                <a:srgbClr val="0F172A"/>
              </a:solidFill>
              <a:latin typeface="Source Han Sans SC"/>
              <a:ea typeface="Source Han Sans SC"/>
            </a:endParaRPr>
          </a:p>
        </p:txBody>
      </p:sp>
      <p:sp>
        <p:nvSpPr>
          <p:cNvPr id="342" name="文本框 341" descr="{&quot;isTemplate&quot;:true,&quot;type&quot;:&quot;text&quot;}"/>
          <p:cNvSpPr txBox="1"/>
          <p:nvPr/>
        </p:nvSpPr>
        <p:spPr>
          <a:xfrm>
            <a:off x="4486275" y="3657600"/>
            <a:ext cx="3219450" cy="781050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75000"/>
              </a:lnSpc>
            </a:pPr>
            <a:r>
              <a:rPr lang="zh-CN" sz="975">
                <a:solidFill>
                  <a:srgbClr val="475569"/>
                </a:solidFill>
                <a:latin typeface="Source Han Sans SC"/>
                <a:ea typeface="Source Han Sans SC"/>
              </a:rPr>
              <a:t>六个来源的热度口径完全不同，直接展示没法比较。这一层按标题相似度把同话题并成一条，热度归一到</a:t>
            </a:r>
            <a:r>
              <a:rPr lang="en-US" sz="975">
                <a:solidFill>
                  <a:srgbClr val="475569"/>
                </a:solidFill>
                <a:latin typeface="Source Han Sans SC"/>
                <a:ea typeface="Source Han Sans SC"/>
              </a:rPr>
              <a:t> 0–100</a:t>
            </a:r>
            <a:r>
              <a:rPr lang="zh-CN" sz="975">
                <a:solidFill>
                  <a:srgbClr val="475569"/>
                </a:solidFill>
                <a:latin typeface="Source Han Sans SC"/>
                <a:ea typeface="Source Han Sans SC"/>
              </a:rPr>
              <a:t>，同时记下榜内名次与覆盖来源数。</a:t>
            </a:r>
            <a:endParaRPr lang="zh-CN" sz="975">
              <a:solidFill>
                <a:srgbClr val="475569"/>
              </a:solidFill>
              <a:latin typeface="Source Han Sans SC"/>
              <a:ea typeface="Source Han Sans SC"/>
            </a:endParaRPr>
          </a:p>
        </p:txBody>
      </p:sp>
      <p:sp>
        <p:nvSpPr>
          <p:cNvPr id="343" name="圆角矩形 342"/>
          <p:cNvSpPr/>
          <p:nvPr/>
        </p:nvSpPr>
        <p:spPr>
          <a:xfrm>
            <a:off x="4486275" y="5286375"/>
            <a:ext cx="3219450" cy="657225"/>
          </a:xfrm>
          <a:prstGeom prst="roundRect">
            <a:avLst>
              <a:gd name="adj" fmla="val 11594"/>
            </a:avLst>
          </a:prstGeom>
          <a:solidFill>
            <a:srgbClr val="F59E0B">
              <a:alpha val="10000"/>
            </a:srgbClr>
          </a:solidFill>
          <a:ln w="12700">
            <a:solidFill>
              <a:srgbClr val="F59E0B">
                <a:alpha val="3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44" name="文本框 343" descr="{&quot;isTemplate&quot;:true,&quot;type&quot;:&quot;text&quot;}"/>
          <p:cNvSpPr txBox="1"/>
          <p:nvPr/>
        </p:nvSpPr>
        <p:spPr>
          <a:xfrm>
            <a:off x="4600575" y="5381625"/>
            <a:ext cx="2990850" cy="466725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900">
                <a:solidFill>
                  <a:srgbClr val="92400E"/>
                </a:solidFill>
                <a:latin typeface="Source Han Sans SC"/>
                <a:ea typeface="Source Han Sans SC"/>
              </a:rPr>
              <a:t>踩过的坑：分源调度下每批只有一个来源，若按批次聚合，覆盖来源数恒为</a:t>
            </a:r>
            <a:r>
              <a:rPr lang="en-US" sz="900">
                <a:solidFill>
                  <a:srgbClr val="92400E"/>
                </a:solidFill>
                <a:latin typeface="Source Han Sans SC"/>
                <a:ea typeface="Source Han Sans SC"/>
              </a:rPr>
              <a:t> 1</a:t>
            </a:r>
            <a:r>
              <a:rPr lang="zh-CN" sz="900">
                <a:solidFill>
                  <a:srgbClr val="92400E"/>
                </a:solidFill>
                <a:latin typeface="Source Han Sans SC"/>
                <a:ea typeface="Source Han Sans SC"/>
              </a:rPr>
              <a:t>。必须取各源最新快照再聚合。</a:t>
            </a:r>
            <a:endParaRPr lang="zh-CN" sz="900">
              <a:solidFill>
                <a:srgbClr val="92400E"/>
              </a:solidFill>
              <a:latin typeface="Source Han Sans SC"/>
              <a:ea typeface="Source Han Sans SC"/>
            </a:endParaRPr>
          </a:p>
        </p:txBody>
      </p:sp>
      <p:sp>
        <p:nvSpPr>
          <p:cNvPr id="345" name="圆角矩形 344"/>
          <p:cNvSpPr/>
          <p:nvPr/>
        </p:nvSpPr>
        <p:spPr>
          <a:xfrm>
            <a:off x="8010525" y="3219450"/>
            <a:ext cx="3571875" cy="2876550"/>
          </a:xfrm>
          <a:prstGeom prst="roundRect">
            <a:avLst>
              <a:gd name="adj" fmla="val 463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90500" dist="38100" dir="5400000">
              <a:srgbClr val="0F172A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346" name="文本框 345" descr="{&quot;isTemplate&quot;:true,&quot;type&quot;:&quot;text&quot;}"/>
          <p:cNvSpPr txBox="1"/>
          <p:nvPr/>
        </p:nvSpPr>
        <p:spPr>
          <a:xfrm>
            <a:off x="8181975" y="3409950"/>
            <a:ext cx="514350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spc="75">
                <a:solidFill>
                  <a:srgbClr val="94A3B8"/>
                </a:solidFill>
                <a:latin typeface="Source Han Sans SC"/>
                <a:ea typeface="Source Han Sans SC"/>
              </a:rPr>
              <a:t>LAYER 3</a:t>
            </a:r>
            <a:endParaRPr lang="en-US" sz="900" spc="75">
              <a:solidFill>
                <a:srgbClr val="94A3B8"/>
              </a:solidFill>
              <a:latin typeface="Source Han Sans SC"/>
              <a:ea typeface="Source Han Sans SC"/>
            </a:endParaRPr>
          </a:p>
        </p:txBody>
      </p:sp>
      <p:sp>
        <p:nvSpPr>
          <p:cNvPr id="347" name="文本框 346" descr="{&quot;isTemplate&quot;:true,&quot;type&quot;:&quot;text&quot;}"/>
          <p:cNvSpPr txBox="1"/>
          <p:nvPr/>
        </p:nvSpPr>
        <p:spPr>
          <a:xfrm>
            <a:off x="8772525" y="3371850"/>
            <a:ext cx="1371600" cy="2095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0F172A"/>
                </a:solidFill>
                <a:latin typeface="Source Han Sans SC"/>
                <a:ea typeface="Source Han Sans SC"/>
              </a:rPr>
              <a:t>物化层为什么保留</a:t>
            </a:r>
            <a:endParaRPr lang="zh-CN" sz="1350" b="1">
              <a:solidFill>
                <a:srgbClr val="0F172A"/>
              </a:solidFill>
              <a:latin typeface="Source Han Sans SC"/>
              <a:ea typeface="Source Han Sans SC"/>
            </a:endParaRPr>
          </a:p>
        </p:txBody>
      </p:sp>
      <p:sp>
        <p:nvSpPr>
          <p:cNvPr id="348" name="文本框 347" descr="{&quot;isTemplate&quot;:true,&quot;type&quot;:&quot;text&quot;}"/>
          <p:cNvSpPr txBox="1"/>
          <p:nvPr/>
        </p:nvSpPr>
        <p:spPr>
          <a:xfrm>
            <a:off x="8181975" y="3657600"/>
            <a:ext cx="3228975" cy="781050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75000"/>
              </a:lnSpc>
            </a:pPr>
            <a:r>
              <a:rPr lang="zh-CN" sz="975">
                <a:solidFill>
                  <a:srgbClr val="475569"/>
                </a:solidFill>
                <a:latin typeface="Source Han Sans SC"/>
                <a:ea typeface="Source Han Sans SC"/>
              </a:rPr>
              <a:t>理论上可以每次查询时现算，但前端首屏要按领域过滤再打分排序，现算撑不住。这层把聚合结果落成宽表，</a:t>
            </a:r>
            <a:r>
              <a:rPr lang="en-US" sz="975">
                <a:solidFill>
                  <a:srgbClr val="475569"/>
                </a:solidFill>
                <a:latin typeface="Source Han Sans SC"/>
                <a:ea typeface="Source Han Sans SC"/>
              </a:rPr>
              <a:t>feed </a:t>
            </a:r>
            <a:r>
              <a:rPr lang="zh-CN" sz="975">
                <a:solidFill>
                  <a:srgbClr val="475569"/>
                </a:solidFill>
                <a:latin typeface="Source Han Sans SC"/>
                <a:ea typeface="Source Han Sans SC"/>
              </a:rPr>
              <a:t>打分与「剔除综合」都在这里完成。</a:t>
            </a:r>
            <a:endParaRPr lang="zh-CN" sz="975">
              <a:solidFill>
                <a:srgbClr val="475569"/>
              </a:solidFill>
              <a:latin typeface="Source Han Sans SC"/>
              <a:ea typeface="Source Han Sans SC"/>
            </a:endParaRPr>
          </a:p>
        </p:txBody>
      </p:sp>
      <p:sp>
        <p:nvSpPr>
          <p:cNvPr id="349" name="圆角矩形 348"/>
          <p:cNvSpPr/>
          <p:nvPr/>
        </p:nvSpPr>
        <p:spPr>
          <a:xfrm>
            <a:off x="8181975" y="5286375"/>
            <a:ext cx="3228975" cy="657225"/>
          </a:xfrm>
          <a:prstGeom prst="roundRect">
            <a:avLst>
              <a:gd name="adj" fmla="val 11594"/>
            </a:avLst>
          </a:prstGeom>
          <a:solidFill>
            <a:srgbClr val="F8FAFC"/>
          </a:solidFill>
        </p:spPr>
        <p:txBody>
          <a:bodyPr/>
          <a:p/>
        </p:txBody>
      </p:sp>
      <p:sp>
        <p:nvSpPr>
          <p:cNvPr id="350" name="文本框 349" descr="{&quot;isTemplate&quot;:true,&quot;type&quot;:&quot;text&quot;}"/>
          <p:cNvSpPr txBox="1"/>
          <p:nvPr/>
        </p:nvSpPr>
        <p:spPr>
          <a:xfrm>
            <a:off x="8296275" y="5381625"/>
            <a:ext cx="3000375" cy="466725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900">
                <a:solidFill>
                  <a:srgbClr val="64748B"/>
                </a:solidFill>
                <a:latin typeface="Source Han Sans SC"/>
                <a:ea typeface="Source Han Sans SC"/>
              </a:rPr>
              <a:t>保留原表名不是为了省事：选题表的</a:t>
            </a:r>
            <a:r>
              <a:rPr lang="en-US" sz="900">
                <a:solidFill>
                  <a:srgbClr val="64748B"/>
                </a:solidFill>
                <a:latin typeface="Source Han Sans SC"/>
                <a:ea typeface="Source Han Sans SC"/>
              </a:rPr>
              <a:t> hotspot_id </a:t>
            </a:r>
            <a:r>
              <a:rPr lang="zh-CN" sz="900">
                <a:solidFill>
                  <a:srgbClr val="64748B"/>
                </a:solidFill>
                <a:latin typeface="Source Han Sans SC"/>
                <a:ea typeface="Source Han Sans SC"/>
              </a:rPr>
              <a:t>外键指向它，改名要动全部历史数据。</a:t>
            </a:r>
            <a:endParaRPr lang="zh-CN" sz="900">
              <a:solidFill>
                <a:srgbClr val="64748B"/>
              </a:solidFill>
              <a:latin typeface="Source Han Sans SC"/>
              <a:ea typeface="Source Han Sans SC"/>
            </a:endParaRPr>
          </a:p>
        </p:txBody>
      </p:sp>
      <p:sp>
        <p:nvSpPr>
          <p:cNvPr id="351" name="圆角矩形 350"/>
          <p:cNvSpPr/>
          <p:nvPr/>
        </p:nvSpPr>
        <p:spPr>
          <a:xfrm>
            <a:off x="609600" y="6343650"/>
            <a:ext cx="95250" cy="95250"/>
          </a:xfrm>
          <a:prstGeom prst="roundRect">
            <a:avLst>
              <a:gd name="adj" fmla="val 20000"/>
            </a:avLst>
          </a:prstGeom>
          <a:gradFill>
            <a:gsLst>
              <a:gs pos="0">
                <a:srgbClr val="3B82F6"/>
              </a:gs>
              <a:gs pos="100000">
                <a:srgbClr val="06B6D4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352" name="文本框 351" descr="{&quot;isTemplate&quot;:true,&quot;type&quot;:&quot;text&quot;}"/>
          <p:cNvSpPr txBox="1"/>
          <p:nvPr/>
        </p:nvSpPr>
        <p:spPr>
          <a:xfrm>
            <a:off x="781050" y="6305550"/>
            <a:ext cx="20193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94A3B8"/>
                </a:solidFill>
                <a:latin typeface="Source Han Sans SC"/>
                <a:ea typeface="Source Han Sans SC"/>
              </a:rPr>
              <a:t>AI </a:t>
            </a:r>
            <a:r>
              <a:rPr lang="zh-CN" sz="1050">
                <a:solidFill>
                  <a:srgbClr val="94A3B8"/>
                </a:solidFill>
                <a:latin typeface="Source Han Sans SC"/>
                <a:ea typeface="Source Han Sans SC"/>
              </a:rPr>
              <a:t>自媒体内容创作助手</a:t>
            </a:r>
            <a:r>
              <a:rPr lang="en-US" sz="1050">
                <a:solidFill>
                  <a:srgbClr val="94A3B8"/>
                </a:solidFill>
                <a:latin typeface="Source Han Sans SC"/>
                <a:ea typeface="Source Han Sans SC"/>
              </a:rPr>
              <a:t> · </a:t>
            </a:r>
            <a:r>
              <a:rPr lang="zh-CN" sz="1050">
                <a:solidFill>
                  <a:srgbClr val="94A3B8"/>
                </a:solidFill>
                <a:latin typeface="Source Han Sans SC"/>
                <a:ea typeface="Source Han Sans SC"/>
              </a:rPr>
              <a:t>项目汇报</a:t>
            </a:r>
            <a:endParaRPr lang="zh-CN" sz="1050">
              <a:solidFill>
                <a:srgbClr val="94A3B8"/>
              </a:solidFill>
              <a:latin typeface="Source Han Sans SC"/>
              <a:ea typeface="Source Han Sans SC"/>
            </a:endParaRPr>
          </a:p>
        </p:txBody>
      </p:sp>
      <p:sp>
        <p:nvSpPr>
          <p:cNvPr id="353" name="文本框 352" descr="{&quot;isTemplate&quot;:true,&quot;type&quot;:&quot;text&quot;}"/>
          <p:cNvSpPr txBox="1"/>
          <p:nvPr/>
        </p:nvSpPr>
        <p:spPr>
          <a:xfrm>
            <a:off x="11125200" y="6305550"/>
            <a:ext cx="4572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94A3B8"/>
                </a:solidFill>
                <a:latin typeface="Source Han Sans SC"/>
                <a:ea typeface="Source Han Sans SC"/>
              </a:rPr>
              <a:t>08 / 14</a:t>
            </a:r>
            <a:endParaRPr lang="en-US" sz="1050">
              <a:solidFill>
                <a:srgbClr val="94A3B8"/>
              </a:solidFill>
              <a:latin typeface="Source Han Sans SC"/>
              <a:ea typeface="Source Han Sans SC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54" name="" descr="&lt;Slide style={{ width: 1280, height: 720, padding: '20px 64px', fontFamily: '&quot;Source Han Sans SC&quot;, &quot;Noto Sans SC&quot;, &quot;PingFang SC&quot;, &quot;Microsoft YaHei&quot;, sans-serif', background: '#F8FAFC' }}&gt;&#10;  &lt;Box style={{ height: 100, justifyContent: 'center' }}&gt;&#10;    &lt;Box style={{ flexDirection: 'row', alignItems: 'center', gap: 16 }}&gt;&#10;      &lt;Box style={{ width: 6, height: 34, background: 'linear-gradient(135deg, #3B82F6 0%, #06B6D4 100%)', borderRadius: 3 }} /&gt;&#10;      &lt;Box&gt;&#10;        &lt;Text style={{ fontSize: 34, fontWeight: 'bold', color: '#0F172A' }}&gt;推荐流与采纳漏斗&lt;/Text&gt;&#10;        &lt;Text style={{ fontSize: 18, color: '#64748B', marginTop: 4 }}&gt;推荐得准不准，不能靠感觉——三级埋点把它变成可读的数字&lt;/Text&gt;&#10;      &lt;/Box&gt;&#10;    &lt;/Box&gt;&#10;  &lt;/Box&gt;&#10;&#10;  &lt;Box style={{ flexDirection: 'row', gap: 20, height: 520 }}&gt;&#10;    &lt;Box style={{ width: 512, flexDirection: 'column', gap: 12 }}&gt;&#10;      &lt;Box style={{ background: '#FFFFFF', border: '1px solid #E2E8F0', borderRadius: 14, padding: 12, boxShadow: '0 4px 20px rgba(15,23,42,0.06)' }}&gt;&#10;        &lt;Image src=&quot;assets/shots/p3_real_feed.png&quot; style={{ width: 488, height: 339, borderRadius: 10, objectFit: 'cover', border: '1px solid #E2E8F0' }} /&gt;&#10;        &lt;Text style={{ fontSize: 12.5, color: '#64748B', marginTop: 10, lineHeight: 1.65 }}&gt;&#10;          真实界面：当天仅 4 条命中垂类，卡片上依次是可用的领域、归一化热度、建议角度、来源与榜内名次，以及「用它做选题」入口。&#10;        &lt;/Text&gt;&#10;      &lt;/Box&gt;&#10;      &lt;Box style={{ flex: 1, background: '#FFFFFF', border: '1px solid #E2E8F0', borderRadius: 12, padding: '10px 14px', justifyContent: 'center' }}&gt;&#10;        &lt;Text style={{ fontSize: 12.5, color: '#0F172A', fontWeight: 'bold' }}&gt;推荐打分五因子（权重和 1.0）&lt;/Text&gt;&#10;        &lt;Box style={{ flexDirection: 'row', gap: 6, marginTop: 7 }}&gt;&#10;          &lt;Box style={{ flex: 3, background: 'linear-gradient(135deg, #3B82F6, #06B6D4)', borderRadius: 6, padding: '5px 0', alignItems: 'center' }}&gt;&#10;            &lt;Text style={{ fontSize: 11, color: '#FFFFFF' }}&gt;领域 .30&lt;/Text&gt;&#10;          &lt;/Box&gt;&#10;          &lt;Box style={{ flex: 2.5, background: '#EFF6FF', borderRadius: 6, padding: '5px 0', alignItems: 'center' }}&gt;&#10;            &lt;Text style={{ fontSize: 11, color: '#1E40AF' }}&gt;新颖 .25&lt;/Text&gt;&#10;          &lt;/Box&gt;&#10;          &lt;Box style={{ flex: 2, background: '#EFF6FF', borderRadius: 6, padding: '5px 0', alignItems: 'center' }}&gt;&#10;            &lt;Text style={{ fontSize: 11, color: '#1E40AF' }}&gt;覆盖 .20&lt;/Text&gt;&#10;          &lt;/Box&gt;&#10;          &lt;Box style={{ flex: 1.5, background: '#EFF6FF', borderRadius: 6, padding: '5px 0', alignItems: 'center' }}&gt;&#10;            &lt;Text style={{ fontSize: 11, color: '#1E40AF' }}&gt;热度 .15&lt;/Text&gt;&#10;          &lt;/Box&gt;&#10;          &lt;Box style={{ flex: 1, background: '#EFF6FF', borderRadius: 6, padding: '5px 0', alignItems: 'center' }}&gt;&#10;            &lt;Text style={{ fontSize: 11, color: '#1E40AF' }}&gt;可写 .10&lt;/Text&gt;&#10;          &lt;/Box&gt;&#10;        &lt;/Box&gt;&#10;      &lt;/Box&gt;&#10;    &lt;/Box&gt;&#10;&#10;    &lt;Box style={{ flex: 1, flexDirection: 'column', gap: 12 }}&gt;&#10;      &lt;Box style={{ height: 272, background: '#FFFFFF', border: '1px solid #E2E8F0', borderRadius: 14, padding: '12px 16px', boxShadow: '0 4px 20px rgba(15,23,42,0.06)' }}&gt;&#10;        &lt;svg width=&quot;588&quot; height=&quot;248&quot; viewBox=&quot;0 0 588 248&quot;&gt;&#10;          &lt;defs&gt;&#10;            &lt;linearGradient id=&quot;gF&quot; x1=&quot;0&quot; y1=&quot;0&quot; x2=&quot;1&quot; y2=&quot;0&quot;&gt;&#10;              &lt;stop offset=&quot;0%&quot; stopColor=&quot;#3B82F6&quot; /&gt;&#10;              &lt;stop offset=&quot;100%&quot; stopColor=&quot;#06B6D4&quot; /&gt;&#10;            &lt;/linearGradient&gt;&#10;          &lt;/defs&gt;&#10;&#10;          &lt;rect x=&quot;6&quot; y=&quot;8&quot; width=&quot;404&quot; height=&quot;56&quot; rx=&quot;9&quot; fill=&quot;#0F172A&quot; /&gt;&#10;          &lt;text x=&quot;24&quot; y=&quot;32&quot; fontSize=&quot;13.5&quot; fontWeight=&quot;bold&quot; fill=&quot;#FFFFFF&quot;&gt;曝光 EXPOSE&lt;/text&gt;&#10;          &lt;text x=&quot;24&quot; y=&quot;52&quot; fontSize=&quot;11&quot; fill=&quot;#94A3B8&quot;&gt;前端渲染完成后上报，按屏记条数 —— 这就是分母&lt;/text&gt;&#10;&#10;          &lt;rect x=&quot;6&quot; y=&quot;80&quot; width=&quot;256&quot; height=&quot;56&quot; rx=&quot;9&quot; fill=&quot;url(#gF)&quot; /&gt;&#10;          &lt;text x=&quot;24&quot; y=&quot;104&quot; fontSize=&quot;13.5&quot; fontWeight=&quot;bold&quot; fill=&quot;#FFFFFF&quot;&gt;采纳 ADOPT&lt;/text&gt;&#10;          &lt;text x=&quot;24&quot; y=&quot;124&quot; fontSize=&quot;11&quot; fill=&quot;#E0F2FE&quot;&gt;点「用它做选题」，带上点在第几名&lt;/text&gt;&#10;&#10;          &lt;rect x=&quot;6&quot; y=&quot;152&quot; width=&quot;150&quot; height=&quot;56&quot; rx=&quot;9&quot; fill=&quot;#0F172A&quot; /&gt;&#10;          &lt;text x=&quot;24&quot; y=&quot;176&quot; fontSize=&quot;13&quot; fontWeight=&quot;bold&quot; fill=&quot;#FFFFFF&quot;&gt;出题 GENERATE&lt;/text&gt;&#10;          &lt;text x=&quot;24&quot; y=&quot;196&quot; fontSize=&quot;10.5&quot; fill=&quot;#94A3B8&quot;&gt;仅服务端写入&lt;/text&gt;&#10;&#10;          &lt;text x=&quot;278&quot; y=&quot;104&quot; fontSize=&quot;11.5&quot; fontWeight=&quot;bold&quot; fill=&quot;#0F172A&quot;&gt;ctr = 采纳 ÷ 曝光&lt;/text&gt;&#10;          &lt;text x=&quot;278&quot; y=&quot;120&quot; fontSize=&quot;10.5&quot; fill=&quot;#64748B&quot;&gt;推荐得准不准&lt;/text&gt;&#10;&#10;          &lt;text x=&quot;172&quot; y=&quot;176&quot; fontSize=&quot;11.5&quot; fontWeight=&quot;bold&quot; fill=&quot;#0F172A&quot;&gt;转化 = 出题 ÷ 采纳&lt;/text&gt;&#10;          &lt;text x=&quot;172&quot; y=&quot;192&quot; fontSize=&quot;10.5&quot; fill=&quot;#64748B&quot;&gt;选题好不好用&lt;/text&gt;&#10;&#10;          &lt;line x1=&quot;6&quot; y1=&quot;224&quot; x2=&quot;582&quot; y2=&quot;224&quot; stroke=&quot;#E2E8F0&quot; strokeWidth=&quot;1&quot; /&gt;&#10;          &lt;text x=&quot;6&quot; y=&quot;242&quot; fontSize=&quot;10.5&quot; fill=&quot;#94A3B8&quot;&gt;无曝光时 ctr 返回空值而不是 0 —— 0 会被读成「没人点」，结论正好相反&lt;/text&gt;&#10;        &lt;/svg&gt;&#10;      &lt;/Box&gt;&#10;&#10;      &lt;Box style={{ flex: 1, background: '#FFFFFF', border: '1px solid #E2E8F0', borderRadius: 14, padding: '14px 16px', flexDirection: 'column', boxShadow: '0 4px 20px rgba(15,23,42,0.05)' }}&gt;&#10;        &lt;Text style={{ fontSize: 13, fontWeight: 'bold', color: '#0F172A' }}&gt;两个指标必须一起看&lt;/Text&gt;&#10;        &lt;Box style={{ flexDirection: 'row', gap: 10, marginTop: 8 }}&gt;&#10;          &lt;Box style={{ flex: 1, background: '#F8FAFC', borderRadius: 8, padding: '8px 10px' }}&gt;&#10;            &lt;Text style={{ fontSize: 12, color: '#334155', lineHeight: 1.65 }}&gt;&#10;              &lt;Text style={{ fontSize: 12, fontWeight: 'bold', color: '#3B82F6' }}&gt;ctr 低于 5%&lt;/Text&gt;&#10;              ：推荐本身不准，该调五因子权重与领域词表。&#10;            &lt;/Text&gt;&#10;          &lt;/Box&gt;&#10;          &lt;Box style={{ flex: 1, background: '#F8FAFC', borderRadius: 8, padding: '8px 10px' }}&gt;&#10;            &lt;Text style={{ fontSize: 12, color: '#334155', lineHeight: 1.65 }}&gt;&#10;              &lt;Text style={{ fontSize: 12, fontWeight: 'bold', color: '#3B82F6' }}&gt;转化低于 50%&lt;/Text&gt;&#10;              ：推荐准了但题不好用，问题在选题质量而非排序。&#10;            &lt;/Text&gt;&#10;          &lt;/Box&gt;&#10;        &lt;/Box&gt;&#10;        &lt;Text style={{ fontSize: 12, color: '#64748B', lineHeight: 1.7, marginTop: 'auto' }}&gt;&#10;          只看 ctr 会把推荐调成标题党，只看转化会误判成排序问题。命中不足时我们不拿综合类补数——补进来的往往是时政与体育。&#10;        &lt;/Text&gt;&#10;      &lt;/Box&gt;&#10;    &lt;/Box&gt;&#10;  &lt;/Box&gt;&#10;&#10;  &lt;Box style={{ height: 60, flexDirection: 'row', justifyContent: 'space-between', alignItems: 'center' }}&gt;&#10;    &lt;Box style={{ flexDirection: 'row', alignItems: 'center', gap: 8 }}&gt;&#10;      &lt;Box style={{ width: 10, height: 10, borderRadius: 2, background: 'linear-gradient(135deg, #3B82F6, #06B6D4)' }} /&gt;&#10;      &lt;Text style={{ fontSize: 14, color: '#94A3B8' }}&gt;AI 自媒体内容创作助手 · 项目汇报&lt;/Text&gt;&#10;    &lt;/Box&gt;&#10;    &lt;Text style={{ fontSize: 14, color: '#94A3B8' }}&gt;09 / 14&lt;/Text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矩形 35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</p:spPr>
        <p:txBody>
          <a:bodyPr/>
          <a:p/>
        </p:txBody>
      </p:sp>
      <p:sp>
        <p:nvSpPr>
          <p:cNvPr id="356" name="圆角矩形 355"/>
          <p:cNvSpPr/>
          <p:nvPr/>
        </p:nvSpPr>
        <p:spPr>
          <a:xfrm>
            <a:off x="609600" y="514350"/>
            <a:ext cx="57150" cy="32385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3B82F6"/>
              </a:gs>
              <a:gs pos="100000">
                <a:srgbClr val="06B6D4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357" name="文本框 356" descr="{&quot;isTemplate&quot;:true,&quot;type&quot;:&quot;text&quot;}"/>
          <p:cNvSpPr txBox="1"/>
          <p:nvPr/>
        </p:nvSpPr>
        <p:spPr>
          <a:xfrm>
            <a:off x="819150" y="352425"/>
            <a:ext cx="4657725" cy="3905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0F172A"/>
                </a:solidFill>
                <a:latin typeface="Source Han Sans SC"/>
                <a:ea typeface="Source Han Sans SC"/>
              </a:rPr>
              <a:t>推荐流与采纳漏斗</a:t>
            </a:r>
            <a:endParaRPr lang="zh-CN" sz="2550" b="1">
              <a:solidFill>
                <a:srgbClr val="0F172A"/>
              </a:solidFill>
              <a:latin typeface="Source Han Sans SC"/>
              <a:ea typeface="Source Han Sans SC"/>
            </a:endParaRPr>
          </a:p>
        </p:txBody>
      </p:sp>
      <p:sp>
        <p:nvSpPr>
          <p:cNvPr id="358" name="文本框 357" descr="{&quot;isTemplate&quot;:true,&quot;type&quot;:&quot;text&quot;}"/>
          <p:cNvSpPr txBox="1"/>
          <p:nvPr/>
        </p:nvSpPr>
        <p:spPr>
          <a:xfrm>
            <a:off x="819150" y="781050"/>
            <a:ext cx="4657725" cy="2095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64748B"/>
                </a:solidFill>
                <a:latin typeface="Source Han Sans SC"/>
                <a:ea typeface="Source Han Sans SC"/>
              </a:rPr>
              <a:t>推荐得准不准，不能靠感觉——三级埋点把它变成可读的数字</a:t>
            </a:r>
            <a:endParaRPr lang="zh-CN" sz="1350">
              <a:solidFill>
                <a:srgbClr val="64748B"/>
              </a:solidFill>
              <a:latin typeface="Source Han Sans SC"/>
              <a:ea typeface="Source Han Sans SC"/>
            </a:endParaRPr>
          </a:p>
        </p:txBody>
      </p:sp>
      <p:sp>
        <p:nvSpPr>
          <p:cNvPr id="359" name="圆角矩形 358"/>
          <p:cNvSpPr/>
          <p:nvPr/>
        </p:nvSpPr>
        <p:spPr>
          <a:xfrm>
            <a:off x="609600" y="1143000"/>
            <a:ext cx="4876800" cy="4029075"/>
          </a:xfrm>
          <a:prstGeom prst="roundRect">
            <a:avLst>
              <a:gd name="adj" fmla="val 331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90500" dist="38100" dir="540000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360" name="矩形 359"/>
          <p:cNvSpPr/>
          <p:nvPr/>
        </p:nvSpPr>
        <p:spPr>
          <a:xfrm>
            <a:off x="723900" y="1257300"/>
            <a:ext cx="4648200" cy="3228975"/>
          </a:xfrm>
          <a:prstGeom prst="rect">
            <a:avLst/>
          </a:prstGeom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pic>
        <p:nvPicPr>
          <p:cNvPr id="361" name="图片 360"/>
          <p:cNvPicPr>
            <a:picLocks noChangeAspect="1"/>
          </p:cNvPicPr>
          <p:nvPr/>
        </p:nvPicPr>
        <p:blipFill>
          <a:blip r:embed="rId1"/>
          <a:srcRect l="16" r="16"/>
          <a:stretch>
            <a:fillRect/>
          </a:stretch>
        </p:blipFill>
        <p:spPr>
          <a:xfrm>
            <a:off x="723900" y="1257300"/>
            <a:ext cx="4648200" cy="3228975"/>
          </a:xfrm>
          <a:prstGeom prst="roundRect">
            <a:avLst>
              <a:gd name="adj" fmla="val 2950"/>
            </a:avLst>
          </a:prstGeom>
        </p:spPr>
      </p:pic>
      <p:sp>
        <p:nvSpPr>
          <p:cNvPr id="362" name="文本框 361" descr="{&quot;isTemplate&quot;:true,&quot;type&quot;:&quot;text&quot;}"/>
          <p:cNvSpPr txBox="1"/>
          <p:nvPr/>
        </p:nvSpPr>
        <p:spPr>
          <a:xfrm>
            <a:off x="723900" y="4581525"/>
            <a:ext cx="4648200" cy="476250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940">
                <a:solidFill>
                  <a:srgbClr val="64748B"/>
                </a:solidFill>
                <a:latin typeface="Source Han Sans SC"/>
                <a:ea typeface="Source Han Sans SC"/>
              </a:rPr>
              <a:t>真实界面：当天仅</a:t>
            </a:r>
            <a:r>
              <a:rPr lang="en-US" sz="940">
                <a:solidFill>
                  <a:srgbClr val="64748B"/>
                </a:solidFill>
                <a:latin typeface="Source Han Sans SC"/>
                <a:ea typeface="Source Han Sans SC"/>
              </a:rPr>
              <a:t> 4 </a:t>
            </a:r>
            <a:r>
              <a:rPr lang="zh-CN" sz="940">
                <a:solidFill>
                  <a:srgbClr val="64748B"/>
                </a:solidFill>
                <a:latin typeface="Source Han Sans SC"/>
                <a:ea typeface="Source Han Sans SC"/>
              </a:rPr>
              <a:t>条命中垂类，卡片上依次是可用的领域、归一化热度、建议角度、来源与榜内名次，以及「用它做选题」入口。</a:t>
            </a:r>
            <a:endParaRPr lang="zh-CN" sz="940">
              <a:solidFill>
                <a:srgbClr val="64748B"/>
              </a:solidFill>
              <a:latin typeface="Source Han Sans SC"/>
              <a:ea typeface="Source Han Sans SC"/>
            </a:endParaRPr>
          </a:p>
        </p:txBody>
      </p:sp>
      <p:sp>
        <p:nvSpPr>
          <p:cNvPr id="363" name="圆角矩形 362"/>
          <p:cNvSpPr/>
          <p:nvPr/>
        </p:nvSpPr>
        <p:spPr>
          <a:xfrm>
            <a:off x="609600" y="5286375"/>
            <a:ext cx="4876800" cy="809625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364" name="文本框 363" descr="{&quot;isTemplate&quot;:true,&quot;type&quot;:&quot;text&quot;}"/>
          <p:cNvSpPr txBox="1"/>
          <p:nvPr/>
        </p:nvSpPr>
        <p:spPr>
          <a:xfrm>
            <a:off x="742950" y="5476875"/>
            <a:ext cx="4610100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40" b="1">
                <a:solidFill>
                  <a:srgbClr val="0F172A"/>
                </a:solidFill>
                <a:latin typeface="Source Han Sans SC"/>
                <a:ea typeface="Source Han Sans SC"/>
              </a:rPr>
              <a:t>推荐打分五因子（权重和</a:t>
            </a:r>
            <a:r>
              <a:rPr lang="en-US" sz="940" b="1">
                <a:solidFill>
                  <a:srgbClr val="0F172A"/>
                </a:solidFill>
                <a:latin typeface="Source Han Sans SC"/>
                <a:ea typeface="Source Han Sans SC"/>
              </a:rPr>
              <a:t> 1.0</a:t>
            </a:r>
            <a:r>
              <a:rPr lang="zh-CN" sz="940" b="1">
                <a:solidFill>
                  <a:srgbClr val="0F172A"/>
                </a:solidFill>
                <a:latin typeface="Source Han Sans SC"/>
                <a:ea typeface="Source Han Sans SC"/>
              </a:rPr>
              <a:t>）</a:t>
            </a:r>
            <a:endParaRPr lang="zh-CN" sz="940" b="1">
              <a:solidFill>
                <a:srgbClr val="0F172A"/>
              </a:solidFill>
              <a:latin typeface="Source Han Sans SC"/>
              <a:ea typeface="Source Han Sans SC"/>
            </a:endParaRPr>
          </a:p>
        </p:txBody>
      </p:sp>
      <p:sp>
        <p:nvSpPr>
          <p:cNvPr id="365" name="圆角矩形 364"/>
          <p:cNvSpPr/>
          <p:nvPr/>
        </p:nvSpPr>
        <p:spPr>
          <a:xfrm>
            <a:off x="742950" y="5686425"/>
            <a:ext cx="1314450" cy="228600"/>
          </a:xfrm>
          <a:prstGeom prst="roundRect">
            <a:avLst>
              <a:gd name="adj" fmla="val 25000"/>
            </a:avLst>
          </a:prstGeom>
          <a:gradFill>
            <a:gsLst>
              <a:gs pos="0">
                <a:srgbClr val="3B82F6"/>
              </a:gs>
              <a:gs pos="100000">
                <a:srgbClr val="06B6D4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366" name="文本框 365" descr="{&quot;isTemplate&quot;:true,&quot;type&quot;:&quot;text&quot;}"/>
          <p:cNvSpPr txBox="1"/>
          <p:nvPr/>
        </p:nvSpPr>
        <p:spPr>
          <a:xfrm>
            <a:off x="1209675" y="5734050"/>
            <a:ext cx="390525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825">
                <a:solidFill>
                  <a:srgbClr val="FFFFFF"/>
                </a:solidFill>
                <a:latin typeface="Source Han Sans SC"/>
                <a:ea typeface="Source Han Sans SC"/>
              </a:rPr>
              <a:t>领域</a:t>
            </a:r>
            <a:r>
              <a:rPr lang="en-US" sz="825">
                <a:solidFill>
                  <a:srgbClr val="FFFFFF"/>
                </a:solidFill>
                <a:latin typeface="Source Han Sans SC"/>
                <a:ea typeface="Source Han Sans SC"/>
              </a:rPr>
              <a:t> .30</a:t>
            </a:r>
            <a:endParaRPr lang="en-US" sz="825">
              <a:solidFill>
                <a:srgbClr val="FFFFFF"/>
              </a:solidFill>
              <a:latin typeface="Source Han Sans SC"/>
              <a:ea typeface="Source Han Sans SC"/>
            </a:endParaRPr>
          </a:p>
        </p:txBody>
      </p:sp>
      <p:sp>
        <p:nvSpPr>
          <p:cNvPr id="367" name="圆角矩形 366"/>
          <p:cNvSpPr/>
          <p:nvPr/>
        </p:nvSpPr>
        <p:spPr>
          <a:xfrm>
            <a:off x="2114550" y="5686425"/>
            <a:ext cx="1095375" cy="228600"/>
          </a:xfrm>
          <a:prstGeom prst="roundRect">
            <a:avLst>
              <a:gd name="adj" fmla="val 25000"/>
            </a:avLst>
          </a:prstGeom>
          <a:solidFill>
            <a:srgbClr val="EFF6FF"/>
          </a:solidFill>
        </p:spPr>
        <p:txBody>
          <a:bodyPr/>
          <a:p/>
        </p:txBody>
      </p:sp>
      <p:sp>
        <p:nvSpPr>
          <p:cNvPr id="368" name="文本框 367" descr="{&quot;isTemplate&quot;:true,&quot;type&quot;:&quot;text&quot;}"/>
          <p:cNvSpPr txBox="1"/>
          <p:nvPr/>
        </p:nvSpPr>
        <p:spPr>
          <a:xfrm>
            <a:off x="2466975" y="5734050"/>
            <a:ext cx="390525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825">
                <a:solidFill>
                  <a:srgbClr val="1E40AF"/>
                </a:solidFill>
                <a:latin typeface="Source Han Sans SC"/>
                <a:ea typeface="Source Han Sans SC"/>
              </a:rPr>
              <a:t>新颖</a:t>
            </a:r>
            <a:r>
              <a:rPr lang="en-US" sz="825">
                <a:solidFill>
                  <a:srgbClr val="1E40AF"/>
                </a:solidFill>
                <a:latin typeface="Source Han Sans SC"/>
                <a:ea typeface="Source Han Sans SC"/>
              </a:rPr>
              <a:t> .25</a:t>
            </a:r>
            <a:endParaRPr lang="en-US" sz="825">
              <a:solidFill>
                <a:srgbClr val="1E40AF"/>
              </a:solidFill>
              <a:latin typeface="Source Han Sans SC"/>
              <a:ea typeface="Source Han Sans SC"/>
            </a:endParaRPr>
          </a:p>
        </p:txBody>
      </p:sp>
      <p:sp>
        <p:nvSpPr>
          <p:cNvPr id="369" name="圆角矩形 368"/>
          <p:cNvSpPr/>
          <p:nvPr/>
        </p:nvSpPr>
        <p:spPr>
          <a:xfrm>
            <a:off x="3267075" y="5686425"/>
            <a:ext cx="876300" cy="228600"/>
          </a:xfrm>
          <a:prstGeom prst="roundRect">
            <a:avLst>
              <a:gd name="adj" fmla="val 25000"/>
            </a:avLst>
          </a:prstGeom>
          <a:solidFill>
            <a:srgbClr val="EFF6FF"/>
          </a:solidFill>
        </p:spPr>
        <p:txBody>
          <a:bodyPr/>
          <a:p/>
        </p:txBody>
      </p:sp>
      <p:sp>
        <p:nvSpPr>
          <p:cNvPr id="370" name="文本框 369" descr="{&quot;isTemplate&quot;:true,&quot;type&quot;:&quot;text&quot;}"/>
          <p:cNvSpPr txBox="1"/>
          <p:nvPr/>
        </p:nvSpPr>
        <p:spPr>
          <a:xfrm>
            <a:off x="3514725" y="5734050"/>
            <a:ext cx="390525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825">
                <a:solidFill>
                  <a:srgbClr val="1E40AF"/>
                </a:solidFill>
                <a:latin typeface="Source Han Sans SC"/>
                <a:ea typeface="Source Han Sans SC"/>
              </a:rPr>
              <a:t>覆盖</a:t>
            </a:r>
            <a:r>
              <a:rPr lang="en-US" sz="825">
                <a:solidFill>
                  <a:srgbClr val="1E40AF"/>
                </a:solidFill>
                <a:latin typeface="Source Han Sans SC"/>
                <a:ea typeface="Source Han Sans SC"/>
              </a:rPr>
              <a:t> .20</a:t>
            </a:r>
            <a:endParaRPr lang="en-US" sz="825">
              <a:solidFill>
                <a:srgbClr val="1E40AF"/>
              </a:solidFill>
              <a:latin typeface="Source Han Sans SC"/>
              <a:ea typeface="Source Han Sans SC"/>
            </a:endParaRPr>
          </a:p>
        </p:txBody>
      </p:sp>
      <p:sp>
        <p:nvSpPr>
          <p:cNvPr id="371" name="圆角矩形 370"/>
          <p:cNvSpPr/>
          <p:nvPr/>
        </p:nvSpPr>
        <p:spPr>
          <a:xfrm>
            <a:off x="4200525" y="5686425"/>
            <a:ext cx="657225" cy="228600"/>
          </a:xfrm>
          <a:prstGeom prst="roundRect">
            <a:avLst>
              <a:gd name="adj" fmla="val 25000"/>
            </a:avLst>
          </a:prstGeom>
          <a:solidFill>
            <a:srgbClr val="EFF6FF"/>
          </a:solidFill>
        </p:spPr>
        <p:txBody>
          <a:bodyPr/>
          <a:p/>
        </p:txBody>
      </p:sp>
      <p:sp>
        <p:nvSpPr>
          <p:cNvPr id="372" name="文本框 371" descr="{&quot;isTemplate&quot;:true,&quot;type&quot;:&quot;text&quot;}"/>
          <p:cNvSpPr txBox="1"/>
          <p:nvPr/>
        </p:nvSpPr>
        <p:spPr>
          <a:xfrm>
            <a:off x="4333875" y="5734050"/>
            <a:ext cx="390525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825">
                <a:solidFill>
                  <a:srgbClr val="1E40AF"/>
                </a:solidFill>
                <a:latin typeface="Source Han Sans SC"/>
                <a:ea typeface="Source Han Sans SC"/>
              </a:rPr>
              <a:t>热度</a:t>
            </a:r>
            <a:r>
              <a:rPr lang="en-US" sz="825">
                <a:solidFill>
                  <a:srgbClr val="1E40AF"/>
                </a:solidFill>
                <a:latin typeface="Source Han Sans SC"/>
                <a:ea typeface="Source Han Sans SC"/>
              </a:rPr>
              <a:t> .15</a:t>
            </a:r>
            <a:endParaRPr lang="en-US" sz="825">
              <a:solidFill>
                <a:srgbClr val="1E40AF"/>
              </a:solidFill>
              <a:latin typeface="Source Han Sans SC"/>
              <a:ea typeface="Source Han Sans SC"/>
            </a:endParaRPr>
          </a:p>
        </p:txBody>
      </p:sp>
      <p:sp>
        <p:nvSpPr>
          <p:cNvPr id="373" name="圆角矩形 372"/>
          <p:cNvSpPr/>
          <p:nvPr/>
        </p:nvSpPr>
        <p:spPr>
          <a:xfrm>
            <a:off x="4914900" y="5686425"/>
            <a:ext cx="438150" cy="228600"/>
          </a:xfrm>
          <a:prstGeom prst="roundRect">
            <a:avLst>
              <a:gd name="adj" fmla="val 25000"/>
            </a:avLst>
          </a:prstGeom>
          <a:solidFill>
            <a:srgbClr val="EFF6FF"/>
          </a:solidFill>
        </p:spPr>
        <p:txBody>
          <a:bodyPr/>
          <a:p/>
        </p:txBody>
      </p:sp>
      <p:sp>
        <p:nvSpPr>
          <p:cNvPr id="374" name="文本框 373" descr="{&quot;isTemplate&quot;:true,&quot;type&quot;:&quot;text&quot;}"/>
          <p:cNvSpPr txBox="1"/>
          <p:nvPr/>
        </p:nvSpPr>
        <p:spPr>
          <a:xfrm>
            <a:off x="4943475" y="5734050"/>
            <a:ext cx="390525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825">
                <a:solidFill>
                  <a:srgbClr val="1E40AF"/>
                </a:solidFill>
                <a:latin typeface="Source Han Sans SC"/>
                <a:ea typeface="Source Han Sans SC"/>
              </a:rPr>
              <a:t>可写</a:t>
            </a:r>
            <a:r>
              <a:rPr lang="en-US" sz="825">
                <a:solidFill>
                  <a:srgbClr val="1E40AF"/>
                </a:solidFill>
                <a:latin typeface="Source Han Sans SC"/>
                <a:ea typeface="Source Han Sans SC"/>
              </a:rPr>
              <a:t> .10</a:t>
            </a:r>
            <a:endParaRPr lang="en-US" sz="825">
              <a:solidFill>
                <a:srgbClr val="1E40AF"/>
              </a:solidFill>
              <a:latin typeface="Source Han Sans SC"/>
              <a:ea typeface="Source Han Sans SC"/>
            </a:endParaRPr>
          </a:p>
        </p:txBody>
      </p:sp>
      <p:sp>
        <p:nvSpPr>
          <p:cNvPr id="375" name="圆角矩形 374"/>
          <p:cNvSpPr/>
          <p:nvPr/>
        </p:nvSpPr>
        <p:spPr>
          <a:xfrm>
            <a:off x="5676900" y="1143000"/>
            <a:ext cx="5905500" cy="2590800"/>
          </a:xfrm>
          <a:prstGeom prst="roundRect">
            <a:avLst>
              <a:gd name="adj" fmla="val 514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90500" dist="38100" dir="5400000">
              <a:srgbClr val="0F172A">
                <a:alpha val="6000"/>
              </a:srgbClr>
            </a:outerShdw>
          </a:effectLst>
        </p:spPr>
        <p:txBody>
          <a:bodyPr/>
          <a:p/>
        </p:txBody>
      </p:sp>
      <p:pic>
        <p:nvPicPr>
          <p:cNvPr id="376" name="图片 375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29300" y="1257300"/>
            <a:ext cx="5600700" cy="2362200"/>
          </a:xfrm>
          <a:prstGeom prst="rect">
            <a:avLst/>
          </a:prstGeom>
        </p:spPr>
      </p:pic>
      <p:sp>
        <p:nvSpPr>
          <p:cNvPr id="377" name="圆角矩形 376"/>
          <p:cNvSpPr/>
          <p:nvPr/>
        </p:nvSpPr>
        <p:spPr>
          <a:xfrm>
            <a:off x="5676900" y="3848100"/>
            <a:ext cx="5905500" cy="2247900"/>
          </a:xfrm>
          <a:prstGeom prst="roundRect">
            <a:avLst>
              <a:gd name="adj" fmla="val 593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90500" dist="38100" dir="5400000">
              <a:srgbClr val="0F172A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378" name="文本框 377" descr="{&quot;isTemplate&quot;:true,&quot;type&quot;:&quot;text&quot;}"/>
          <p:cNvSpPr txBox="1"/>
          <p:nvPr/>
        </p:nvSpPr>
        <p:spPr>
          <a:xfrm>
            <a:off x="5829300" y="3981450"/>
            <a:ext cx="5600700" cy="1524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b="1">
                <a:solidFill>
                  <a:srgbClr val="0F172A"/>
                </a:solidFill>
                <a:latin typeface="Source Han Sans SC"/>
                <a:ea typeface="Source Han Sans SC"/>
              </a:rPr>
              <a:t>两个指标必须一起看</a:t>
            </a:r>
            <a:endParaRPr lang="zh-CN" sz="975" b="1">
              <a:solidFill>
                <a:srgbClr val="0F172A"/>
              </a:solidFill>
              <a:latin typeface="Source Han Sans SC"/>
              <a:ea typeface="Source Han Sans SC"/>
            </a:endParaRPr>
          </a:p>
        </p:txBody>
      </p:sp>
      <p:sp>
        <p:nvSpPr>
          <p:cNvPr id="379" name="圆角矩形 378"/>
          <p:cNvSpPr/>
          <p:nvPr/>
        </p:nvSpPr>
        <p:spPr>
          <a:xfrm>
            <a:off x="5829300" y="4210050"/>
            <a:ext cx="2752725" cy="609600"/>
          </a:xfrm>
          <a:prstGeom prst="roundRect">
            <a:avLst>
              <a:gd name="adj" fmla="val 12500"/>
            </a:avLst>
          </a:prstGeom>
          <a:solidFill>
            <a:srgbClr val="F8FAFC"/>
          </a:solidFill>
        </p:spPr>
        <p:txBody>
          <a:bodyPr/>
          <a:p/>
        </p:txBody>
      </p:sp>
      <p:sp>
        <p:nvSpPr>
          <p:cNvPr id="380" name="文本框 379" descr="{&quot;isTemplate&quot;:true,&quot;type&quot;:&quot;text&quot;}"/>
          <p:cNvSpPr txBox="1"/>
          <p:nvPr/>
        </p:nvSpPr>
        <p:spPr>
          <a:xfrm>
            <a:off x="5924550" y="4286250"/>
            <a:ext cx="2562225" cy="457200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en-US" sz="900">
                <a:solidFill>
                  <a:srgbClr val="334155"/>
                </a:solidFill>
                <a:latin typeface="Source Han Sans SC"/>
                <a:ea typeface="Source Han Sans SC"/>
              </a:rPr>
              <a:t>ctr </a:t>
            </a:r>
            <a:r>
              <a:rPr lang="zh-CN" sz="900">
                <a:solidFill>
                  <a:srgbClr val="334155"/>
                </a:solidFill>
                <a:latin typeface="Source Han Sans SC"/>
                <a:ea typeface="Source Han Sans SC"/>
              </a:rPr>
              <a:t>低于</a:t>
            </a:r>
            <a:r>
              <a:rPr lang="en-US" sz="900">
                <a:solidFill>
                  <a:srgbClr val="334155"/>
                </a:solidFill>
                <a:latin typeface="Source Han Sans SC"/>
                <a:ea typeface="Source Han Sans SC"/>
              </a:rPr>
              <a:t> 5%</a:t>
            </a:r>
            <a:r>
              <a:rPr lang="zh-CN" sz="900">
                <a:solidFill>
                  <a:srgbClr val="334155"/>
                </a:solidFill>
                <a:latin typeface="Source Han Sans SC"/>
                <a:ea typeface="Source Han Sans SC"/>
              </a:rPr>
              <a:t>：推荐本身不准，该调五因子权重与领域词表。</a:t>
            </a:r>
            <a:endParaRPr lang="zh-CN" sz="900">
              <a:solidFill>
                <a:srgbClr val="334155"/>
              </a:solidFill>
              <a:latin typeface="Source Han Sans SC"/>
              <a:ea typeface="Source Han Sans SC"/>
            </a:endParaRPr>
          </a:p>
        </p:txBody>
      </p:sp>
      <p:sp>
        <p:nvSpPr>
          <p:cNvPr id="381" name="圆角矩形 380"/>
          <p:cNvSpPr/>
          <p:nvPr/>
        </p:nvSpPr>
        <p:spPr>
          <a:xfrm>
            <a:off x="8677275" y="4210050"/>
            <a:ext cx="2752725" cy="609600"/>
          </a:xfrm>
          <a:prstGeom prst="roundRect">
            <a:avLst>
              <a:gd name="adj" fmla="val 12500"/>
            </a:avLst>
          </a:prstGeom>
          <a:solidFill>
            <a:srgbClr val="F8FAFC"/>
          </a:solidFill>
        </p:spPr>
        <p:txBody>
          <a:bodyPr/>
          <a:p/>
        </p:txBody>
      </p:sp>
      <p:sp>
        <p:nvSpPr>
          <p:cNvPr id="382" name="文本框 381" descr="{&quot;isTemplate&quot;:true,&quot;type&quot;:&quot;text&quot;}"/>
          <p:cNvSpPr txBox="1"/>
          <p:nvPr/>
        </p:nvSpPr>
        <p:spPr>
          <a:xfrm>
            <a:off x="8772525" y="4286250"/>
            <a:ext cx="2562225" cy="457200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900">
                <a:solidFill>
                  <a:srgbClr val="334155"/>
                </a:solidFill>
                <a:latin typeface="Source Han Sans SC"/>
                <a:ea typeface="Source Han Sans SC"/>
              </a:rPr>
              <a:t>转化低于</a:t>
            </a:r>
            <a:r>
              <a:rPr lang="en-US" sz="900">
                <a:solidFill>
                  <a:srgbClr val="334155"/>
                </a:solidFill>
                <a:latin typeface="Source Han Sans SC"/>
                <a:ea typeface="Source Han Sans SC"/>
              </a:rPr>
              <a:t> 50%</a:t>
            </a:r>
            <a:r>
              <a:rPr lang="zh-CN" sz="900">
                <a:solidFill>
                  <a:srgbClr val="334155"/>
                </a:solidFill>
                <a:latin typeface="Source Han Sans SC"/>
                <a:ea typeface="Source Han Sans SC"/>
              </a:rPr>
              <a:t>：推荐准了但题不好用，问题在选题质量而非排序。</a:t>
            </a:r>
            <a:endParaRPr lang="zh-CN" sz="900">
              <a:solidFill>
                <a:srgbClr val="334155"/>
              </a:solidFill>
              <a:latin typeface="Source Han Sans SC"/>
              <a:ea typeface="Source Han Sans SC"/>
            </a:endParaRPr>
          </a:p>
        </p:txBody>
      </p:sp>
      <p:sp>
        <p:nvSpPr>
          <p:cNvPr id="383" name="文本框 382" descr="{&quot;isTemplate&quot;:true,&quot;type&quot;:&quot;text&quot;}"/>
          <p:cNvSpPr txBox="1"/>
          <p:nvPr/>
        </p:nvSpPr>
        <p:spPr>
          <a:xfrm>
            <a:off x="5829300" y="5495925"/>
            <a:ext cx="5600700" cy="466725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900">
                <a:solidFill>
                  <a:srgbClr val="64748B"/>
                </a:solidFill>
                <a:latin typeface="Source Han Sans SC"/>
                <a:ea typeface="Source Han Sans SC"/>
              </a:rPr>
              <a:t>只看</a:t>
            </a:r>
            <a:r>
              <a:rPr lang="en-US" sz="900">
                <a:solidFill>
                  <a:srgbClr val="64748B"/>
                </a:solidFill>
                <a:latin typeface="Source Han Sans SC"/>
                <a:ea typeface="Source Han Sans SC"/>
              </a:rPr>
              <a:t> ctr </a:t>
            </a:r>
            <a:r>
              <a:rPr lang="zh-CN" sz="900">
                <a:solidFill>
                  <a:srgbClr val="64748B"/>
                </a:solidFill>
                <a:latin typeface="Source Han Sans SC"/>
                <a:ea typeface="Source Han Sans SC"/>
              </a:rPr>
              <a:t>会把推荐调成标题党，只看转化会误判成排序问题。命中不足时我们不拿综合类补数——补进来的往往是时政与体育。</a:t>
            </a:r>
            <a:endParaRPr lang="zh-CN" sz="900">
              <a:solidFill>
                <a:srgbClr val="64748B"/>
              </a:solidFill>
              <a:latin typeface="Source Han Sans SC"/>
              <a:ea typeface="Source Han Sans SC"/>
            </a:endParaRPr>
          </a:p>
        </p:txBody>
      </p:sp>
      <p:sp>
        <p:nvSpPr>
          <p:cNvPr id="384" name="圆角矩形 383"/>
          <p:cNvSpPr/>
          <p:nvPr/>
        </p:nvSpPr>
        <p:spPr>
          <a:xfrm>
            <a:off x="609600" y="6343650"/>
            <a:ext cx="95250" cy="95250"/>
          </a:xfrm>
          <a:prstGeom prst="roundRect">
            <a:avLst>
              <a:gd name="adj" fmla="val 20000"/>
            </a:avLst>
          </a:prstGeom>
          <a:gradFill>
            <a:gsLst>
              <a:gs pos="0">
                <a:srgbClr val="3B82F6"/>
              </a:gs>
              <a:gs pos="100000">
                <a:srgbClr val="06B6D4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385" name="文本框 384" descr="{&quot;isTemplate&quot;:true,&quot;type&quot;:&quot;text&quot;}"/>
          <p:cNvSpPr txBox="1"/>
          <p:nvPr/>
        </p:nvSpPr>
        <p:spPr>
          <a:xfrm>
            <a:off x="781050" y="6305550"/>
            <a:ext cx="20193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94A3B8"/>
                </a:solidFill>
                <a:latin typeface="Source Han Sans SC"/>
                <a:ea typeface="Source Han Sans SC"/>
              </a:rPr>
              <a:t>AI </a:t>
            </a:r>
            <a:r>
              <a:rPr lang="zh-CN" sz="1050">
                <a:solidFill>
                  <a:srgbClr val="94A3B8"/>
                </a:solidFill>
                <a:latin typeface="Source Han Sans SC"/>
                <a:ea typeface="Source Han Sans SC"/>
              </a:rPr>
              <a:t>自媒体内容创作助手</a:t>
            </a:r>
            <a:r>
              <a:rPr lang="en-US" sz="1050">
                <a:solidFill>
                  <a:srgbClr val="94A3B8"/>
                </a:solidFill>
                <a:latin typeface="Source Han Sans SC"/>
                <a:ea typeface="Source Han Sans SC"/>
              </a:rPr>
              <a:t> · </a:t>
            </a:r>
            <a:r>
              <a:rPr lang="zh-CN" sz="1050">
                <a:solidFill>
                  <a:srgbClr val="94A3B8"/>
                </a:solidFill>
                <a:latin typeface="Source Han Sans SC"/>
                <a:ea typeface="Source Han Sans SC"/>
              </a:rPr>
              <a:t>项目汇报</a:t>
            </a:r>
            <a:endParaRPr lang="zh-CN" sz="1050">
              <a:solidFill>
                <a:srgbClr val="94A3B8"/>
              </a:solidFill>
              <a:latin typeface="Source Han Sans SC"/>
              <a:ea typeface="Source Han Sans SC"/>
            </a:endParaRPr>
          </a:p>
        </p:txBody>
      </p:sp>
      <p:sp>
        <p:nvSpPr>
          <p:cNvPr id="386" name="文本框 385" descr="{&quot;isTemplate&quot;:true,&quot;type&quot;:&quot;text&quot;}"/>
          <p:cNvSpPr txBox="1"/>
          <p:nvPr/>
        </p:nvSpPr>
        <p:spPr>
          <a:xfrm>
            <a:off x="11125200" y="6305550"/>
            <a:ext cx="4572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94A3B8"/>
                </a:solidFill>
                <a:latin typeface="Source Han Sans SC"/>
                <a:ea typeface="Source Han Sans SC"/>
              </a:rPr>
              <a:t>09 / 14</a:t>
            </a:r>
            <a:endParaRPr lang="en-US" sz="1050">
              <a:solidFill>
                <a:srgbClr val="94A3B8"/>
              </a:solidFill>
              <a:latin typeface="Source Han Sans SC"/>
              <a:ea typeface="Source Han Sans SC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7" name="" descr="&lt;Slide style={{ width: 1280, height: 720, padding: '0 84px', fontFamily: '&quot;Source Han Sans SC&quot;, &quot;Noto Sans SC&quot;, &quot;PingFang SC&quot;, &quot;Microsoft YaHei&quot;, sans-serif', position: 'relative', overflow: 'hidden', background: '#0F172A' }}&gt;&#10;  &lt;Box style={{ position: 'absolute', top: 0, left: 0, width: 1280, height: 720, background: 'radial-gradient(circle at 78% 30%, rgba(6,182,212,0.16) 0%, rgba(15,23,42,0) 60%)' }} /&gt;&#10;&#10;  &lt;Box style={{ position: 'relative', height: 720, justifyContent: 'center' }}&gt;&#10;    &lt;Text style={{ fontSize: 15, color: '#67E8F9', letterSpacing: 5 }}&gt;CHAPTER THREE&lt;/Text&gt;&#10;&#10;    &lt;Box style={{ flexDirection: 'row', alignItems: 'center', gap: 36, marginTop: 8 }}&gt;&#10;      &lt;Text style={{ fontSize: 168, fontWeight: 'bold', lineHeight: 0.95, letterSpacing: -8, backgroundImage: 'linear-gradient(135deg, #93C5FD 0%, #22D3EE 100%)', backgroundClip: 'text', color: 'transparent' }}&gt;&#10;        03&#10;      &lt;/Text&gt;&#10;      &lt;Box&gt;&#10;        &lt;Text style={{ fontSize: 58, fontWeight: 'bold', color: '#FFFFFF', lineHeight: 1.1 }}&gt;实现与验证&lt;/Text&gt;&#10;        &lt;Text style={{ fontSize: 17, color: '#94A3B8', marginTop: 10 }}&gt;从计划到可复现的数字&lt;/Text&gt;&#10;      &lt;/Box&gt;&#10;    &lt;/Box&gt;&#10;&#10;    &lt;svg width=&quot;1112&quot; height=&quot;132&quot; viewBox=&quot;0 0 1112 132&quot; style={{ marginTop: 30 }}&gt;&#10;      &lt;line x1=&quot;4&quot; y1=&quot;26&quot; x2=&quot;1108&quot; y2=&quot;26&quot; stroke=&quot;rgba(148,163,184,0.32)&quot; strokeWidth=&quot;1.5&quot; /&gt;&#10;      &lt;circle cx=&quot;10&quot; cy=&quot;26&quot; r=&quot;6&quot; fill=&quot;#3B82F6&quot; /&gt;&#10;      &lt;circle cx=&quot;556&quot; cy=&quot;26&quot; r=&quot;6&quot; fill=&quot;#06B6D4&quot; /&gt;&#10;      &lt;circle cx=&quot;1102&quot; cy=&quot;26&quot; r=&quot;6&quot; fill=&quot;#22D3EE&quot; /&gt;&#10;      &lt;text x=&quot;4&quot; y=&quot;58&quot; fontSize=&quot;12&quot; fill=&quot;#64748B&quot; letterSpacing=&quot;1&quot;&gt;起点&lt;/text&gt;&#10;      &lt;text x=&quot;4&quot; y=&quot;82&quot; fontSize=&quot;14&quot; fontWeight=&quot;bold&quot; fill=&quot;#E2E8F0&quot;&gt;计划书 M1–M5&lt;/text&gt;&#10;      &lt;text x=&quot;4&quot; y=&quot;104&quot; fontSize=&quot;11.5&quot; fill=&quot;#94A3B8&quot;&gt;需求 → 数据 → 后端 → 前端 → 测试&lt;/text&gt;&#10;&#10;      &lt;text x=&quot;490&quot; y=&quot;58&quot; fontSize=&quot;12&quot; fill=&quot;#64748B&quot; letterSpacing=&quot;1&quot;&gt;验收&lt;/text&gt;&#10;      &lt;text x=&quot;490&quot; y=&quot;82&quot; fontSize=&quot;14&quot; fontWeight=&quot;bold&quot; fill=&quot;#E2E8F0&quot;&gt;四项指标全部达标&lt;/text&gt;&#10;      &lt;text x=&quot;490&quot; y=&quot;104&quot; fontSize=&quot;11.5&quot; fill=&quot;#94A3B8&quot;&gt;检索 / 适配 / 可用率 / 耗时&lt;/text&gt;&#10;&#10;      &lt;text x=&quot;880&quot; y=&quot;58&quot; fontSize=&quot;12&quot; fill=&quot;#64748B&quot; letterSpacing=&quot;1&quot;&gt;当前&lt;/text&gt;&#10;      &lt;text x=&quot;880&quot; y=&quot;82&quot; fontSize=&quot;14&quot; fontWeight=&quot;bold&quot; fill=&quot;#E2E8F0&quot;&gt;热点采集三期重构&lt;/text&gt;&#10;      &lt;text x=&quot;880&quot; y=&quot;104&quot; fontSize=&quot;11.5&quot; fill=&quot;#94A3B8&quot;&gt;真实采集 → 推荐流 → 漏斗度量&lt;/text&gt;&#10;    &lt;/svg&gt;&#10;&#10;    &lt;Text style={{ fontSize: 18, color: '#CBD5E1', marginTop: 26, lineHeight: 1.8, width: 900 }}&gt;&#10;      这一章只讲两件事：交付过程是不是有纪律，以及指标能不能被独立复现。顺手把踩过的坑一起摊开。&#10;    &lt;/Text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矩形 17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</p:spPr>
        <p:txBody>
          <a:bodyPr/>
          <a:p/>
        </p:txBody>
      </p:sp>
      <p:sp>
        <p:nvSpPr>
          <p:cNvPr id="19" name="矩形 1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6B6D4">
                  <a:alpha val="16000"/>
                </a:srgbClr>
              </a:gs>
              <a:gs pos="60000">
                <a:srgbClr val="0F172A">
                  <a:alpha val="0"/>
                </a:srgbClr>
              </a:gs>
            </a:gsLst>
            <a:path path="circle">
              <a:fillToRect l="78000" t="30000" r="22000" b="70000"/>
            </a:path>
          </a:gradFill>
        </p:spPr>
        <p:txBody>
          <a:bodyPr/>
          <a:p/>
        </p:txBody>
      </p:sp>
      <p:sp>
        <p:nvSpPr>
          <p:cNvPr id="20" name="文本框 19" descr="{&quot;isTemplate&quot;:true,&quot;type&quot;:&quot;text&quot;}"/>
          <p:cNvSpPr txBox="1"/>
          <p:nvPr/>
        </p:nvSpPr>
        <p:spPr>
          <a:xfrm>
            <a:off x="800100" y="1314450"/>
            <a:ext cx="10591800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375">
                <a:solidFill>
                  <a:srgbClr val="67E8F9"/>
                </a:solidFill>
                <a:latin typeface="Source Han Sans SC"/>
                <a:ea typeface="Source Han Sans SC"/>
              </a:rPr>
              <a:t>CHAPTER THREE</a:t>
            </a:r>
            <a:endParaRPr lang="en-US" sz="1125" spc="375">
              <a:solidFill>
                <a:srgbClr val="67E8F9"/>
              </a:solidFill>
              <a:latin typeface="Source Han Sans SC"/>
              <a:ea typeface="Source Han Sans SC"/>
            </a:endParaRPr>
          </a:p>
        </p:txBody>
      </p:sp>
      <p:sp>
        <p:nvSpPr>
          <p:cNvPr id="21" name="文本框 20" descr="{&quot;isTemplate&quot;:true,&quot;type&quot;:&quot;text&quot;}"/>
          <p:cNvSpPr txBox="1"/>
          <p:nvPr/>
        </p:nvSpPr>
        <p:spPr>
          <a:xfrm>
            <a:off x="800100" y="1562100"/>
            <a:ext cx="1828800" cy="18288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95000"/>
              </a:lnSpc>
            </a:pPr>
            <a:r>
              <a:rPr lang="en-US" sz="12600" b="1" spc="-600">
                <a:gradFill>
                  <a:gsLst>
                    <a:gs pos="0">
                      <a:srgbClr val="93C5FD"/>
                    </a:gs>
                    <a:gs pos="100000">
                      <a:srgbClr val="22D3EE"/>
                    </a:gs>
                  </a:gsLst>
                  <a:lin ang="2700000" scaled="1"/>
                </a:gradFill>
                <a:latin typeface="Source Han Sans SC"/>
                <a:ea typeface="Source Han Sans SC"/>
              </a:rPr>
              <a:t>03</a:t>
            </a:r>
            <a:endParaRPr lang="en-US" sz="12600" b="1" spc="-600">
              <a:gradFill>
                <a:gsLst>
                  <a:gs pos="0">
                    <a:srgbClr val="93C5FD"/>
                  </a:gs>
                  <a:gs pos="100000">
                    <a:srgbClr val="22D3EE"/>
                  </a:gs>
                </a:gsLst>
                <a:lin ang="2700000" scaled="1"/>
              </a:gradFill>
              <a:latin typeface="Source Han Sans SC"/>
              <a:ea typeface="Source Han Sans SC"/>
            </a:endParaRPr>
          </a:p>
        </p:txBody>
      </p:sp>
      <p:sp>
        <p:nvSpPr>
          <p:cNvPr id="22" name="文本框 21" descr="{&quot;isTemplate&quot;:true,&quot;type&quot;:&quot;text&quot;}"/>
          <p:cNvSpPr txBox="1"/>
          <p:nvPr/>
        </p:nvSpPr>
        <p:spPr>
          <a:xfrm>
            <a:off x="2971800" y="1962150"/>
            <a:ext cx="2762250" cy="7334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10000"/>
              </a:lnSpc>
            </a:pPr>
            <a:r>
              <a:rPr lang="zh-CN" sz="4350" b="1">
                <a:solidFill>
                  <a:srgbClr val="FFFFFF"/>
                </a:solidFill>
                <a:latin typeface="Source Han Sans SC"/>
                <a:ea typeface="Source Han Sans SC"/>
              </a:rPr>
              <a:t>实现与验证</a:t>
            </a:r>
            <a:endParaRPr lang="zh-CN" sz="4350" b="1">
              <a:solidFill>
                <a:srgbClr val="FFFFFF"/>
              </a:solidFill>
              <a:latin typeface="Source Han Sans SC"/>
              <a:ea typeface="Source Han Sans SC"/>
            </a:endParaRPr>
          </a:p>
        </p:txBody>
      </p:sp>
      <p:sp>
        <p:nvSpPr>
          <p:cNvPr id="23" name="文本框 22" descr="{&quot;isTemplate&quot;:true,&quot;type&quot;:&quot;text&quot;}"/>
          <p:cNvSpPr txBox="1"/>
          <p:nvPr/>
        </p:nvSpPr>
        <p:spPr>
          <a:xfrm>
            <a:off x="2971800" y="2790825"/>
            <a:ext cx="2762250" cy="2000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94A3B8"/>
                </a:solidFill>
                <a:latin typeface="Source Han Sans SC"/>
                <a:ea typeface="Source Han Sans SC"/>
              </a:rPr>
              <a:t>从计划到可复现的数字</a:t>
            </a:r>
            <a:endParaRPr lang="zh-CN" sz="1275">
              <a:solidFill>
                <a:srgbClr val="94A3B8"/>
              </a:solidFill>
              <a:latin typeface="Source Han Sans SC"/>
              <a:ea typeface="Source Han Sans SC"/>
            </a:endParaRPr>
          </a:p>
        </p:txBody>
      </p:sp>
      <p:pic>
        <p:nvPicPr>
          <p:cNvPr id="24" name="图片 23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00100" y="3676650"/>
            <a:ext cx="10591800" cy="1257300"/>
          </a:xfrm>
          <a:prstGeom prst="rect">
            <a:avLst/>
          </a:prstGeom>
        </p:spPr>
      </p:pic>
      <p:sp>
        <p:nvSpPr>
          <p:cNvPr id="25" name="文本框 24" descr="{&quot;isTemplate&quot;:true,&quot;type&quot;:&quot;text&quot;}"/>
          <p:cNvSpPr txBox="1"/>
          <p:nvPr/>
        </p:nvSpPr>
        <p:spPr>
          <a:xfrm>
            <a:off x="800100" y="5181600"/>
            <a:ext cx="8572500" cy="3714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zh-CN" sz="1350">
                <a:solidFill>
                  <a:srgbClr val="CBD5E1"/>
                </a:solidFill>
                <a:latin typeface="Source Han Sans SC"/>
                <a:ea typeface="Source Han Sans SC"/>
              </a:rPr>
              <a:t>这一章只讲两件事：交付过程是不是有纪律，以及指标能不能被独立复现。顺手把踩过的坑一起摊开。</a:t>
            </a:r>
            <a:endParaRPr lang="zh-CN" sz="1350">
              <a:solidFill>
                <a:srgbClr val="CBD5E1"/>
              </a:solidFill>
              <a:latin typeface="Source Han Sans SC"/>
              <a:ea typeface="Source Han Sans SC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6" name="" descr="&lt;Slide style={{ width: 1280, height: 720, padding: '20px 64px', fontFamily: '&quot;Source Han Sans SC&quot;, &quot;Noto Sans SC&quot;, &quot;PingFang SC&quot;, &quot;Microsoft YaHei&quot;, sans-serif', background: '#F8FAFC' }}&gt;&#10;  &lt;Box style={{ height: 100, justifyContent: 'center' }}&gt;&#10;    &lt;Box style={{ flexDirection: 'row', alignItems: 'center', gap: 16 }}&gt;&#10;      &lt;Box style={{ width: 6, height: 34, background: 'linear-gradient(135deg, #3B82F6 0%, #06B6D4 100%)', borderRadius: 3 }} /&gt;&#10;      &lt;Box&gt;&#10;        &lt;Text style={{ fontSize: 34, fontWeight: 'bold', color: '#0F172A' }}&gt;里程碑：六个阶段&lt;/Text&gt;&#10;        &lt;Text style={{ fontSize: 18, color: '#64748B', marginTop: 4 }}&gt;每个阶段都有明确交付物和可执行验证，不是「做完了」三个字&lt;/Text&gt;&#10;      &lt;/Box&gt;&#10;    &lt;/Box&gt;&#10;  &lt;/Box&gt;&#10;&#10;  &lt;Box style={{ height: 290, background: '#FFFFFF', border: '1px solid #E2E8F0', borderRadius: 16, padding: '8px 16px', justifyContent: 'center', boxShadow: '0 4px 20px rgba(15,23,42,0.06)' }}&gt;&#10;    &lt;svg width=&quot;1104&quot; height=&quot;274&quot; viewBox=&quot;0 0 1104 274&quot;&gt;&#10;      &lt;defs&gt;&#10;        &lt;linearGradient id=&quot;gT&quot; x1=&quot;0&quot; y1=&quot;0&quot; x2=&quot;1&quot; y2=&quot;0&quot;&gt;&#10;          &lt;stop offset=&quot;0%&quot; stopColor=&quot;#93C5FD&quot; /&gt;&#10;          &lt;stop offset=&quot;70%&quot; stopColor=&quot;#3B82F6&quot; /&gt;&#10;          &lt;stop offset=&quot;100%&quot; stopColor=&quot;#06B6D4&quot; /&gt;&#10;        &lt;/linearGradient&gt;&#10;      &lt;/defs&gt;&#10;      &lt;line x1=&quot;46&quot; y1=&quot;137&quot; x2=&quot;1058&quot; y2=&quot;137&quot; stroke=&quot;url(#gT)&quot; strokeWidth=&quot;2.5&quot; strokeLinecap=&quot;round&quot; /&gt;&#10;&#10;      &lt;line x1=&quot;60&quot; y1=&quot;103&quot; x2=&quot;60&quot; y2=&quot;137&quot; stroke=&quot;#CBD5E1&quot; strokeWidth=&quot;1.2&quot; /&gt;&#10;      &lt;circle cx=&quot;60&quot; cy=&quot;137&quot; r=&quot;7&quot; fill=&quot;#FFFFFF&quot; stroke=&quot;#3B82F6&quot; strokeWidth=&quot;2.5&quot; /&gt;&#10;      &lt;text x=&quot;60&quot; y=&quot;30&quot; textAnchor=&quot;middle&quot; fontSize=&quot;12.5&quot; fontWeight=&quot;bold&quot; fill=&quot;#0F172A&quot;&gt;M1 需求与设计&lt;/text&gt;&#10;      &lt;text x=&quot;60&quot; y=&quot;50&quot; textAnchor=&quot;middle&quot; fontSize=&quot;10.5&quot; fill=&quot;#94A3B8&quot;&gt;10-09&lt;/text&gt;&#10;      &lt;text x=&quot;60&quot; y=&quot;76&quot; textAnchor=&quot;middle&quot; fontSize=&quot;10.5&quot; fill=&quot;#64748B&quot;&gt;PRD / 架构 / 数据库&lt;/text&gt;&#10;      &lt;text x=&quot;60&quot; y=&quot;94&quot; textAnchor=&quot;middle&quot; fontSize=&quot;10.5&quot; fill=&quot;#64748B&quot;&gt;/ 原型，四份均过评审&lt;/text&gt;&#10;&#10;      &lt;line x1=&quot;260&quot; y1=&quot;137&quot; x2=&quot;260&quot; y2=&quot;167&quot; stroke=&quot;#CBD5E1&quot; strokeWidth=&quot;1.2&quot; /&gt;&#10;      &lt;circle cx=&quot;260&quot; cy=&quot;137&quot; r=&quot;7&quot; fill=&quot;#FFFFFF&quot; stroke=&quot;#3B82F6&quot; strokeWidth=&quot;2.5&quot; /&gt;&#10;      &lt;text x=&quot;260&quot; y=&quot;192&quot; textAnchor=&quot;middle&quot; fontSize=&quot;12.5&quot; fontWeight=&quot;bold&quot; fill=&quot;#0F172A&quot;&gt;M2 数据与评测&lt;/text&gt;&#10;      &lt;text x=&quot;260&quot; y=&quot;211&quot; textAnchor=&quot;middle&quot; fontSize=&quot;10.5&quot; fill=&quot;#94A3B8&quot;&gt;10-10&lt;/text&gt;&#10;      &lt;text x=&quot;260&quot; y=&quot;234&quot; textAnchor=&quot;middle&quot; fontSize=&quot;10.5&quot; fill=&quot;#64748B&quot;&gt;90 素材 / 270 分块&lt;/text&gt;&#10;      &lt;text x=&quot;260&quot; y=&quot;252&quot; textAnchor=&quot;middle&quot; fontSize=&quot;10.5&quot; fill=&quot;#64748B&quot;&gt;180 条评测集可重建&lt;/text&gt;&#10;&#10;      &lt;line x1=&quot;460&quot; y1=&quot;103&quot; x2=&quot;460&quot; y2=&quot;137&quot; stroke=&quot;#CBD5E1&quot; strokeWidth=&quot;1.2&quot; /&gt;&#10;      &lt;circle cx=&quot;460&quot; cy=&quot;137&quot; r=&quot;7&quot; fill=&quot;#FFFFFF&quot; stroke=&quot;#3B82F6&quot; strokeWidth=&quot;2.5&quot; /&gt;&#10;      &lt;text x=&quot;460&quot; y=&quot;30&quot; textAnchor=&quot;middle&quot; fontSize=&quot;12.5&quot; fontWeight=&quot;bold&quot; fill=&quot;#0F172A&quot;&gt;M3 后端服务&lt;/text&gt;&#10;      &lt;text x=&quot;460&quot; y=&quot;50&quot; textAnchor=&quot;middle&quot; fontSize=&quot;10.5&quot; fill=&quot;#94A3B8&quot;&gt;10-11&lt;/text&gt;&#10;      &lt;text x=&quot;460&quot; y=&quot;76&quot; textAnchor=&quot;middle&quot; fontSize=&quot;10.5&quot; fill=&quot;#64748B&quot;&gt;19 路由 / SSE 流式&lt;/text&gt;&#10;      &lt;text x=&quot;460&quot; y=&quot;94&quot; textAnchor=&quot;middle&quot; fontSize=&quot;10.5&quot; fill=&quot;#64748B&quot;&gt;/ 字段级加密&lt;/text&gt;&#10;&#10;      &lt;line x1=&quot;660&quot; y1=&quot;137&quot; x2=&quot;660&quot; y2=&quot;167&quot; stroke=&quot;#CBD5E1&quot; strokeWidth=&quot;1.2&quot; /&gt;&#10;      &lt;circle cx=&quot;660&quot; cy=&quot;137&quot; r=&quot;7&quot; fill=&quot;#FFFFFF&quot; stroke=&quot;#3B82F6&quot; strokeWidth=&quot;2.5&quot; /&gt;&#10;      &lt;text x=&quot;660&quot; y=&quot;192&quot; textAnchor=&quot;middle&quot; fontSize=&quot;12.5&quot; fontWeight=&quot;bold&quot; fill=&quot;#0F172A&quot;&gt;M4 前端工作台&lt;/text&gt;&#10;      &lt;text x=&quot;660&quot; y=&quot;211&quot; textAnchor=&quot;middle&quot; fontSize=&quot;10.5&quot; fill=&quot;#94A3B8&quot;&gt;10-12&lt;/text&gt;&#10;      &lt;text x=&quot;660&quot; y=&quot;234&quot; textAnchor=&quot;middle&quot; fontSize=&quot;10.5&quot; fill=&quot;#64748B&quot;&gt;六页全链路 / 登录&lt;/text&gt;&#10;      &lt;text x=&quot;660&quot; y=&quot;252&quot; textAnchor=&quot;middle&quot; fontSize=&quot;10.5&quot; fill=&quot;#64748B&quot;&gt;/ Mock 双模离线可跑&lt;/text&gt;&#10;&#10;      &lt;line x1=&quot;860&quot; y1=&quot;103&quot; x2=&quot;860&quot; y2=&quot;137&quot; stroke=&quot;#CBD5E1&quot; strokeWidth=&quot;1.2&quot; /&gt;&#10;      &lt;circle cx=&quot;860&quot; cy=&quot;137&quot; r=&quot;7&quot; fill=&quot;#FFFFFF&quot; stroke=&quot;#3B82F6&quot; strokeWidth=&quot;2.5&quot; /&gt;&#10;      &lt;text x=&quot;860&quot; y=&quot;30&quot; textAnchor=&quot;middle&quot; fontSize=&quot;12.5&quot; fontWeight=&quot;bold&quot; fill=&quot;#0F172A&quot;&gt;M5 测试与文档&lt;/text&gt;&#10;      &lt;text x=&quot;860&quot; y=&quot;50&quot; textAnchor=&quot;middle&quot; fontSize=&quot;10.5&quot; fill=&quot;#94A3B8&quot;&gt;10-13&lt;/text&gt;&#10;      &lt;text x=&quot;860&quot; y=&quot;76&quot; textAnchor=&quot;middle&quot; fontSize=&quot;10.5&quot; fill=&quot;#64748B&quot;&gt;四项指标全达标&lt;/text&gt;&#10;      &lt;text x=&quot;860&quot; y=&quot;94&quot; textAnchor=&quot;middle&quot; fontSize=&quot;10.5&quot; fill=&quot;#64748B&quot;&gt;/ 四份交付文档&lt;/text&gt;&#10;&#10;      &lt;line x1=&quot;1046&quot; y1=&quot;137&quot; x2=&quot;1046&quot; y2=&quot;167&quot; stroke=&quot;#06B6D4&quot; strokeWidth=&quot;1.2&quot; strokeDasharray=&quot;3 2&quot; /&gt;&#10;      &lt;circle cx=&quot;1046&quot; cy=&quot;137&quot; r=&quot;9&quot; fill=&quot;#0F172A&quot; stroke=&quot;#22D3EE&quot; strokeWidth=&quot;2.5&quot; /&gt;&#10;      &lt;text x=&quot;1046&quot; y=&quot;192&quot; textAnchor=&quot;middle&quot; fontSize=&quot;12.5&quot; fontWeight=&quot;bold&quot; fill=&quot;#0F172A&quot;&gt;热点 V2 三期&lt;/text&gt;&#10;      &lt;text x=&quot;1046&quot; y=&quot;211&quot; textAnchor=&quot;middle&quot; fontSize=&quot;10.5&quot; fill=&quot;#06B6D4&quot;&gt;10-22 — 10-26&lt;/text&gt;&#10;      &lt;text x=&quot;1046&quot; y=&quot;234&quot; textAnchor=&quot;middle&quot; fontSize=&quot;10.5&quot; fill=&quot;#64748B&quot;&gt;三层模型 / 推荐流&lt;/text&gt;&#10;      &lt;text x=&quot;1046&quot; y=&quot;252&quot; textAnchor=&quot;middle&quot; fontSize=&quot;10.5&quot; fill=&quot;#64748B&quot;&gt;/ 采纳漏斗度量&lt;/text&gt;&#10;    &lt;/svg&gt;&#10;  &lt;/Box&gt;&#10;&#10;  &lt;Box style={{ flexDirection: 'row', gap: 14, height: 206, marginTop: 14 }}&gt;&#10;    &lt;Box style={{ flex: 1, background: '#FFFFFF', border: '1px solid #E2E8F0', borderRadius: 14, padding: '14px 18px', flexDirection: 'column', boxShadow: '0 4px 20px rgba(15,23,42,0.05)' }}&gt;&#10;      &lt;Text style={{ fontSize: 15, fontWeight: 'bold', color: '#0F172A' }}&gt;交付物即证据链&lt;/Text&gt;&#10;      &lt;Text style={{ fontSize: 12.5, color: '#475569', lineHeight: 1.8, marginTop: 7 }}&gt;&#10;        每阶段收尾必须留下可查的东西：设计文档、可重建的语料与评测集、与实现一一对应的接口文档、能点通的页面，以及记录偏差的实施清单。&#10;      &lt;/Text&gt;&#10;      &lt;Box style={{ marginTop: 'auto', flexDirection: 'row', gap: 6 }}&gt;&#10;        &lt;Text style={{ fontSize: 11, color: '#1E40AF', background: '#EFF6FF', borderRadius: 5, padding: '3px 8px' }}&gt;设计文档 4 份&lt;/Text&gt;&#10;        &lt;Text style={{ fontSize: 11, color: '#1E40AF', background: '#EFF6FF', borderRadius: 5, padding: '3px 8px' }}&gt;交付说明 5 份&lt;/Text&gt;&#10;        &lt;Text style={{ fontSize: 11, color: '#1E40AF', background: '#EFF6FF', borderRadius: 5, padding: '3px 8px' }}&gt;偏差表 1 份&lt;/Text&gt;&#10;      &lt;/Box&gt;&#10;    &lt;/Box&gt;&#10;    &lt;Box style={{ flex: 1, background: '#0F172A', borderRadius: 14, padding: '14px 18px', flexDirection: 'column' }}&gt;&#10;      &lt;Text style={{ fontSize: 15, fontWeight: 'bold', color: '#FFFFFF' }}&gt;验证方式可执行&lt;/Text&gt;&#10;      &lt;Text style={{ fontSize: 12.5, color: '#CBD5E1', lineHeight: 1.8, marginTop: 7 }}&gt;&#10;        不靠「我看过了」：表与索引由 init_db 自检断言，接口由端到端脚本串跑，评测基准由脚本重置，前端由 tsc 与构建卡口，界面由冒烟脚本留图。&#10;      &lt;/Text&gt;&#10;      &lt;Box style={{ marginTop: 'auto', flexDirection: 'row', alignItems: 'center', gap: 8 }}&gt;&#10;        &lt;Text style={{ fontSize: 11, color: '#67E8F9' }}&gt;最近一次全绿：init_db 14 表 / 20 索引，端到端 11 步全过&lt;/Text&gt;&#10;      &lt;/Box&gt;&#10;    &lt;/Box&gt;&#10;  &lt;/Box&gt;&#10;&#10;  &lt;Box style={{ height: 60, flexDirection: 'row', justifyContent: 'space-between', alignItems: 'center' }}&gt;&#10;    &lt;Box style={{ flexDirection: 'row', alignItems: 'center', gap: 8 }}&gt;&#10;      &lt;Box style={{ width: 10, height: 10, borderRadius: 2, background: 'linear-gradient(135deg, #3B82F6, #06B6D4)' }} /&gt;&#10;      &lt;Text style={{ fontSize: 14, color: '#94A3B8' }}&gt;AI 自媒体内容创作助手 · 项目汇报&lt;/Text&gt;&#10;    &lt;/Box&gt;&#10;    &lt;Text style={{ fontSize: 14, color: '#94A3B8' }}&gt;11 / 14&lt;/Text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矩形 26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</p:spPr>
        <p:txBody>
          <a:bodyPr/>
          <a:p/>
        </p:txBody>
      </p:sp>
      <p:sp>
        <p:nvSpPr>
          <p:cNvPr id="28" name="圆角矩形 27"/>
          <p:cNvSpPr/>
          <p:nvPr/>
        </p:nvSpPr>
        <p:spPr>
          <a:xfrm>
            <a:off x="609600" y="514350"/>
            <a:ext cx="57150" cy="32385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3B82F6"/>
              </a:gs>
              <a:gs pos="100000">
                <a:srgbClr val="06B6D4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29" name="文本框 28" descr="{&quot;isTemplate&quot;:true,&quot;type&quot;:&quot;text&quot;}"/>
          <p:cNvSpPr txBox="1"/>
          <p:nvPr/>
        </p:nvSpPr>
        <p:spPr>
          <a:xfrm>
            <a:off x="819150" y="352425"/>
            <a:ext cx="4800600" cy="3905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0F172A"/>
                </a:solidFill>
                <a:latin typeface="Source Han Sans SC"/>
                <a:ea typeface="Source Han Sans SC"/>
              </a:rPr>
              <a:t>里程碑：六个阶段</a:t>
            </a:r>
            <a:endParaRPr lang="zh-CN" sz="2550" b="1">
              <a:solidFill>
                <a:srgbClr val="0F172A"/>
              </a:solidFill>
              <a:latin typeface="Source Han Sans SC"/>
              <a:ea typeface="Source Han Sans SC"/>
            </a:endParaRPr>
          </a:p>
        </p:txBody>
      </p:sp>
      <p:sp>
        <p:nvSpPr>
          <p:cNvPr id="30" name="文本框 29" descr="{&quot;isTemplate&quot;:true,&quot;type&quot;:&quot;text&quot;}"/>
          <p:cNvSpPr txBox="1"/>
          <p:nvPr/>
        </p:nvSpPr>
        <p:spPr>
          <a:xfrm>
            <a:off x="819150" y="781050"/>
            <a:ext cx="4800600" cy="2095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64748B"/>
                </a:solidFill>
                <a:latin typeface="Source Han Sans SC"/>
                <a:ea typeface="Source Han Sans SC"/>
              </a:rPr>
              <a:t>每个阶段都有明确交付物和可执行验证，不是「做完了」三个字</a:t>
            </a:r>
            <a:endParaRPr lang="zh-CN" sz="1350">
              <a:solidFill>
                <a:srgbClr val="64748B"/>
              </a:solidFill>
              <a:latin typeface="Source Han Sans SC"/>
              <a:ea typeface="Source Han Sans SC"/>
            </a:endParaRPr>
          </a:p>
        </p:txBody>
      </p:sp>
      <p:sp>
        <p:nvSpPr>
          <p:cNvPr id="31" name="圆角矩形 30"/>
          <p:cNvSpPr/>
          <p:nvPr/>
        </p:nvSpPr>
        <p:spPr>
          <a:xfrm>
            <a:off x="609600" y="1143000"/>
            <a:ext cx="10972800" cy="276225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90500" dist="38100" dir="5400000">
              <a:srgbClr val="0F172A">
                <a:alpha val="6000"/>
              </a:srgbClr>
            </a:outerShdw>
          </a:effectLst>
        </p:spPr>
        <p:txBody>
          <a:bodyPr/>
          <a:p/>
        </p:txBody>
      </p:sp>
      <p:pic>
        <p:nvPicPr>
          <p:cNvPr id="32" name="图片 31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62000" y="1219200"/>
            <a:ext cx="10515600" cy="2609850"/>
          </a:xfrm>
          <a:prstGeom prst="rect">
            <a:avLst/>
          </a:prstGeom>
        </p:spPr>
      </p:pic>
      <p:sp>
        <p:nvSpPr>
          <p:cNvPr id="33" name="圆角矩形 32"/>
          <p:cNvSpPr/>
          <p:nvPr/>
        </p:nvSpPr>
        <p:spPr>
          <a:xfrm>
            <a:off x="609600" y="4038600"/>
            <a:ext cx="5419725" cy="1962150"/>
          </a:xfrm>
          <a:prstGeom prst="roundRect">
            <a:avLst>
              <a:gd name="adj" fmla="val 679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90500" dist="38100" dir="5400000">
              <a:srgbClr val="0F172A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34" name="文本框 33" descr="{&quot;isTemplate&quot;:true,&quot;type&quot;:&quot;text&quot;}"/>
          <p:cNvSpPr txBox="1"/>
          <p:nvPr/>
        </p:nvSpPr>
        <p:spPr>
          <a:xfrm>
            <a:off x="781050" y="4171950"/>
            <a:ext cx="5076825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0F172A"/>
                </a:solidFill>
                <a:latin typeface="Source Han Sans SC"/>
                <a:ea typeface="Source Han Sans SC"/>
              </a:rPr>
              <a:t>交付物即证据链</a:t>
            </a:r>
            <a:endParaRPr lang="zh-CN" sz="1125" b="1">
              <a:solidFill>
                <a:srgbClr val="0F172A"/>
              </a:solidFill>
              <a:latin typeface="Source Han Sans SC"/>
              <a:ea typeface="Source Han Sans SC"/>
            </a:endParaRPr>
          </a:p>
        </p:txBody>
      </p:sp>
      <p:sp>
        <p:nvSpPr>
          <p:cNvPr id="35" name="文本框 34" descr="{&quot;isTemplate&quot;:true,&quot;type&quot;:&quot;text&quot;}"/>
          <p:cNvSpPr txBox="1"/>
          <p:nvPr/>
        </p:nvSpPr>
        <p:spPr>
          <a:xfrm>
            <a:off x="781050" y="4410075"/>
            <a:ext cx="5076825" cy="514350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80000"/>
              </a:lnSpc>
            </a:pPr>
            <a:r>
              <a:rPr lang="zh-CN" sz="940">
                <a:solidFill>
                  <a:srgbClr val="475569"/>
                </a:solidFill>
                <a:latin typeface="Source Han Sans SC"/>
                <a:ea typeface="Source Han Sans SC"/>
              </a:rPr>
              <a:t>每阶段收尾必须留下可查的东西：设计文档、可重建的语料与评测集、与实现一一对应的接口文档、能点通的页面，以及记录偏差的实施清单。</a:t>
            </a:r>
            <a:endParaRPr lang="zh-CN" sz="940">
              <a:solidFill>
                <a:srgbClr val="475569"/>
              </a:solidFill>
              <a:latin typeface="Source Han Sans SC"/>
              <a:ea typeface="Source Han Sans SC"/>
            </a:endParaRPr>
          </a:p>
        </p:txBody>
      </p:sp>
      <p:sp>
        <p:nvSpPr>
          <p:cNvPr id="36" name="圆角矩形 35"/>
          <p:cNvSpPr/>
          <p:nvPr/>
        </p:nvSpPr>
        <p:spPr>
          <a:xfrm>
            <a:off x="781050" y="5676900"/>
            <a:ext cx="800100" cy="190500"/>
          </a:xfrm>
          <a:prstGeom prst="roundRect">
            <a:avLst>
              <a:gd name="adj" fmla="val 25000"/>
            </a:avLst>
          </a:prstGeom>
          <a:solidFill>
            <a:srgbClr val="EFF6FF"/>
          </a:solidFill>
        </p:spPr>
        <p:txBody>
          <a:bodyPr/>
          <a:p/>
        </p:txBody>
      </p:sp>
      <p:sp>
        <p:nvSpPr>
          <p:cNvPr id="37" name="文本框 36" descr="{&quot;isTemplate&quot;:true,&quot;type&quot;:&quot;text&quot;}"/>
          <p:cNvSpPr txBox="1"/>
          <p:nvPr/>
        </p:nvSpPr>
        <p:spPr>
          <a:xfrm>
            <a:off x="781050" y="5676900"/>
            <a:ext cx="800100" cy="190500"/>
          </a:xfrm>
          <a:prstGeom prst="rect">
            <a:avLst/>
          </a:prstGeom>
        </p:spPr>
        <p:txBody>
          <a:bodyPr wrap="none" lIns="57150" tIns="21431" rIns="57150" bIns="21431"/>
          <a:p>
            <a:pPr>
              <a:lnSpc>
                <a:spcPct val="100000"/>
              </a:lnSpc>
            </a:pPr>
            <a:r>
              <a:rPr lang="zh-CN" sz="825">
                <a:solidFill>
                  <a:srgbClr val="1E40AF"/>
                </a:solidFill>
                <a:highlight>
                  <a:srgbClr val="EFF6FF"/>
                </a:highlight>
                <a:latin typeface="Source Han Sans SC"/>
                <a:ea typeface="Source Han Sans SC"/>
              </a:rPr>
              <a:t>设计文档</a:t>
            </a:r>
            <a:r>
              <a:rPr lang="en-US" sz="825">
                <a:solidFill>
                  <a:srgbClr val="1E40AF"/>
                </a:solidFill>
                <a:highlight>
                  <a:srgbClr val="EFF6FF"/>
                </a:highlight>
                <a:latin typeface="Source Han Sans SC"/>
                <a:ea typeface="Source Han Sans SC"/>
              </a:rPr>
              <a:t> 4 </a:t>
            </a:r>
            <a:r>
              <a:rPr lang="zh-CN" sz="825">
                <a:solidFill>
                  <a:srgbClr val="1E40AF"/>
                </a:solidFill>
                <a:highlight>
                  <a:srgbClr val="EFF6FF"/>
                </a:highlight>
                <a:latin typeface="Source Han Sans SC"/>
                <a:ea typeface="Source Han Sans SC"/>
              </a:rPr>
              <a:t>份</a:t>
            </a:r>
            <a:endParaRPr lang="zh-CN" sz="825">
              <a:solidFill>
                <a:srgbClr val="1E40AF"/>
              </a:solidFill>
              <a:highlight>
                <a:srgbClr val="EFF6FF"/>
              </a:highlight>
              <a:latin typeface="Source Han Sans SC"/>
              <a:ea typeface="Source Han Sans SC"/>
            </a:endParaRPr>
          </a:p>
        </p:txBody>
      </p:sp>
      <p:sp>
        <p:nvSpPr>
          <p:cNvPr id="38" name="圆角矩形 37"/>
          <p:cNvSpPr/>
          <p:nvPr/>
        </p:nvSpPr>
        <p:spPr>
          <a:xfrm>
            <a:off x="1638300" y="5676900"/>
            <a:ext cx="800100" cy="190500"/>
          </a:xfrm>
          <a:prstGeom prst="roundRect">
            <a:avLst>
              <a:gd name="adj" fmla="val 25000"/>
            </a:avLst>
          </a:prstGeom>
          <a:solidFill>
            <a:srgbClr val="EFF6FF"/>
          </a:solidFill>
        </p:spPr>
        <p:txBody>
          <a:bodyPr/>
          <a:p/>
        </p:txBody>
      </p:sp>
      <p:sp>
        <p:nvSpPr>
          <p:cNvPr id="39" name="文本框 38" descr="{&quot;isTemplate&quot;:true,&quot;type&quot;:&quot;text&quot;}"/>
          <p:cNvSpPr txBox="1"/>
          <p:nvPr/>
        </p:nvSpPr>
        <p:spPr>
          <a:xfrm>
            <a:off x="1638300" y="5676900"/>
            <a:ext cx="800100" cy="190500"/>
          </a:xfrm>
          <a:prstGeom prst="rect">
            <a:avLst/>
          </a:prstGeom>
        </p:spPr>
        <p:txBody>
          <a:bodyPr wrap="none" lIns="57150" tIns="21431" rIns="57150" bIns="21431"/>
          <a:p>
            <a:pPr>
              <a:lnSpc>
                <a:spcPct val="100000"/>
              </a:lnSpc>
            </a:pPr>
            <a:r>
              <a:rPr lang="zh-CN" sz="825">
                <a:solidFill>
                  <a:srgbClr val="1E40AF"/>
                </a:solidFill>
                <a:highlight>
                  <a:srgbClr val="EFF6FF"/>
                </a:highlight>
                <a:latin typeface="Source Han Sans SC"/>
                <a:ea typeface="Source Han Sans SC"/>
              </a:rPr>
              <a:t>交付说明</a:t>
            </a:r>
            <a:r>
              <a:rPr lang="en-US" sz="825">
                <a:solidFill>
                  <a:srgbClr val="1E40AF"/>
                </a:solidFill>
                <a:highlight>
                  <a:srgbClr val="EFF6FF"/>
                </a:highlight>
                <a:latin typeface="Source Han Sans SC"/>
                <a:ea typeface="Source Han Sans SC"/>
              </a:rPr>
              <a:t> 5 </a:t>
            </a:r>
            <a:r>
              <a:rPr lang="zh-CN" sz="825">
                <a:solidFill>
                  <a:srgbClr val="1E40AF"/>
                </a:solidFill>
                <a:highlight>
                  <a:srgbClr val="EFF6FF"/>
                </a:highlight>
                <a:latin typeface="Source Han Sans SC"/>
                <a:ea typeface="Source Han Sans SC"/>
              </a:rPr>
              <a:t>份</a:t>
            </a:r>
            <a:endParaRPr lang="zh-CN" sz="825">
              <a:solidFill>
                <a:srgbClr val="1E40AF"/>
              </a:solidFill>
              <a:highlight>
                <a:srgbClr val="EFF6FF"/>
              </a:highlight>
              <a:latin typeface="Source Han Sans SC"/>
              <a:ea typeface="Source Han Sans SC"/>
            </a:endParaRPr>
          </a:p>
        </p:txBody>
      </p:sp>
      <p:sp>
        <p:nvSpPr>
          <p:cNvPr id="40" name="圆角矩形 39"/>
          <p:cNvSpPr/>
          <p:nvPr/>
        </p:nvSpPr>
        <p:spPr>
          <a:xfrm>
            <a:off x="2495550" y="5676900"/>
            <a:ext cx="695325" cy="190500"/>
          </a:xfrm>
          <a:prstGeom prst="roundRect">
            <a:avLst>
              <a:gd name="adj" fmla="val 25000"/>
            </a:avLst>
          </a:prstGeom>
          <a:solidFill>
            <a:srgbClr val="EFF6FF"/>
          </a:solidFill>
        </p:spPr>
        <p:txBody>
          <a:bodyPr/>
          <a:p/>
        </p:txBody>
      </p:sp>
      <p:sp>
        <p:nvSpPr>
          <p:cNvPr id="41" name="文本框 40" descr="{&quot;isTemplate&quot;:true,&quot;type&quot;:&quot;text&quot;}"/>
          <p:cNvSpPr txBox="1"/>
          <p:nvPr/>
        </p:nvSpPr>
        <p:spPr>
          <a:xfrm>
            <a:off x="2495550" y="5676900"/>
            <a:ext cx="695325" cy="190500"/>
          </a:xfrm>
          <a:prstGeom prst="rect">
            <a:avLst/>
          </a:prstGeom>
        </p:spPr>
        <p:txBody>
          <a:bodyPr wrap="none" lIns="57150" tIns="21431" rIns="57150" bIns="21431"/>
          <a:p>
            <a:pPr>
              <a:lnSpc>
                <a:spcPct val="100000"/>
              </a:lnSpc>
            </a:pPr>
            <a:r>
              <a:rPr lang="zh-CN" sz="825">
                <a:solidFill>
                  <a:srgbClr val="1E40AF"/>
                </a:solidFill>
                <a:highlight>
                  <a:srgbClr val="EFF6FF"/>
                </a:highlight>
                <a:latin typeface="Source Han Sans SC"/>
                <a:ea typeface="Source Han Sans SC"/>
              </a:rPr>
              <a:t>偏差表</a:t>
            </a:r>
            <a:r>
              <a:rPr lang="en-US" sz="825">
                <a:solidFill>
                  <a:srgbClr val="1E40AF"/>
                </a:solidFill>
                <a:highlight>
                  <a:srgbClr val="EFF6FF"/>
                </a:highlight>
                <a:latin typeface="Source Han Sans SC"/>
                <a:ea typeface="Source Han Sans SC"/>
              </a:rPr>
              <a:t> 1 </a:t>
            </a:r>
            <a:r>
              <a:rPr lang="zh-CN" sz="825">
                <a:solidFill>
                  <a:srgbClr val="1E40AF"/>
                </a:solidFill>
                <a:highlight>
                  <a:srgbClr val="EFF6FF"/>
                </a:highlight>
                <a:latin typeface="Source Han Sans SC"/>
                <a:ea typeface="Source Han Sans SC"/>
              </a:rPr>
              <a:t>份</a:t>
            </a:r>
            <a:endParaRPr lang="zh-CN" sz="825">
              <a:solidFill>
                <a:srgbClr val="1E40AF"/>
              </a:solidFill>
              <a:highlight>
                <a:srgbClr val="EFF6FF"/>
              </a:highlight>
              <a:latin typeface="Source Han Sans SC"/>
              <a:ea typeface="Source Han Sans SC"/>
            </a:endParaRPr>
          </a:p>
        </p:txBody>
      </p:sp>
      <p:sp>
        <p:nvSpPr>
          <p:cNvPr id="42" name="圆角矩形 41"/>
          <p:cNvSpPr/>
          <p:nvPr/>
        </p:nvSpPr>
        <p:spPr>
          <a:xfrm>
            <a:off x="6162675" y="4038600"/>
            <a:ext cx="5419725" cy="1962150"/>
          </a:xfrm>
          <a:prstGeom prst="roundRect">
            <a:avLst>
              <a:gd name="adj" fmla="val 6796"/>
            </a:avLst>
          </a:prstGeom>
          <a:solidFill>
            <a:srgbClr val="0F172A"/>
          </a:solidFill>
        </p:spPr>
        <p:txBody>
          <a:bodyPr/>
          <a:p/>
        </p:txBody>
      </p:sp>
      <p:sp>
        <p:nvSpPr>
          <p:cNvPr id="43" name="文本框 42" descr="{&quot;isTemplate&quot;:true,&quot;type&quot;:&quot;text&quot;}"/>
          <p:cNvSpPr txBox="1"/>
          <p:nvPr/>
        </p:nvSpPr>
        <p:spPr>
          <a:xfrm>
            <a:off x="6334125" y="4171950"/>
            <a:ext cx="5076825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FFFFFF"/>
                </a:solidFill>
                <a:latin typeface="Source Han Sans SC"/>
                <a:ea typeface="Source Han Sans SC"/>
              </a:rPr>
              <a:t>验证方式可执行</a:t>
            </a:r>
            <a:endParaRPr lang="zh-CN" sz="1125" b="1">
              <a:solidFill>
                <a:srgbClr val="FFFFFF"/>
              </a:solidFill>
              <a:latin typeface="Source Han Sans SC"/>
              <a:ea typeface="Source Han Sans SC"/>
            </a:endParaRPr>
          </a:p>
        </p:txBody>
      </p:sp>
      <p:sp>
        <p:nvSpPr>
          <p:cNvPr id="44" name="文本框 43" descr="{&quot;isTemplate&quot;:true,&quot;type&quot;:&quot;text&quot;}"/>
          <p:cNvSpPr txBox="1"/>
          <p:nvPr/>
        </p:nvSpPr>
        <p:spPr>
          <a:xfrm>
            <a:off x="6334125" y="4410075"/>
            <a:ext cx="5076825" cy="514350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80000"/>
              </a:lnSpc>
            </a:pPr>
            <a:r>
              <a:rPr lang="zh-CN" sz="940">
                <a:solidFill>
                  <a:srgbClr val="CBD5E1"/>
                </a:solidFill>
                <a:latin typeface="Source Han Sans SC"/>
                <a:ea typeface="Source Han Sans SC"/>
              </a:rPr>
              <a:t>不靠「我看过了」：表与索引由</a:t>
            </a:r>
            <a:r>
              <a:rPr lang="en-US" sz="940">
                <a:solidFill>
                  <a:srgbClr val="CBD5E1"/>
                </a:solidFill>
                <a:latin typeface="Source Han Sans SC"/>
                <a:ea typeface="Source Han Sans SC"/>
              </a:rPr>
              <a:t> init_db </a:t>
            </a:r>
            <a:r>
              <a:rPr lang="zh-CN" sz="940">
                <a:solidFill>
                  <a:srgbClr val="CBD5E1"/>
                </a:solidFill>
                <a:latin typeface="Source Han Sans SC"/>
                <a:ea typeface="Source Han Sans SC"/>
              </a:rPr>
              <a:t>自检断言，接口由端到端脚本串跑，评测基准由脚本重置，前端由</a:t>
            </a:r>
            <a:r>
              <a:rPr lang="en-US" sz="940">
                <a:solidFill>
                  <a:srgbClr val="CBD5E1"/>
                </a:solidFill>
                <a:latin typeface="Source Han Sans SC"/>
                <a:ea typeface="Source Han Sans SC"/>
              </a:rPr>
              <a:t> tsc </a:t>
            </a:r>
            <a:r>
              <a:rPr lang="zh-CN" sz="940">
                <a:solidFill>
                  <a:srgbClr val="CBD5E1"/>
                </a:solidFill>
                <a:latin typeface="Source Han Sans SC"/>
                <a:ea typeface="Source Han Sans SC"/>
              </a:rPr>
              <a:t>与构建卡口，界面由冒烟脚本留图。</a:t>
            </a:r>
            <a:endParaRPr lang="zh-CN" sz="940">
              <a:solidFill>
                <a:srgbClr val="CBD5E1"/>
              </a:solidFill>
              <a:latin typeface="Source Han Sans SC"/>
              <a:ea typeface="Source Han Sans SC"/>
            </a:endParaRPr>
          </a:p>
        </p:txBody>
      </p:sp>
      <p:sp>
        <p:nvSpPr>
          <p:cNvPr id="45" name="文本框 44" descr="{&quot;isTemplate&quot;:true,&quot;type&quot;:&quot;text&quot;}"/>
          <p:cNvSpPr txBox="1"/>
          <p:nvPr/>
        </p:nvSpPr>
        <p:spPr>
          <a:xfrm>
            <a:off x="6334125" y="5734050"/>
            <a:ext cx="2752725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825">
                <a:solidFill>
                  <a:srgbClr val="67E8F9"/>
                </a:solidFill>
                <a:latin typeface="Source Han Sans SC"/>
                <a:ea typeface="Source Han Sans SC"/>
              </a:rPr>
              <a:t>最近一次全绿：</a:t>
            </a:r>
            <a:r>
              <a:rPr lang="en-US" sz="825">
                <a:solidFill>
                  <a:srgbClr val="67E8F9"/>
                </a:solidFill>
                <a:latin typeface="Source Han Sans SC"/>
                <a:ea typeface="Source Han Sans SC"/>
              </a:rPr>
              <a:t>init_db 14 </a:t>
            </a:r>
            <a:r>
              <a:rPr lang="zh-CN" sz="825">
                <a:solidFill>
                  <a:srgbClr val="67E8F9"/>
                </a:solidFill>
                <a:latin typeface="Source Han Sans SC"/>
                <a:ea typeface="Source Han Sans SC"/>
              </a:rPr>
              <a:t>表</a:t>
            </a:r>
            <a:r>
              <a:rPr lang="en-US" sz="825">
                <a:solidFill>
                  <a:srgbClr val="67E8F9"/>
                </a:solidFill>
                <a:latin typeface="Source Han Sans SC"/>
                <a:ea typeface="Source Han Sans SC"/>
              </a:rPr>
              <a:t> / 20 </a:t>
            </a:r>
            <a:r>
              <a:rPr lang="zh-CN" sz="825">
                <a:solidFill>
                  <a:srgbClr val="67E8F9"/>
                </a:solidFill>
                <a:latin typeface="Source Han Sans SC"/>
                <a:ea typeface="Source Han Sans SC"/>
              </a:rPr>
              <a:t>索引，端到端</a:t>
            </a:r>
            <a:r>
              <a:rPr lang="en-US" sz="825">
                <a:solidFill>
                  <a:srgbClr val="67E8F9"/>
                </a:solidFill>
                <a:latin typeface="Source Han Sans SC"/>
                <a:ea typeface="Source Han Sans SC"/>
              </a:rPr>
              <a:t> 11 </a:t>
            </a:r>
            <a:r>
              <a:rPr lang="zh-CN" sz="825">
                <a:solidFill>
                  <a:srgbClr val="67E8F9"/>
                </a:solidFill>
                <a:latin typeface="Source Han Sans SC"/>
                <a:ea typeface="Source Han Sans SC"/>
              </a:rPr>
              <a:t>步全过</a:t>
            </a:r>
            <a:endParaRPr lang="zh-CN" sz="825">
              <a:solidFill>
                <a:srgbClr val="67E8F9"/>
              </a:solidFill>
              <a:latin typeface="Source Han Sans SC"/>
              <a:ea typeface="Source Han Sans SC"/>
            </a:endParaRPr>
          </a:p>
        </p:txBody>
      </p:sp>
      <p:sp>
        <p:nvSpPr>
          <p:cNvPr id="46" name="圆角矩形 45"/>
          <p:cNvSpPr/>
          <p:nvPr/>
        </p:nvSpPr>
        <p:spPr>
          <a:xfrm>
            <a:off x="609600" y="6248400"/>
            <a:ext cx="95250" cy="95250"/>
          </a:xfrm>
          <a:prstGeom prst="roundRect">
            <a:avLst>
              <a:gd name="adj" fmla="val 20000"/>
            </a:avLst>
          </a:prstGeom>
          <a:gradFill>
            <a:gsLst>
              <a:gs pos="0">
                <a:srgbClr val="3B82F6"/>
              </a:gs>
              <a:gs pos="100000">
                <a:srgbClr val="06B6D4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47" name="文本框 46" descr="{&quot;isTemplate&quot;:true,&quot;type&quot;:&quot;text&quot;}"/>
          <p:cNvSpPr txBox="1"/>
          <p:nvPr/>
        </p:nvSpPr>
        <p:spPr>
          <a:xfrm>
            <a:off x="781050" y="6210300"/>
            <a:ext cx="20193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94A3B8"/>
                </a:solidFill>
                <a:latin typeface="Source Han Sans SC"/>
                <a:ea typeface="Source Han Sans SC"/>
              </a:rPr>
              <a:t>AI </a:t>
            </a:r>
            <a:r>
              <a:rPr lang="zh-CN" sz="1050">
                <a:solidFill>
                  <a:srgbClr val="94A3B8"/>
                </a:solidFill>
                <a:latin typeface="Source Han Sans SC"/>
                <a:ea typeface="Source Han Sans SC"/>
              </a:rPr>
              <a:t>自媒体内容创作助手</a:t>
            </a:r>
            <a:r>
              <a:rPr lang="en-US" sz="1050">
                <a:solidFill>
                  <a:srgbClr val="94A3B8"/>
                </a:solidFill>
                <a:latin typeface="Source Han Sans SC"/>
                <a:ea typeface="Source Han Sans SC"/>
              </a:rPr>
              <a:t> · </a:t>
            </a:r>
            <a:r>
              <a:rPr lang="zh-CN" sz="1050">
                <a:solidFill>
                  <a:srgbClr val="94A3B8"/>
                </a:solidFill>
                <a:latin typeface="Source Han Sans SC"/>
                <a:ea typeface="Source Han Sans SC"/>
              </a:rPr>
              <a:t>项目汇报</a:t>
            </a:r>
            <a:endParaRPr lang="zh-CN" sz="1050">
              <a:solidFill>
                <a:srgbClr val="94A3B8"/>
              </a:solidFill>
              <a:latin typeface="Source Han Sans SC"/>
              <a:ea typeface="Source Han Sans SC"/>
            </a:endParaRPr>
          </a:p>
        </p:txBody>
      </p:sp>
      <p:sp>
        <p:nvSpPr>
          <p:cNvPr id="48" name="文本框 47" descr="{&quot;isTemplate&quot;:true,&quot;type&quot;:&quot;text&quot;}"/>
          <p:cNvSpPr txBox="1"/>
          <p:nvPr/>
        </p:nvSpPr>
        <p:spPr>
          <a:xfrm>
            <a:off x="11125200" y="6210300"/>
            <a:ext cx="4572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94A3B8"/>
                </a:solidFill>
                <a:latin typeface="Source Han Sans SC"/>
                <a:ea typeface="Source Han Sans SC"/>
              </a:rPr>
              <a:t>11 / 14</a:t>
            </a:r>
            <a:endParaRPr lang="en-US" sz="1050">
              <a:solidFill>
                <a:srgbClr val="94A3B8"/>
              </a:solidFill>
              <a:latin typeface="Source Han Sans SC"/>
              <a:ea typeface="Source Han Sans SC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9" name="" descr="&lt;Slide style={{ width: 1280, height: 720, padding: '20px 64px', fontFamily: '&quot;Source Han Sans SC&quot;, &quot;Noto Sans SC&quot;, &quot;PingFang SC&quot;, &quot;Microsoft YaHei&quot;, sans-serif', background: '#F8FAFC' }}&gt;&#10;  &lt;Box style={{ height: 100, justifyContent: 'center' }}&gt;&#10;    &lt;Box style={{ flexDirection: 'row', alignItems: 'center', gap: 16 }}&gt;&#10;      &lt;Box style={{ width: 6, height: 34, background: 'linear-gradient(135deg, #3B82F6 0%, #06B6D4 100%)', borderRadius: 3 }} /&gt;&#10;      &lt;Box&gt;&#10;        &lt;Text style={{ fontSize: 34, fontWeight: 'bold', color: '#0F172A' }}&gt;数据与评测成果&lt;/Text&gt;&#10;        &lt;Text style={{ fontSize: 18, color: '#64748B', marginTop: 4 }}&gt;计划书四项指标阈值 vs 实测，全部达标；热点侧给真实刷新与命中率&lt;/Text&gt;&#10;      &lt;/Box&gt;&#10;    &lt;/Box&gt;&#10;  &lt;/Box&gt;&#10;&#10;  &lt;Box style={{ flexDirection: 'row', gap: 24, height: 396 }}&gt;&#10;    &lt;Box style={{ width: 404, background: '#0F172A', borderRadius: 18, padding: '30px 30px 26px', flexDirection: 'column' }}&gt;&#10;      &lt;Text style={{ fontSize: 14, color: '#67E8F9', letterSpacing: 2 }}&gt;素材检索 Top-5 命中率&lt;/Text&gt;&#10;      &lt;Text style={{ fontSize: 104, fontWeight: 'bold', lineHeight: 1.02, letterSpacing: -5, marginTop: 8, backgroundImage: 'linear-gradient(135deg, #3B82F6 0%, #06B6D4 100%)', backgroundClip: 'text', color: 'transparent' }}&gt;&#10;        100%&#10;      &lt;/Text&gt;&#10;      &lt;Text style={{ fontSize: 15, color: '#CBD5E1', marginTop: 12, lineHeight: 1.7 }}&gt;&#10;        阈值 ≥ 90%｜全量 180 条任务实测 180/180，五个领域各自 100%。&#10;      &lt;/Text&gt;&#10;      &lt;Box style={{ flexDirection: 'row', alignItems: 'center', gap: 8, marginTop: 14 }}&gt;&#10;        &lt;Box style={{ width: 16, height: 16, borderRadius: 8, background: '#06B6D4', alignItems: 'center', justifyContent: 'center' }}&gt;&#10;          &lt;Text style={{ fontSize: 10, color: '#0F172A', fontWeight: 'bold' }}&gt;✓&lt;/Text&gt;&#10;        &lt;/Box&gt;&#10;        &lt;Text style={{ fontSize: 12.5, color: '#94A3B8' }}&gt;消融：关闭重排仅 61.1%，重排贡献 +38.9pp&lt;/Text&gt;&#10;      &lt;/Box&gt;&#10;      &lt;Box style={{ marginTop: 'auto', borderTop: '1px solid rgba(148,163,184,0.25)', paddingTop: 14 }}&gt;&#10;        &lt;Text style={{ fontSize: 12.5, color: '#94A3B8', lineHeight: 1.7 }}&gt;&#10;          从 88.9% 到 100% 的三次迭代：补风格加权、召回池 20→40、索引签名自动重建。&#10;        &lt;/Text&gt;&#10;      &lt;/Box&gt;&#10;    &lt;/Box&gt;&#10;&#10;    &lt;Box style={{ flex: 1, flexDirection: 'column', gap: 12 }}&gt;&#10;      &lt;Box style={{ flex: 1, background: '#FFFFFF', border: '1px solid #E2E8F0', borderRadius: 14, padding: '12px 22px', flexDirection: 'row', alignItems: 'center', gap: 20, boxShadow: '0 4px 20px rgba(15,23,42,0.05)' }}&gt;&#10;        &lt;Text style={{ fontSize: 42, fontWeight: 'bold', color: '#3B82F6', letterSpacing: -2, width: 142 }}&gt;100%&lt;/Text&gt;&#10;        &lt;Box style={{ flex: 1 }}&gt;&#10;          &lt;Text style={{ fontSize: 16.5, fontWeight: 'bold', color: '#0F172A' }}&gt;平台适配符合率&lt;/Text&gt;&#10;          &lt;Text style={{ fontSize: 12.5, color: '#64748B', marginTop: 3 }}&gt;阈值 ≥90%｜54/54 通过标题长度、标签格式、数量上限等硬性规范&lt;/Text&gt;&#10;        &lt;/Box&gt;&#10;        &lt;Text style={{ fontSize: 12, color: '#06B6D4', fontWeight: 'bold' }}&gt;达标&lt;/Text&gt;&#10;      &lt;/Box&gt;&#10;      &lt;Box style={{ flex: 1, background: '#FFFFFF', border: '1px solid #E2E8F0', borderRadius: 14, padding: '12px 22px', flexDirection: 'row', alignItems: 'center', gap: 20, boxShadow: '0 4px 20px rgba(15,23,42,0.05)' }}&gt;&#10;        &lt;Text style={{ fontSize: 42, fontWeight: 'bold', color: '#3B82F6', letterSpacing: -2, width: 142 }}&gt;100%&lt;/Text&gt;&#10;        &lt;Box style={{ flex: 1 }}&gt;&#10;          &lt;Text style={{ fontSize: 16.5, fontWeight: 'bold', color: '#0F172A' }}&gt;文案一次可用率&lt;/Text&gt;&#10;          &lt;Text style={{ fontSize: 12.5, color: '#64748B', marginTop: 3 }}&gt;阈值 ≥80%｜54/54 版本通过结构规则校验（离线回归基线口径）&lt;/Text&gt;&#10;        &lt;/Box&gt;&#10;        &lt;Text style={{ fontSize: 12, color: '#06B6D4', fontWeight: 'bold' }}&gt;达标&lt;/Text&gt;&#10;      &lt;/Box&gt;&#10;      &lt;Box style={{ flex: 1, background: '#FFFFFF', border: '1px solid #E2E8F0', borderRadius: 14, padding: '12px 22px', flexDirection: 'row', alignItems: 'center', gap: 20, boxShadow: '0 4px 20px rgba(15,23,42,0.05)' }}&gt;&#10;        &lt;Text style={{ fontSize: 42, fontWeight: 'bold', color: '#3B82F6', letterSpacing: -2, width: 142 }}&gt;0.10s&lt;/Text&gt;&#10;        &lt;Box style={{ flex: 1 }}&gt;&#10;          &lt;Text style={{ fontSize: 16.5, fontWeight: 'bold', color: '#0F172A' }}&gt;单篇平均生成耗时&lt;/Text&gt;&#10;          &lt;Text style={{ fontSize: 12.5, color: '#64748B', marginTop: 3 }}&gt;阈值 ≤15s｜18 个任务实测均值 0.10s、最大 0.17s（离线口径）&lt;/Text&gt;&#10;        &lt;/Box&gt;&#10;        &lt;Text style={{ fontSize: 12, color: '#06B6D4', fontWeight: 'bold' }}&gt;达标&lt;/Text&gt;&#10;      &lt;/Box&gt;&#10;    &lt;/Box&gt;&#10;  &lt;/Box&gt;&#10;&#10;  &lt;Box style={{ height: 108, marginTop: 12, background: '#FFFFFF', border: '1px solid #E2E8F0', borderRadius: 14, padding: '12px 24px', flexDirection: 'row', alignItems: 'center', boxShadow: '0 4px 20px rgba(15,23,42,0.05)' }}&gt;&#10;    &lt;Box style={{ width: 168 }}&gt;&#10;      &lt;Text style={{ fontSize: 12, color: '#94A3B8', letterSpacing: 1 }}&gt;HOTSPOT V2&lt;/Text&gt;&#10;      &lt;Text style={{ fontSize: 15, fontWeight: 'bold', color: '#0F172A', marginTop: 3 }}&gt;热点侧实测&lt;/Text&gt;&#10;      &lt;Text style={{ fontSize: 11.5, color: '#64748B', marginTop: 2 }}&gt;真实网络，非模拟数据&lt;/Text&gt;&#10;    &lt;/Box&gt;&#10;    &lt;Box style={{ width: 1, height: 56, background: '#E2E8F0' }} /&gt;&#10;    &lt;Box style={{ flex: 1, flexDirection: 'row', justifyContent: 'space-around' }}&gt;&#10;      &lt;Box style={{ alignItems: 'center' }}&gt;&#10;        &lt;Text style={{ fontSize: 25, fontWeight: 'bold', color: '#0F172A' }}&gt;100&lt;/Text&gt;&#10;        &lt;Text style={{ fontSize: 11.5, color: '#64748B', marginTop: 1 }}&gt;条 / 次刷新&lt;/Text&gt;&#10;      &lt;/Box&gt;&#10;      &lt;Box style={{ alignItems: 'center' }}&gt;&#10;        &lt;Text style={{ fontSize: 25, fontWeight: 'bold', color: '#0F172A' }}&gt;1.98s&lt;/Text&gt;&#10;        &lt;Text style={{ fontSize: 11.5, color: '#64748B', marginTop: 1 }}&gt;全量采集耗时&lt;/Text&gt;&#10;      &lt;/Box&gt;&#10;      &lt;Box style={{ alignItems: 'center' }}&gt;&#10;        &lt;Text style={{ fontSize: 25, fontWeight: 'bold', color: '#0F172A' }}&gt;5 / 6&lt;/Text&gt;&#10;        &lt;Text style={{ fontSize: 11.5, color: '#64748B', marginTop: 1 }}&gt;来源可用&lt;/Text&gt;&#10;      &lt;/Box&gt;&#10;      &lt;Box style={{ alignItems: 'center' }}&gt;&#10;        &lt;Text style={{ fontSize: 25, fontWeight: 'bold', color: '#0F172A' }}&gt;25.7%&lt;/Text&gt;&#10;        &lt;Text style={{ fontSize: 11.5, color: '#64748B', marginTop: 1 }}&gt;垂类命中率（扩词后）&lt;/Text&gt;&#10;      &lt;/Box&gt;&#10;      &lt;Box style={{ alignItems: 'center' }}&gt;&#10;        &lt;Text style={{ fontSize: 25, fontWeight: 'bold', color: '#F59E0B' }}&gt;1.1%&lt;/Text&gt;&#10;        &lt;Text style={{ fontSize: 11.5, color: '#64748B', marginTop: 1 }}&gt;单日最低命中率&lt;/Text&gt;&#10;      &lt;/Box&gt;&#10;    &lt;/Box&gt;&#10;    &lt;Text style={{ fontSize: 11.5, color: '#94A3B8', width: 150, lineHeight: 1.6 }}&gt;&#10;      命中率日间波动极大，产品按「可能只有一两条」设计&#10;    &lt;/Text&gt;&#10;  &lt;/Box&gt;&#10;&#10;  &lt;Box style={{ height: 60, flexDirection: 'row', justifyContent: 'space-between', alignItems: 'center' }}&gt;&#10;    &lt;Box style={{ flexDirection: 'row', alignItems: 'center', gap: 8 }}&gt;&#10;      &lt;Box style={{ width: 10, height: 10, borderRadius: 2, background: 'linear-gradient(135deg, #3B82F6, #06B6D4)' }} /&gt;&#10;      &lt;Text style={{ fontSize: 14, color: '#94A3B8' }}&gt;AI 自媒体内容创作助手 · 项目汇报&lt;/Text&gt;&#10;    &lt;/Box&gt;&#10;    &lt;Text style={{ fontSize: 14, color: '#94A3B8' }}&gt;12 / 14&lt;/Text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矩形 49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</p:spPr>
        <p:txBody>
          <a:bodyPr/>
          <a:p/>
        </p:txBody>
      </p:sp>
      <p:sp>
        <p:nvSpPr>
          <p:cNvPr id="51" name="圆角矩形 50"/>
          <p:cNvSpPr/>
          <p:nvPr/>
        </p:nvSpPr>
        <p:spPr>
          <a:xfrm>
            <a:off x="609600" y="514350"/>
            <a:ext cx="57150" cy="32385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3B82F6"/>
              </a:gs>
              <a:gs pos="100000">
                <a:srgbClr val="06B6D4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52" name="文本框 51" descr="{&quot;isTemplate&quot;:true,&quot;type&quot;:&quot;text&quot;}"/>
          <p:cNvSpPr txBox="1"/>
          <p:nvPr/>
        </p:nvSpPr>
        <p:spPr>
          <a:xfrm>
            <a:off x="819150" y="352425"/>
            <a:ext cx="5248275" cy="3905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0F172A"/>
                </a:solidFill>
                <a:latin typeface="Source Han Sans SC"/>
                <a:ea typeface="Source Han Sans SC"/>
              </a:rPr>
              <a:t>数据与评测成果</a:t>
            </a:r>
            <a:endParaRPr lang="zh-CN" sz="2550" b="1">
              <a:solidFill>
                <a:srgbClr val="0F172A"/>
              </a:solidFill>
              <a:latin typeface="Source Han Sans SC"/>
              <a:ea typeface="Source Han Sans SC"/>
            </a:endParaRPr>
          </a:p>
        </p:txBody>
      </p:sp>
      <p:sp>
        <p:nvSpPr>
          <p:cNvPr id="53" name="文本框 52" descr="{&quot;isTemplate&quot;:true,&quot;type&quot;:&quot;text&quot;}"/>
          <p:cNvSpPr txBox="1"/>
          <p:nvPr/>
        </p:nvSpPr>
        <p:spPr>
          <a:xfrm>
            <a:off x="819150" y="781050"/>
            <a:ext cx="5248275" cy="2095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64748B"/>
                </a:solidFill>
                <a:latin typeface="Source Han Sans SC"/>
                <a:ea typeface="Source Han Sans SC"/>
              </a:rPr>
              <a:t>计划书四项指标阈值</a:t>
            </a:r>
            <a:r>
              <a:rPr lang="en-US" sz="1350">
                <a:solidFill>
                  <a:srgbClr val="64748B"/>
                </a:solidFill>
                <a:latin typeface="Source Han Sans SC"/>
                <a:ea typeface="Source Han Sans SC"/>
              </a:rPr>
              <a:t> vs </a:t>
            </a:r>
            <a:r>
              <a:rPr lang="zh-CN" sz="1350">
                <a:solidFill>
                  <a:srgbClr val="64748B"/>
                </a:solidFill>
                <a:latin typeface="Source Han Sans SC"/>
                <a:ea typeface="Source Han Sans SC"/>
              </a:rPr>
              <a:t>实测，全部达标；热点侧给真实刷新与命中率</a:t>
            </a:r>
            <a:endParaRPr lang="zh-CN" sz="1350">
              <a:solidFill>
                <a:srgbClr val="64748B"/>
              </a:solidFill>
              <a:latin typeface="Source Han Sans SC"/>
              <a:ea typeface="Source Han Sans SC"/>
            </a:endParaRPr>
          </a:p>
        </p:txBody>
      </p:sp>
      <p:sp>
        <p:nvSpPr>
          <p:cNvPr id="54" name="圆角矩形 53"/>
          <p:cNvSpPr/>
          <p:nvPr/>
        </p:nvSpPr>
        <p:spPr>
          <a:xfrm>
            <a:off x="609600" y="1143000"/>
            <a:ext cx="3848100" cy="3771900"/>
          </a:xfrm>
          <a:prstGeom prst="roundRect">
            <a:avLst>
              <a:gd name="adj" fmla="val 4545"/>
            </a:avLst>
          </a:prstGeom>
          <a:solidFill>
            <a:srgbClr val="0F172A"/>
          </a:solidFill>
        </p:spPr>
        <p:txBody>
          <a:bodyPr/>
          <a:p/>
        </p:txBody>
      </p:sp>
      <p:sp>
        <p:nvSpPr>
          <p:cNvPr id="55" name="文本框 54" descr="{&quot;isTemplate&quot;:true,&quot;type&quot;:&quot;text&quot;}"/>
          <p:cNvSpPr txBox="1"/>
          <p:nvPr/>
        </p:nvSpPr>
        <p:spPr>
          <a:xfrm>
            <a:off x="895350" y="1428750"/>
            <a:ext cx="32766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spc="150">
                <a:solidFill>
                  <a:srgbClr val="67E8F9"/>
                </a:solidFill>
                <a:latin typeface="Source Han Sans SC"/>
                <a:ea typeface="Source Han Sans SC"/>
              </a:rPr>
              <a:t>素材检索</a:t>
            </a:r>
            <a:r>
              <a:rPr lang="en-US" sz="1050" spc="150">
                <a:solidFill>
                  <a:srgbClr val="67E8F9"/>
                </a:solidFill>
                <a:latin typeface="Source Han Sans SC"/>
                <a:ea typeface="Source Han Sans SC"/>
              </a:rPr>
              <a:t> Top-5 </a:t>
            </a:r>
            <a:r>
              <a:rPr lang="zh-CN" sz="1050" spc="150">
                <a:solidFill>
                  <a:srgbClr val="67E8F9"/>
                </a:solidFill>
                <a:latin typeface="Source Han Sans SC"/>
                <a:ea typeface="Source Han Sans SC"/>
              </a:rPr>
              <a:t>命中率</a:t>
            </a:r>
            <a:endParaRPr lang="zh-CN" sz="1050" spc="150">
              <a:solidFill>
                <a:srgbClr val="67E8F9"/>
              </a:solidFill>
              <a:latin typeface="Source Han Sans SC"/>
              <a:ea typeface="Source Han Sans SC"/>
            </a:endParaRPr>
          </a:p>
        </p:txBody>
      </p:sp>
      <p:sp>
        <p:nvSpPr>
          <p:cNvPr id="56" name="文本框 55" descr="{&quot;isTemplate&quot;:true,&quot;type&quot;:&quot;text&quot;}"/>
          <p:cNvSpPr txBox="1"/>
          <p:nvPr/>
        </p:nvSpPr>
        <p:spPr>
          <a:xfrm>
            <a:off x="895350" y="1666875"/>
            <a:ext cx="3276600" cy="12192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2000"/>
              </a:lnSpc>
            </a:pPr>
            <a:r>
              <a:rPr lang="en-US" sz="7800" b="1" spc="-375">
                <a:gradFill>
                  <a:gsLst>
                    <a:gs pos="0">
                      <a:srgbClr val="3B82F6"/>
                    </a:gs>
                    <a:gs pos="100000">
                      <a:srgbClr val="06B6D4"/>
                    </a:gs>
                  </a:gsLst>
                  <a:lin ang="2700000" scaled="1"/>
                </a:gradFill>
                <a:latin typeface="Source Han Sans SC"/>
                <a:ea typeface="Source Han Sans SC"/>
              </a:rPr>
              <a:t>100%</a:t>
            </a:r>
            <a:endParaRPr lang="en-US" sz="7800" b="1" spc="-375">
              <a:gradFill>
                <a:gsLst>
                  <a:gs pos="0">
                    <a:srgbClr val="3B82F6"/>
                  </a:gs>
                  <a:gs pos="100000">
                    <a:srgbClr val="06B6D4"/>
                  </a:gs>
                </a:gsLst>
                <a:lin ang="2700000" scaled="1"/>
              </a:gradFill>
              <a:latin typeface="Source Han Sans SC"/>
              <a:ea typeface="Source Han Sans SC"/>
            </a:endParaRPr>
          </a:p>
        </p:txBody>
      </p:sp>
      <p:sp>
        <p:nvSpPr>
          <p:cNvPr id="57" name="文本框 56" descr="{&quot;isTemplate&quot;:true,&quot;type&quot;:&quot;text&quot;}"/>
          <p:cNvSpPr txBox="1"/>
          <p:nvPr/>
        </p:nvSpPr>
        <p:spPr>
          <a:xfrm>
            <a:off x="895350" y="3000375"/>
            <a:ext cx="3276600" cy="590550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125">
                <a:solidFill>
                  <a:srgbClr val="CBD5E1"/>
                </a:solidFill>
                <a:latin typeface="Source Han Sans SC"/>
                <a:ea typeface="Source Han Sans SC"/>
              </a:rPr>
              <a:t>阈值</a:t>
            </a:r>
            <a:r>
              <a:rPr lang="en-US" sz="1125">
                <a:solidFill>
                  <a:srgbClr val="CBD5E1"/>
                </a:solidFill>
                <a:latin typeface="Source Han Sans SC"/>
                <a:ea typeface="Source Han Sans SC"/>
              </a:rPr>
              <a:t> ≥ 90%</a:t>
            </a:r>
            <a:r>
              <a:rPr lang="zh-CN" sz="1125">
                <a:solidFill>
                  <a:srgbClr val="CBD5E1"/>
                </a:solidFill>
                <a:latin typeface="Source Han Sans SC"/>
                <a:ea typeface="Source Han Sans SC"/>
              </a:rPr>
              <a:t>｜全量</a:t>
            </a:r>
            <a:r>
              <a:rPr lang="en-US" sz="1125">
                <a:solidFill>
                  <a:srgbClr val="CBD5E1"/>
                </a:solidFill>
                <a:latin typeface="Source Han Sans SC"/>
                <a:ea typeface="Source Han Sans SC"/>
              </a:rPr>
              <a:t> 180 </a:t>
            </a:r>
            <a:r>
              <a:rPr lang="zh-CN" sz="1125">
                <a:solidFill>
                  <a:srgbClr val="CBD5E1"/>
                </a:solidFill>
                <a:latin typeface="Source Han Sans SC"/>
                <a:ea typeface="Source Han Sans SC"/>
              </a:rPr>
              <a:t>条任务实测</a:t>
            </a:r>
            <a:r>
              <a:rPr lang="en-US" sz="1125">
                <a:solidFill>
                  <a:srgbClr val="CBD5E1"/>
                </a:solidFill>
                <a:latin typeface="Source Han Sans SC"/>
                <a:ea typeface="Source Han Sans SC"/>
              </a:rPr>
              <a:t> 180/180</a:t>
            </a:r>
            <a:r>
              <a:rPr lang="zh-CN" sz="1125">
                <a:solidFill>
                  <a:srgbClr val="CBD5E1"/>
                </a:solidFill>
                <a:latin typeface="Source Han Sans SC"/>
                <a:ea typeface="Source Han Sans SC"/>
              </a:rPr>
              <a:t>，五个领域各自</a:t>
            </a:r>
            <a:r>
              <a:rPr lang="en-US" sz="1125">
                <a:solidFill>
                  <a:srgbClr val="CBD5E1"/>
                </a:solidFill>
                <a:latin typeface="Source Han Sans SC"/>
                <a:ea typeface="Source Han Sans SC"/>
              </a:rPr>
              <a:t> 100%</a:t>
            </a:r>
            <a:r>
              <a:rPr lang="zh-CN" sz="1125">
                <a:solidFill>
                  <a:srgbClr val="CBD5E1"/>
                </a:solidFill>
                <a:latin typeface="Source Han Sans SC"/>
                <a:ea typeface="Source Han Sans SC"/>
              </a:rPr>
              <a:t>。</a:t>
            </a:r>
            <a:endParaRPr lang="zh-CN" sz="1125">
              <a:solidFill>
                <a:srgbClr val="CBD5E1"/>
              </a:solidFill>
              <a:latin typeface="Source Han Sans SC"/>
              <a:ea typeface="Source Han Sans SC"/>
            </a:endParaRPr>
          </a:p>
        </p:txBody>
      </p:sp>
      <p:sp>
        <p:nvSpPr>
          <p:cNvPr id="58" name="圆角矩形 57"/>
          <p:cNvSpPr/>
          <p:nvPr/>
        </p:nvSpPr>
        <p:spPr>
          <a:xfrm>
            <a:off x="895350" y="3724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06B6D4"/>
          </a:solidFill>
        </p:spPr>
        <p:txBody>
          <a:bodyPr/>
          <a:p/>
        </p:txBody>
      </p:sp>
      <p:sp>
        <p:nvSpPr>
          <p:cNvPr id="59" name="文本框 58" descr="{&quot;isTemplate&quot;:true,&quot;type&quot;:&quot;text&quot;}"/>
          <p:cNvSpPr txBox="1"/>
          <p:nvPr/>
        </p:nvSpPr>
        <p:spPr>
          <a:xfrm>
            <a:off x="923925" y="3743325"/>
            <a:ext cx="95250" cy="1143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750" b="1">
                <a:solidFill>
                  <a:srgbClr val="0F172A"/>
                </a:solidFill>
                <a:latin typeface="Source Han Sans SC"/>
                <a:ea typeface="Source Han Sans SC"/>
              </a:rPr>
              <a:t>✓</a:t>
            </a:r>
            <a:endParaRPr sz="750" b="1">
              <a:solidFill>
                <a:srgbClr val="0F172A"/>
              </a:solidFill>
              <a:latin typeface="Source Han Sans SC"/>
              <a:ea typeface="Source Han Sans SC"/>
            </a:endParaRPr>
          </a:p>
        </p:txBody>
      </p:sp>
      <p:sp>
        <p:nvSpPr>
          <p:cNvPr id="60" name="文本框 59" descr="{&quot;isTemplate&quot;:true,&quot;type&quot;:&quot;text&quot;}"/>
          <p:cNvSpPr txBox="1"/>
          <p:nvPr/>
        </p:nvSpPr>
        <p:spPr>
          <a:xfrm>
            <a:off x="1123950" y="3733800"/>
            <a:ext cx="244792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40">
                <a:solidFill>
                  <a:srgbClr val="94A3B8"/>
                </a:solidFill>
                <a:latin typeface="Source Han Sans SC"/>
                <a:ea typeface="Source Han Sans SC"/>
              </a:rPr>
              <a:t>消融：关闭重排仅</a:t>
            </a:r>
            <a:r>
              <a:rPr lang="en-US" sz="940">
                <a:solidFill>
                  <a:srgbClr val="94A3B8"/>
                </a:solidFill>
                <a:latin typeface="Source Han Sans SC"/>
                <a:ea typeface="Source Han Sans SC"/>
              </a:rPr>
              <a:t> 61.1%</a:t>
            </a:r>
            <a:r>
              <a:rPr lang="zh-CN" sz="940">
                <a:solidFill>
                  <a:srgbClr val="94A3B8"/>
                </a:solidFill>
                <a:latin typeface="Source Han Sans SC"/>
                <a:ea typeface="Source Han Sans SC"/>
              </a:rPr>
              <a:t>，重排贡献</a:t>
            </a:r>
            <a:r>
              <a:rPr lang="en-US" sz="940">
                <a:solidFill>
                  <a:srgbClr val="94A3B8"/>
                </a:solidFill>
                <a:latin typeface="Source Han Sans SC"/>
                <a:ea typeface="Source Han Sans SC"/>
              </a:rPr>
              <a:t> +38.9pp</a:t>
            </a:r>
            <a:endParaRPr lang="en-US" sz="940">
              <a:solidFill>
                <a:srgbClr val="94A3B8"/>
              </a:solidFill>
              <a:latin typeface="Source Han Sans SC"/>
              <a:ea typeface="Source Han Sans SC"/>
            </a:endParaRPr>
          </a:p>
        </p:txBody>
      </p:sp>
      <p:sp>
        <p:nvSpPr>
          <p:cNvPr id="61" name="任意多边形 60"/>
          <p:cNvSpPr/>
          <p:nvPr/>
        </p:nvSpPr>
        <p:spPr>
          <a:xfrm>
            <a:off x="895350" y="4038600"/>
            <a:ext cx="3276600" cy="638175"/>
          </a:xfrm>
          <a:custGeom>
            <a:avLst/>
            <a:gdLst/>
            <a:ahLst/>
            <a:cxnLst/>
            <a:pathLst>
              <a:path w="344" h="67">
                <a:moveTo>
                  <a:pt x="0" y="0"/>
                </a:moveTo>
                <a:lnTo>
                  <a:pt x="344" y="0"/>
                </a:lnTo>
                <a:lnTo>
                  <a:pt x="344" y="1"/>
                </a:lnTo>
                <a:lnTo>
                  <a:pt x="0" y="1"/>
                </a:lnTo>
                <a:close/>
              </a:path>
            </a:pathLst>
          </a:custGeom>
          <a:solidFill>
            <a:srgbClr val="94A3B8">
              <a:alpha val="25000"/>
            </a:srgbClr>
          </a:solidFill>
        </p:spPr>
        <p:txBody>
          <a:bodyPr/>
          <a:p/>
        </p:txBody>
      </p:sp>
      <p:sp>
        <p:nvSpPr>
          <p:cNvPr id="62" name="文本框 61" descr="{&quot;isTemplate&quot;:true,&quot;type&quot;:&quot;text&quot;}"/>
          <p:cNvSpPr txBox="1"/>
          <p:nvPr/>
        </p:nvSpPr>
        <p:spPr>
          <a:xfrm>
            <a:off x="895350" y="4181475"/>
            <a:ext cx="3276600" cy="485775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940">
                <a:solidFill>
                  <a:srgbClr val="94A3B8"/>
                </a:solidFill>
                <a:latin typeface="Source Han Sans SC"/>
                <a:ea typeface="Source Han Sans SC"/>
              </a:rPr>
              <a:t>从</a:t>
            </a:r>
            <a:r>
              <a:rPr lang="en-US" sz="940">
                <a:solidFill>
                  <a:srgbClr val="94A3B8"/>
                </a:solidFill>
                <a:latin typeface="Source Han Sans SC"/>
                <a:ea typeface="Source Han Sans SC"/>
              </a:rPr>
              <a:t> 88.9% </a:t>
            </a:r>
            <a:r>
              <a:rPr lang="zh-CN" sz="940">
                <a:solidFill>
                  <a:srgbClr val="94A3B8"/>
                </a:solidFill>
                <a:latin typeface="Source Han Sans SC"/>
                <a:ea typeface="Source Han Sans SC"/>
              </a:rPr>
              <a:t>到</a:t>
            </a:r>
            <a:r>
              <a:rPr lang="en-US" sz="940">
                <a:solidFill>
                  <a:srgbClr val="94A3B8"/>
                </a:solidFill>
                <a:latin typeface="Source Han Sans SC"/>
                <a:ea typeface="Source Han Sans SC"/>
              </a:rPr>
              <a:t> 100% </a:t>
            </a:r>
            <a:r>
              <a:rPr lang="zh-CN" sz="940">
                <a:solidFill>
                  <a:srgbClr val="94A3B8"/>
                </a:solidFill>
                <a:latin typeface="Source Han Sans SC"/>
                <a:ea typeface="Source Han Sans SC"/>
              </a:rPr>
              <a:t>的三次迭代：补风格加权、召回池</a:t>
            </a:r>
            <a:r>
              <a:rPr lang="en-US" sz="940">
                <a:solidFill>
                  <a:srgbClr val="94A3B8"/>
                </a:solidFill>
                <a:latin typeface="Source Han Sans SC"/>
                <a:ea typeface="Source Han Sans SC"/>
              </a:rPr>
              <a:t> 20→40</a:t>
            </a:r>
            <a:r>
              <a:rPr lang="zh-CN" sz="940">
                <a:solidFill>
                  <a:srgbClr val="94A3B8"/>
                </a:solidFill>
                <a:latin typeface="Source Han Sans SC"/>
                <a:ea typeface="Source Han Sans SC"/>
              </a:rPr>
              <a:t>、索引签名自动重建。</a:t>
            </a:r>
            <a:endParaRPr lang="zh-CN" sz="940">
              <a:solidFill>
                <a:srgbClr val="94A3B8"/>
              </a:solidFill>
              <a:latin typeface="Source Han Sans SC"/>
              <a:ea typeface="Source Han Sans SC"/>
            </a:endParaRPr>
          </a:p>
        </p:txBody>
      </p:sp>
      <p:sp>
        <p:nvSpPr>
          <p:cNvPr id="63" name="圆角矩形 62"/>
          <p:cNvSpPr/>
          <p:nvPr/>
        </p:nvSpPr>
        <p:spPr>
          <a:xfrm>
            <a:off x="4686300" y="1143000"/>
            <a:ext cx="6896100" cy="1181100"/>
          </a:xfrm>
          <a:prstGeom prst="roundRect">
            <a:avLst>
              <a:gd name="adj" fmla="val 1129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90500" dist="38100" dir="5400000">
              <a:srgbClr val="0F172A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64" name="文本框 63" descr="{&quot;isTemplate&quot;:true,&quot;type&quot;:&quot;text&quot;}"/>
          <p:cNvSpPr txBox="1"/>
          <p:nvPr/>
        </p:nvSpPr>
        <p:spPr>
          <a:xfrm>
            <a:off x="4895850" y="1495425"/>
            <a:ext cx="1352550" cy="4857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150" b="1" spc="-150">
                <a:solidFill>
                  <a:srgbClr val="3B82F6"/>
                </a:solidFill>
                <a:latin typeface="Source Han Sans SC"/>
                <a:ea typeface="Source Han Sans SC"/>
              </a:rPr>
              <a:t>100%</a:t>
            </a:r>
            <a:endParaRPr lang="en-US" sz="3150" b="1" spc="-150">
              <a:solidFill>
                <a:srgbClr val="3B82F6"/>
              </a:solidFill>
              <a:latin typeface="Source Han Sans SC"/>
              <a:ea typeface="Source Han Sans SC"/>
            </a:endParaRPr>
          </a:p>
        </p:txBody>
      </p:sp>
      <p:sp>
        <p:nvSpPr>
          <p:cNvPr id="65" name="文本框 64" descr="{&quot;isTemplate&quot;:true,&quot;type&quot;:&quot;text&quot;}"/>
          <p:cNvSpPr txBox="1"/>
          <p:nvPr/>
        </p:nvSpPr>
        <p:spPr>
          <a:xfrm>
            <a:off x="6438900" y="1552575"/>
            <a:ext cx="4514850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40" b="1">
                <a:solidFill>
                  <a:srgbClr val="0F172A"/>
                </a:solidFill>
                <a:latin typeface="Source Han Sans SC"/>
                <a:ea typeface="Source Han Sans SC"/>
              </a:rPr>
              <a:t>平台适配符合率</a:t>
            </a:r>
            <a:endParaRPr lang="zh-CN" sz="1240" b="1">
              <a:solidFill>
                <a:srgbClr val="0F172A"/>
              </a:solidFill>
              <a:latin typeface="Source Han Sans SC"/>
              <a:ea typeface="Source Han Sans SC"/>
            </a:endParaRPr>
          </a:p>
        </p:txBody>
      </p:sp>
      <p:sp>
        <p:nvSpPr>
          <p:cNvPr id="66" name="文本框 65" descr="{&quot;isTemplate&quot;:true,&quot;type&quot;:&quot;text&quot;}"/>
          <p:cNvSpPr txBox="1"/>
          <p:nvPr/>
        </p:nvSpPr>
        <p:spPr>
          <a:xfrm>
            <a:off x="6438900" y="1771650"/>
            <a:ext cx="4514850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40">
                <a:solidFill>
                  <a:srgbClr val="64748B"/>
                </a:solidFill>
                <a:latin typeface="Source Han Sans SC"/>
                <a:ea typeface="Source Han Sans SC"/>
              </a:rPr>
              <a:t>阈值</a:t>
            </a:r>
            <a:r>
              <a:rPr lang="en-US" sz="940">
                <a:solidFill>
                  <a:srgbClr val="64748B"/>
                </a:solidFill>
                <a:latin typeface="Source Han Sans SC"/>
                <a:ea typeface="Source Han Sans SC"/>
              </a:rPr>
              <a:t> ≥90%</a:t>
            </a:r>
            <a:r>
              <a:rPr lang="zh-CN" sz="940">
                <a:solidFill>
                  <a:srgbClr val="64748B"/>
                </a:solidFill>
                <a:latin typeface="Source Han Sans SC"/>
                <a:ea typeface="Source Han Sans SC"/>
              </a:rPr>
              <a:t>｜</a:t>
            </a:r>
            <a:r>
              <a:rPr lang="en-US" sz="940">
                <a:solidFill>
                  <a:srgbClr val="64748B"/>
                </a:solidFill>
                <a:latin typeface="Source Han Sans SC"/>
                <a:ea typeface="Source Han Sans SC"/>
              </a:rPr>
              <a:t>54/54 </a:t>
            </a:r>
            <a:r>
              <a:rPr lang="zh-CN" sz="940">
                <a:solidFill>
                  <a:srgbClr val="64748B"/>
                </a:solidFill>
                <a:latin typeface="Source Han Sans SC"/>
                <a:ea typeface="Source Han Sans SC"/>
              </a:rPr>
              <a:t>通过标题长度、标签格式、数量上限等硬性规范</a:t>
            </a:r>
            <a:endParaRPr lang="zh-CN" sz="940">
              <a:solidFill>
                <a:srgbClr val="64748B"/>
              </a:solidFill>
              <a:latin typeface="Source Han Sans SC"/>
              <a:ea typeface="Source Han Sans SC"/>
            </a:endParaRPr>
          </a:p>
        </p:txBody>
      </p:sp>
      <p:sp>
        <p:nvSpPr>
          <p:cNvPr id="67" name="文本框 66" descr="{&quot;isTemplate&quot;:true,&quot;type&quot;:&quot;text&quot;}"/>
          <p:cNvSpPr txBox="1"/>
          <p:nvPr/>
        </p:nvSpPr>
        <p:spPr>
          <a:xfrm>
            <a:off x="11144250" y="1666875"/>
            <a:ext cx="228600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b="1">
                <a:solidFill>
                  <a:srgbClr val="06B6D4"/>
                </a:solidFill>
                <a:latin typeface="Source Han Sans SC"/>
                <a:ea typeface="Source Han Sans SC"/>
              </a:rPr>
              <a:t>达标</a:t>
            </a:r>
            <a:endParaRPr lang="zh-CN" sz="900" b="1">
              <a:solidFill>
                <a:srgbClr val="06B6D4"/>
              </a:solidFill>
              <a:latin typeface="Source Han Sans SC"/>
              <a:ea typeface="Source Han Sans SC"/>
            </a:endParaRPr>
          </a:p>
        </p:txBody>
      </p:sp>
      <p:sp>
        <p:nvSpPr>
          <p:cNvPr id="68" name="圆角矩形 67"/>
          <p:cNvSpPr/>
          <p:nvPr/>
        </p:nvSpPr>
        <p:spPr>
          <a:xfrm>
            <a:off x="4686300" y="2438400"/>
            <a:ext cx="6896100" cy="1181100"/>
          </a:xfrm>
          <a:prstGeom prst="roundRect">
            <a:avLst>
              <a:gd name="adj" fmla="val 1129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90500" dist="38100" dir="5400000">
              <a:srgbClr val="0F172A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69" name="文本框 68" descr="{&quot;isTemplate&quot;:true,&quot;type&quot;:&quot;text&quot;}"/>
          <p:cNvSpPr txBox="1"/>
          <p:nvPr/>
        </p:nvSpPr>
        <p:spPr>
          <a:xfrm>
            <a:off x="4895850" y="2790825"/>
            <a:ext cx="1352550" cy="4857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150" b="1" spc="-150">
                <a:solidFill>
                  <a:srgbClr val="3B82F6"/>
                </a:solidFill>
                <a:latin typeface="Source Han Sans SC"/>
                <a:ea typeface="Source Han Sans SC"/>
              </a:rPr>
              <a:t>100%</a:t>
            </a:r>
            <a:endParaRPr lang="en-US" sz="3150" b="1" spc="-150">
              <a:solidFill>
                <a:srgbClr val="3B82F6"/>
              </a:solidFill>
              <a:latin typeface="Source Han Sans SC"/>
              <a:ea typeface="Source Han Sans SC"/>
            </a:endParaRPr>
          </a:p>
        </p:txBody>
      </p:sp>
      <p:sp>
        <p:nvSpPr>
          <p:cNvPr id="70" name="文本框 69" descr="{&quot;isTemplate&quot;:true,&quot;type&quot;:&quot;text&quot;}"/>
          <p:cNvSpPr txBox="1"/>
          <p:nvPr/>
        </p:nvSpPr>
        <p:spPr>
          <a:xfrm>
            <a:off x="6438900" y="2847975"/>
            <a:ext cx="4514850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40" b="1">
                <a:solidFill>
                  <a:srgbClr val="0F172A"/>
                </a:solidFill>
                <a:latin typeface="Source Han Sans SC"/>
                <a:ea typeface="Source Han Sans SC"/>
              </a:rPr>
              <a:t>文案一次可用率</a:t>
            </a:r>
            <a:endParaRPr lang="zh-CN" sz="1240" b="1">
              <a:solidFill>
                <a:srgbClr val="0F172A"/>
              </a:solidFill>
              <a:latin typeface="Source Han Sans SC"/>
              <a:ea typeface="Source Han Sans SC"/>
            </a:endParaRPr>
          </a:p>
        </p:txBody>
      </p:sp>
      <p:sp>
        <p:nvSpPr>
          <p:cNvPr id="71" name="文本框 70" descr="{&quot;isTemplate&quot;:true,&quot;type&quot;:&quot;text&quot;}"/>
          <p:cNvSpPr txBox="1"/>
          <p:nvPr/>
        </p:nvSpPr>
        <p:spPr>
          <a:xfrm>
            <a:off x="6438900" y="3067050"/>
            <a:ext cx="4514850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40">
                <a:solidFill>
                  <a:srgbClr val="64748B"/>
                </a:solidFill>
                <a:latin typeface="Source Han Sans SC"/>
                <a:ea typeface="Source Han Sans SC"/>
              </a:rPr>
              <a:t>阈值</a:t>
            </a:r>
            <a:r>
              <a:rPr lang="en-US" sz="940">
                <a:solidFill>
                  <a:srgbClr val="64748B"/>
                </a:solidFill>
                <a:latin typeface="Source Han Sans SC"/>
                <a:ea typeface="Source Han Sans SC"/>
              </a:rPr>
              <a:t> ≥80%</a:t>
            </a:r>
            <a:r>
              <a:rPr lang="zh-CN" sz="940">
                <a:solidFill>
                  <a:srgbClr val="64748B"/>
                </a:solidFill>
                <a:latin typeface="Source Han Sans SC"/>
                <a:ea typeface="Source Han Sans SC"/>
              </a:rPr>
              <a:t>｜</a:t>
            </a:r>
            <a:r>
              <a:rPr lang="en-US" sz="940">
                <a:solidFill>
                  <a:srgbClr val="64748B"/>
                </a:solidFill>
                <a:latin typeface="Source Han Sans SC"/>
                <a:ea typeface="Source Han Sans SC"/>
              </a:rPr>
              <a:t>54/54 </a:t>
            </a:r>
            <a:r>
              <a:rPr lang="zh-CN" sz="940">
                <a:solidFill>
                  <a:srgbClr val="64748B"/>
                </a:solidFill>
                <a:latin typeface="Source Han Sans SC"/>
                <a:ea typeface="Source Han Sans SC"/>
              </a:rPr>
              <a:t>版本通过结构规则校验（离线回归基线口径）</a:t>
            </a:r>
            <a:endParaRPr lang="zh-CN" sz="940">
              <a:solidFill>
                <a:srgbClr val="64748B"/>
              </a:solidFill>
              <a:latin typeface="Source Han Sans SC"/>
              <a:ea typeface="Source Han Sans SC"/>
            </a:endParaRPr>
          </a:p>
        </p:txBody>
      </p:sp>
      <p:sp>
        <p:nvSpPr>
          <p:cNvPr id="72" name="文本框 71" descr="{&quot;isTemplate&quot;:true,&quot;type&quot;:&quot;text&quot;}"/>
          <p:cNvSpPr txBox="1"/>
          <p:nvPr/>
        </p:nvSpPr>
        <p:spPr>
          <a:xfrm>
            <a:off x="11144250" y="2962275"/>
            <a:ext cx="228600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b="1">
                <a:solidFill>
                  <a:srgbClr val="06B6D4"/>
                </a:solidFill>
                <a:latin typeface="Source Han Sans SC"/>
                <a:ea typeface="Source Han Sans SC"/>
              </a:rPr>
              <a:t>达标</a:t>
            </a:r>
            <a:endParaRPr lang="zh-CN" sz="900" b="1">
              <a:solidFill>
                <a:srgbClr val="06B6D4"/>
              </a:solidFill>
              <a:latin typeface="Source Han Sans SC"/>
              <a:ea typeface="Source Han Sans SC"/>
            </a:endParaRPr>
          </a:p>
        </p:txBody>
      </p:sp>
      <p:sp>
        <p:nvSpPr>
          <p:cNvPr id="73" name="圆角矩形 72"/>
          <p:cNvSpPr/>
          <p:nvPr/>
        </p:nvSpPr>
        <p:spPr>
          <a:xfrm>
            <a:off x="4686300" y="3733800"/>
            <a:ext cx="6896100" cy="1181100"/>
          </a:xfrm>
          <a:prstGeom prst="roundRect">
            <a:avLst>
              <a:gd name="adj" fmla="val 1129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90500" dist="38100" dir="5400000">
              <a:srgbClr val="0F172A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74" name="文本框 73" descr="{&quot;isTemplate&quot;:true,&quot;type&quot;:&quot;text&quot;}"/>
          <p:cNvSpPr txBox="1"/>
          <p:nvPr/>
        </p:nvSpPr>
        <p:spPr>
          <a:xfrm>
            <a:off x="4895850" y="4086225"/>
            <a:ext cx="1352550" cy="4857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150" b="1" spc="-150">
                <a:solidFill>
                  <a:srgbClr val="3B82F6"/>
                </a:solidFill>
                <a:latin typeface="Source Han Sans SC"/>
                <a:ea typeface="Source Han Sans SC"/>
              </a:rPr>
              <a:t>0.10s</a:t>
            </a:r>
            <a:endParaRPr lang="en-US" sz="3150" b="1" spc="-150">
              <a:solidFill>
                <a:srgbClr val="3B82F6"/>
              </a:solidFill>
              <a:latin typeface="Source Han Sans SC"/>
              <a:ea typeface="Source Han Sans SC"/>
            </a:endParaRPr>
          </a:p>
        </p:txBody>
      </p:sp>
      <p:sp>
        <p:nvSpPr>
          <p:cNvPr id="75" name="文本框 74" descr="{&quot;isTemplate&quot;:true,&quot;type&quot;:&quot;text&quot;}"/>
          <p:cNvSpPr txBox="1"/>
          <p:nvPr/>
        </p:nvSpPr>
        <p:spPr>
          <a:xfrm>
            <a:off x="6438900" y="4143375"/>
            <a:ext cx="4514850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40" b="1">
                <a:solidFill>
                  <a:srgbClr val="0F172A"/>
                </a:solidFill>
                <a:latin typeface="Source Han Sans SC"/>
                <a:ea typeface="Source Han Sans SC"/>
              </a:rPr>
              <a:t>单篇平均生成耗时</a:t>
            </a:r>
            <a:endParaRPr lang="zh-CN" sz="1240" b="1">
              <a:solidFill>
                <a:srgbClr val="0F172A"/>
              </a:solidFill>
              <a:latin typeface="Source Han Sans SC"/>
              <a:ea typeface="Source Han Sans SC"/>
            </a:endParaRPr>
          </a:p>
        </p:txBody>
      </p:sp>
      <p:sp>
        <p:nvSpPr>
          <p:cNvPr id="76" name="文本框 75" descr="{&quot;isTemplate&quot;:true,&quot;type&quot;:&quot;text&quot;}"/>
          <p:cNvSpPr txBox="1"/>
          <p:nvPr/>
        </p:nvSpPr>
        <p:spPr>
          <a:xfrm>
            <a:off x="6438900" y="4362450"/>
            <a:ext cx="4514850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40">
                <a:solidFill>
                  <a:srgbClr val="64748B"/>
                </a:solidFill>
                <a:latin typeface="Source Han Sans SC"/>
                <a:ea typeface="Source Han Sans SC"/>
              </a:rPr>
              <a:t>阈值</a:t>
            </a:r>
            <a:r>
              <a:rPr lang="en-US" sz="940">
                <a:solidFill>
                  <a:srgbClr val="64748B"/>
                </a:solidFill>
                <a:latin typeface="Source Han Sans SC"/>
                <a:ea typeface="Source Han Sans SC"/>
              </a:rPr>
              <a:t> ≤15s</a:t>
            </a:r>
            <a:r>
              <a:rPr lang="zh-CN" sz="940">
                <a:solidFill>
                  <a:srgbClr val="64748B"/>
                </a:solidFill>
                <a:latin typeface="Source Han Sans SC"/>
                <a:ea typeface="Source Han Sans SC"/>
              </a:rPr>
              <a:t>｜</a:t>
            </a:r>
            <a:r>
              <a:rPr lang="en-US" sz="940">
                <a:solidFill>
                  <a:srgbClr val="64748B"/>
                </a:solidFill>
                <a:latin typeface="Source Han Sans SC"/>
                <a:ea typeface="Source Han Sans SC"/>
              </a:rPr>
              <a:t>18 </a:t>
            </a:r>
            <a:r>
              <a:rPr lang="zh-CN" sz="940">
                <a:solidFill>
                  <a:srgbClr val="64748B"/>
                </a:solidFill>
                <a:latin typeface="Source Han Sans SC"/>
                <a:ea typeface="Source Han Sans SC"/>
              </a:rPr>
              <a:t>个任务实测均值</a:t>
            </a:r>
            <a:r>
              <a:rPr lang="en-US" sz="940">
                <a:solidFill>
                  <a:srgbClr val="64748B"/>
                </a:solidFill>
                <a:latin typeface="Source Han Sans SC"/>
                <a:ea typeface="Source Han Sans SC"/>
              </a:rPr>
              <a:t> 0.10s</a:t>
            </a:r>
            <a:r>
              <a:rPr lang="zh-CN" sz="940">
                <a:solidFill>
                  <a:srgbClr val="64748B"/>
                </a:solidFill>
                <a:latin typeface="Source Han Sans SC"/>
                <a:ea typeface="Source Han Sans SC"/>
              </a:rPr>
              <a:t>、最大</a:t>
            </a:r>
            <a:r>
              <a:rPr lang="en-US" sz="940">
                <a:solidFill>
                  <a:srgbClr val="64748B"/>
                </a:solidFill>
                <a:latin typeface="Source Han Sans SC"/>
                <a:ea typeface="Source Han Sans SC"/>
              </a:rPr>
              <a:t> 0.17s</a:t>
            </a:r>
            <a:r>
              <a:rPr lang="zh-CN" sz="940">
                <a:solidFill>
                  <a:srgbClr val="64748B"/>
                </a:solidFill>
                <a:latin typeface="Source Han Sans SC"/>
                <a:ea typeface="Source Han Sans SC"/>
              </a:rPr>
              <a:t>（离线口径）</a:t>
            </a:r>
            <a:endParaRPr lang="zh-CN" sz="940">
              <a:solidFill>
                <a:srgbClr val="64748B"/>
              </a:solidFill>
              <a:latin typeface="Source Han Sans SC"/>
              <a:ea typeface="Source Han Sans SC"/>
            </a:endParaRPr>
          </a:p>
        </p:txBody>
      </p:sp>
      <p:sp>
        <p:nvSpPr>
          <p:cNvPr id="77" name="文本框 76" descr="{&quot;isTemplate&quot;:true,&quot;type&quot;:&quot;text&quot;}"/>
          <p:cNvSpPr txBox="1"/>
          <p:nvPr/>
        </p:nvSpPr>
        <p:spPr>
          <a:xfrm>
            <a:off x="11144250" y="4257675"/>
            <a:ext cx="228600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b="1">
                <a:solidFill>
                  <a:srgbClr val="06B6D4"/>
                </a:solidFill>
                <a:latin typeface="Source Han Sans SC"/>
                <a:ea typeface="Source Han Sans SC"/>
              </a:rPr>
              <a:t>达标</a:t>
            </a:r>
            <a:endParaRPr lang="zh-CN" sz="900" b="1">
              <a:solidFill>
                <a:srgbClr val="06B6D4"/>
              </a:solidFill>
              <a:latin typeface="Source Han Sans SC"/>
              <a:ea typeface="Source Han Sans SC"/>
            </a:endParaRPr>
          </a:p>
        </p:txBody>
      </p:sp>
      <p:sp>
        <p:nvSpPr>
          <p:cNvPr id="78" name="圆角矩形 77"/>
          <p:cNvSpPr/>
          <p:nvPr/>
        </p:nvSpPr>
        <p:spPr>
          <a:xfrm>
            <a:off x="609600" y="5029200"/>
            <a:ext cx="10972800" cy="1028700"/>
          </a:xfrm>
          <a:prstGeom prst="roundRect">
            <a:avLst>
              <a:gd name="adj" fmla="val 1296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90500" dist="38100" dir="5400000">
              <a:srgbClr val="0F172A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79" name="文本框 78" descr="{&quot;isTemplate&quot;:true,&quot;type&quot;:&quot;text&quot;}"/>
          <p:cNvSpPr txBox="1"/>
          <p:nvPr/>
        </p:nvSpPr>
        <p:spPr>
          <a:xfrm>
            <a:off x="838200" y="5295900"/>
            <a:ext cx="1600200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spc="75">
                <a:solidFill>
                  <a:srgbClr val="94A3B8"/>
                </a:solidFill>
                <a:latin typeface="Source Han Sans SC"/>
                <a:ea typeface="Source Han Sans SC"/>
              </a:rPr>
              <a:t>HOTSPOT V2</a:t>
            </a:r>
            <a:endParaRPr lang="en-US" sz="900" spc="75">
              <a:solidFill>
                <a:srgbClr val="94A3B8"/>
              </a:solidFill>
              <a:latin typeface="Source Han Sans SC"/>
              <a:ea typeface="Source Han Sans SC"/>
            </a:endParaRPr>
          </a:p>
        </p:txBody>
      </p:sp>
      <p:sp>
        <p:nvSpPr>
          <p:cNvPr id="80" name="文本框 79" descr="{&quot;isTemplate&quot;:true,&quot;type&quot;:&quot;text&quot;}"/>
          <p:cNvSpPr txBox="1"/>
          <p:nvPr/>
        </p:nvSpPr>
        <p:spPr>
          <a:xfrm>
            <a:off x="838200" y="5467350"/>
            <a:ext cx="1600200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0F172A"/>
                </a:solidFill>
                <a:latin typeface="Source Han Sans SC"/>
                <a:ea typeface="Source Han Sans SC"/>
              </a:rPr>
              <a:t>热点侧实测</a:t>
            </a:r>
            <a:endParaRPr lang="zh-CN" sz="1125" b="1">
              <a:solidFill>
                <a:srgbClr val="0F172A"/>
              </a:solidFill>
              <a:latin typeface="Source Han Sans SC"/>
              <a:ea typeface="Source Han Sans SC"/>
            </a:endParaRPr>
          </a:p>
        </p:txBody>
      </p:sp>
      <p:sp>
        <p:nvSpPr>
          <p:cNvPr id="81" name="文本框 80" descr="{&quot;isTemplate&quot;:true,&quot;type&quot;:&quot;text&quot;}"/>
          <p:cNvSpPr txBox="1"/>
          <p:nvPr/>
        </p:nvSpPr>
        <p:spPr>
          <a:xfrm>
            <a:off x="838200" y="5657850"/>
            <a:ext cx="1600200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865">
                <a:solidFill>
                  <a:srgbClr val="64748B"/>
                </a:solidFill>
                <a:latin typeface="Source Han Sans SC"/>
                <a:ea typeface="Source Han Sans SC"/>
              </a:rPr>
              <a:t>真实网络，非模拟数据</a:t>
            </a:r>
            <a:endParaRPr lang="zh-CN" sz="865">
              <a:solidFill>
                <a:srgbClr val="64748B"/>
              </a:solidFill>
              <a:latin typeface="Source Han Sans SC"/>
              <a:ea typeface="Source Han Sans SC"/>
            </a:endParaRPr>
          </a:p>
        </p:txBody>
      </p:sp>
      <p:sp>
        <p:nvSpPr>
          <p:cNvPr id="82" name="矩形 81"/>
          <p:cNvSpPr/>
          <p:nvPr/>
        </p:nvSpPr>
        <p:spPr>
          <a:xfrm>
            <a:off x="2438400" y="5276850"/>
            <a:ext cx="9525" cy="533400"/>
          </a:xfrm>
          <a:prstGeom prst="rect">
            <a:avLst/>
          </a:prstGeom>
          <a:solidFill>
            <a:srgbClr val="E2E8F0"/>
          </a:solidFill>
        </p:spPr>
        <p:txBody>
          <a:bodyPr/>
          <a:p/>
        </p:txBody>
      </p:sp>
      <p:sp>
        <p:nvSpPr>
          <p:cNvPr id="83" name="文本框 82" descr="{&quot;isTemplate&quot;:true,&quot;type&quot;:&quot;text&quot;}"/>
          <p:cNvSpPr txBox="1"/>
          <p:nvPr/>
        </p:nvSpPr>
        <p:spPr>
          <a:xfrm>
            <a:off x="2886075" y="5334000"/>
            <a:ext cx="447675" cy="2857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75" b="1">
                <a:solidFill>
                  <a:srgbClr val="0F172A"/>
                </a:solidFill>
                <a:latin typeface="Source Han Sans SC"/>
                <a:ea typeface="Source Han Sans SC"/>
              </a:rPr>
              <a:t>100</a:t>
            </a:r>
            <a:endParaRPr lang="en-US" sz="1875" b="1">
              <a:solidFill>
                <a:srgbClr val="0F172A"/>
              </a:solidFill>
              <a:latin typeface="Source Han Sans SC"/>
              <a:ea typeface="Source Han Sans SC"/>
            </a:endParaRPr>
          </a:p>
        </p:txBody>
      </p:sp>
      <p:sp>
        <p:nvSpPr>
          <p:cNvPr id="84" name="文本框 83" descr="{&quot;isTemplate&quot;:true,&quot;type&quot;:&quot;text&quot;}"/>
          <p:cNvSpPr txBox="1"/>
          <p:nvPr/>
        </p:nvSpPr>
        <p:spPr>
          <a:xfrm>
            <a:off x="2828925" y="5629275"/>
            <a:ext cx="552450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865">
                <a:solidFill>
                  <a:srgbClr val="64748B"/>
                </a:solidFill>
                <a:latin typeface="Source Han Sans SC"/>
                <a:ea typeface="Source Han Sans SC"/>
              </a:rPr>
              <a:t>条</a:t>
            </a:r>
            <a:r>
              <a:rPr lang="en-US" sz="865">
                <a:solidFill>
                  <a:srgbClr val="64748B"/>
                </a:solidFill>
                <a:latin typeface="Source Han Sans SC"/>
                <a:ea typeface="Source Han Sans SC"/>
              </a:rPr>
              <a:t> / </a:t>
            </a:r>
            <a:r>
              <a:rPr lang="zh-CN" sz="865">
                <a:solidFill>
                  <a:srgbClr val="64748B"/>
                </a:solidFill>
                <a:latin typeface="Source Han Sans SC"/>
                <a:ea typeface="Source Han Sans SC"/>
              </a:rPr>
              <a:t>次刷新</a:t>
            </a:r>
            <a:endParaRPr lang="zh-CN" sz="865">
              <a:solidFill>
                <a:srgbClr val="64748B"/>
              </a:solidFill>
              <a:latin typeface="Source Han Sans SC"/>
              <a:ea typeface="Source Han Sans SC"/>
            </a:endParaRPr>
          </a:p>
        </p:txBody>
      </p:sp>
      <p:sp>
        <p:nvSpPr>
          <p:cNvPr id="85" name="文本框 84" descr="{&quot;isTemplate&quot;:true,&quot;type&quot;:&quot;text&quot;}"/>
          <p:cNvSpPr txBox="1"/>
          <p:nvPr/>
        </p:nvSpPr>
        <p:spPr>
          <a:xfrm>
            <a:off x="4171950" y="5334000"/>
            <a:ext cx="628650" cy="2857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75" b="1">
                <a:solidFill>
                  <a:srgbClr val="0F172A"/>
                </a:solidFill>
                <a:latin typeface="Source Han Sans SC"/>
                <a:ea typeface="Source Han Sans SC"/>
              </a:rPr>
              <a:t>1.98s</a:t>
            </a:r>
            <a:endParaRPr lang="en-US" sz="1875" b="1">
              <a:solidFill>
                <a:srgbClr val="0F172A"/>
              </a:solidFill>
              <a:latin typeface="Source Han Sans SC"/>
              <a:ea typeface="Source Han Sans SC"/>
            </a:endParaRPr>
          </a:p>
        </p:txBody>
      </p:sp>
      <p:sp>
        <p:nvSpPr>
          <p:cNvPr id="86" name="文本框 85" descr="{&quot;isTemplate&quot;:true,&quot;type&quot;:&quot;text&quot;}"/>
          <p:cNvSpPr txBox="1"/>
          <p:nvPr/>
        </p:nvSpPr>
        <p:spPr>
          <a:xfrm>
            <a:off x="4152900" y="5629275"/>
            <a:ext cx="657225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865">
                <a:solidFill>
                  <a:srgbClr val="64748B"/>
                </a:solidFill>
                <a:latin typeface="Source Han Sans SC"/>
                <a:ea typeface="Source Han Sans SC"/>
              </a:rPr>
              <a:t>全量采集耗时</a:t>
            </a:r>
            <a:endParaRPr lang="zh-CN" sz="865">
              <a:solidFill>
                <a:srgbClr val="64748B"/>
              </a:solidFill>
              <a:latin typeface="Source Han Sans SC"/>
              <a:ea typeface="Source Han Sans SC"/>
            </a:endParaRPr>
          </a:p>
        </p:txBody>
      </p:sp>
      <p:sp>
        <p:nvSpPr>
          <p:cNvPr id="87" name="文本框 86" descr="{&quot;isTemplate&quot;:true,&quot;type&quot;:&quot;text&quot;}"/>
          <p:cNvSpPr txBox="1"/>
          <p:nvPr/>
        </p:nvSpPr>
        <p:spPr>
          <a:xfrm>
            <a:off x="5581650" y="5334000"/>
            <a:ext cx="552450" cy="2857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75" b="1">
                <a:solidFill>
                  <a:srgbClr val="0F172A"/>
                </a:solidFill>
                <a:latin typeface="Source Han Sans SC"/>
                <a:ea typeface="Source Han Sans SC"/>
              </a:rPr>
              <a:t>5 / 6</a:t>
            </a:r>
            <a:endParaRPr lang="en-US" sz="1875" b="1">
              <a:solidFill>
                <a:srgbClr val="0F172A"/>
              </a:solidFill>
              <a:latin typeface="Source Han Sans SC"/>
              <a:ea typeface="Source Han Sans SC"/>
            </a:endParaRPr>
          </a:p>
        </p:txBody>
      </p:sp>
      <p:sp>
        <p:nvSpPr>
          <p:cNvPr id="88" name="文本框 87" descr="{&quot;isTemplate&quot;:true,&quot;type&quot;:&quot;text&quot;}"/>
          <p:cNvSpPr txBox="1"/>
          <p:nvPr/>
        </p:nvSpPr>
        <p:spPr>
          <a:xfrm>
            <a:off x="5638800" y="5629275"/>
            <a:ext cx="438150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865">
                <a:solidFill>
                  <a:srgbClr val="64748B"/>
                </a:solidFill>
                <a:latin typeface="Source Han Sans SC"/>
                <a:ea typeface="Source Han Sans SC"/>
              </a:rPr>
              <a:t>来源可用</a:t>
            </a:r>
            <a:endParaRPr lang="zh-CN" sz="865">
              <a:solidFill>
                <a:srgbClr val="64748B"/>
              </a:solidFill>
              <a:latin typeface="Source Han Sans SC"/>
              <a:ea typeface="Source Han Sans SC"/>
            </a:endParaRPr>
          </a:p>
        </p:txBody>
      </p:sp>
      <p:sp>
        <p:nvSpPr>
          <p:cNvPr id="89" name="文本框 88" descr="{&quot;isTemplate&quot;:true,&quot;type&quot;:&quot;text&quot;}"/>
          <p:cNvSpPr txBox="1"/>
          <p:nvPr/>
        </p:nvSpPr>
        <p:spPr>
          <a:xfrm>
            <a:off x="7086600" y="5334000"/>
            <a:ext cx="733425" cy="2857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75" b="1">
                <a:solidFill>
                  <a:srgbClr val="0F172A"/>
                </a:solidFill>
                <a:latin typeface="Source Han Sans SC"/>
                <a:ea typeface="Source Han Sans SC"/>
              </a:rPr>
              <a:t>25.7%</a:t>
            </a:r>
            <a:endParaRPr lang="en-US" sz="1875" b="1">
              <a:solidFill>
                <a:srgbClr val="0F172A"/>
              </a:solidFill>
              <a:latin typeface="Source Han Sans SC"/>
              <a:ea typeface="Source Han Sans SC"/>
            </a:endParaRPr>
          </a:p>
        </p:txBody>
      </p:sp>
      <p:sp>
        <p:nvSpPr>
          <p:cNvPr id="90" name="文本框 89" descr="{&quot;isTemplate&quot;:true,&quot;type&quot;:&quot;text&quot;}"/>
          <p:cNvSpPr txBox="1"/>
          <p:nvPr/>
        </p:nvSpPr>
        <p:spPr>
          <a:xfrm>
            <a:off x="6905625" y="5629275"/>
            <a:ext cx="1095375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865">
                <a:solidFill>
                  <a:srgbClr val="64748B"/>
                </a:solidFill>
                <a:latin typeface="Source Han Sans SC"/>
                <a:ea typeface="Source Han Sans SC"/>
              </a:rPr>
              <a:t>垂类命中率（扩词后）</a:t>
            </a:r>
            <a:endParaRPr lang="zh-CN" sz="865">
              <a:solidFill>
                <a:srgbClr val="64748B"/>
              </a:solidFill>
              <a:latin typeface="Source Han Sans SC"/>
              <a:ea typeface="Source Han Sans SC"/>
            </a:endParaRPr>
          </a:p>
        </p:txBody>
      </p:sp>
      <p:sp>
        <p:nvSpPr>
          <p:cNvPr id="91" name="文本框 90" descr="{&quot;isTemplate&quot;:true,&quot;type&quot;:&quot;text&quot;}"/>
          <p:cNvSpPr txBox="1"/>
          <p:nvPr/>
        </p:nvSpPr>
        <p:spPr>
          <a:xfrm>
            <a:off x="8867775" y="5334000"/>
            <a:ext cx="590550" cy="2857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75" b="1">
                <a:solidFill>
                  <a:srgbClr val="F59E0B"/>
                </a:solidFill>
                <a:latin typeface="Source Han Sans SC"/>
                <a:ea typeface="Source Han Sans SC"/>
              </a:rPr>
              <a:t>1.1%</a:t>
            </a:r>
            <a:endParaRPr lang="en-US" sz="1875" b="1">
              <a:solidFill>
                <a:srgbClr val="F59E0B"/>
              </a:solidFill>
              <a:latin typeface="Source Han Sans SC"/>
              <a:ea typeface="Source Han Sans SC"/>
            </a:endParaRPr>
          </a:p>
        </p:txBody>
      </p:sp>
      <p:sp>
        <p:nvSpPr>
          <p:cNvPr id="92" name="文本框 91" descr="{&quot;isTemplate&quot;:true,&quot;type&quot;:&quot;text&quot;}"/>
          <p:cNvSpPr txBox="1"/>
          <p:nvPr/>
        </p:nvSpPr>
        <p:spPr>
          <a:xfrm>
            <a:off x="8772525" y="5629275"/>
            <a:ext cx="771525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865">
                <a:solidFill>
                  <a:srgbClr val="64748B"/>
                </a:solidFill>
                <a:latin typeface="Source Han Sans SC"/>
                <a:ea typeface="Source Han Sans SC"/>
              </a:rPr>
              <a:t>单日最低命中率</a:t>
            </a:r>
            <a:endParaRPr lang="zh-CN" sz="865">
              <a:solidFill>
                <a:srgbClr val="64748B"/>
              </a:solidFill>
              <a:latin typeface="Source Han Sans SC"/>
              <a:ea typeface="Source Han Sans SC"/>
            </a:endParaRPr>
          </a:p>
        </p:txBody>
      </p:sp>
      <p:sp>
        <p:nvSpPr>
          <p:cNvPr id="93" name="文本框 92" descr="{&quot;isTemplate&quot;:true,&quot;type&quot;:&quot;text&quot;}"/>
          <p:cNvSpPr txBox="1"/>
          <p:nvPr/>
        </p:nvSpPr>
        <p:spPr>
          <a:xfrm>
            <a:off x="9925050" y="5334000"/>
            <a:ext cx="1428750" cy="428625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865">
                <a:solidFill>
                  <a:srgbClr val="94A3B8"/>
                </a:solidFill>
                <a:latin typeface="Source Han Sans SC"/>
                <a:ea typeface="Source Han Sans SC"/>
              </a:rPr>
              <a:t>命中率日间波动极大，产品按「可能只有一两条」设计</a:t>
            </a:r>
            <a:endParaRPr lang="zh-CN" sz="865">
              <a:solidFill>
                <a:srgbClr val="94A3B8"/>
              </a:solidFill>
              <a:latin typeface="Source Han Sans SC"/>
              <a:ea typeface="Source Han Sans SC"/>
            </a:endParaRPr>
          </a:p>
        </p:txBody>
      </p:sp>
      <p:sp>
        <p:nvSpPr>
          <p:cNvPr id="94" name="圆角矩形 93"/>
          <p:cNvSpPr/>
          <p:nvPr/>
        </p:nvSpPr>
        <p:spPr>
          <a:xfrm>
            <a:off x="609600" y="6305550"/>
            <a:ext cx="95250" cy="95250"/>
          </a:xfrm>
          <a:prstGeom prst="roundRect">
            <a:avLst>
              <a:gd name="adj" fmla="val 20000"/>
            </a:avLst>
          </a:prstGeom>
          <a:gradFill>
            <a:gsLst>
              <a:gs pos="0">
                <a:srgbClr val="3B82F6"/>
              </a:gs>
              <a:gs pos="100000">
                <a:srgbClr val="06B6D4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95" name="文本框 94" descr="{&quot;isTemplate&quot;:true,&quot;type&quot;:&quot;text&quot;}"/>
          <p:cNvSpPr txBox="1"/>
          <p:nvPr/>
        </p:nvSpPr>
        <p:spPr>
          <a:xfrm>
            <a:off x="781050" y="6267450"/>
            <a:ext cx="20193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94A3B8"/>
                </a:solidFill>
                <a:latin typeface="Source Han Sans SC"/>
                <a:ea typeface="Source Han Sans SC"/>
              </a:rPr>
              <a:t>AI </a:t>
            </a:r>
            <a:r>
              <a:rPr lang="zh-CN" sz="1050">
                <a:solidFill>
                  <a:srgbClr val="94A3B8"/>
                </a:solidFill>
                <a:latin typeface="Source Han Sans SC"/>
                <a:ea typeface="Source Han Sans SC"/>
              </a:rPr>
              <a:t>自媒体内容创作助手</a:t>
            </a:r>
            <a:r>
              <a:rPr lang="en-US" sz="1050">
                <a:solidFill>
                  <a:srgbClr val="94A3B8"/>
                </a:solidFill>
                <a:latin typeface="Source Han Sans SC"/>
                <a:ea typeface="Source Han Sans SC"/>
              </a:rPr>
              <a:t> · </a:t>
            </a:r>
            <a:r>
              <a:rPr lang="zh-CN" sz="1050">
                <a:solidFill>
                  <a:srgbClr val="94A3B8"/>
                </a:solidFill>
                <a:latin typeface="Source Han Sans SC"/>
                <a:ea typeface="Source Han Sans SC"/>
              </a:rPr>
              <a:t>项目汇报</a:t>
            </a:r>
            <a:endParaRPr lang="zh-CN" sz="1050">
              <a:solidFill>
                <a:srgbClr val="94A3B8"/>
              </a:solidFill>
              <a:latin typeface="Source Han Sans SC"/>
              <a:ea typeface="Source Han Sans SC"/>
            </a:endParaRPr>
          </a:p>
        </p:txBody>
      </p:sp>
      <p:sp>
        <p:nvSpPr>
          <p:cNvPr id="96" name="文本框 95" descr="{&quot;isTemplate&quot;:true,&quot;type&quot;:&quot;text&quot;}"/>
          <p:cNvSpPr txBox="1"/>
          <p:nvPr/>
        </p:nvSpPr>
        <p:spPr>
          <a:xfrm>
            <a:off x="11125200" y="6267450"/>
            <a:ext cx="4572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94A3B8"/>
                </a:solidFill>
                <a:latin typeface="Source Han Sans SC"/>
                <a:ea typeface="Source Han Sans SC"/>
              </a:rPr>
              <a:t>12 / 14</a:t>
            </a:r>
            <a:endParaRPr lang="en-US" sz="1050">
              <a:solidFill>
                <a:srgbClr val="94A3B8"/>
              </a:solidFill>
              <a:latin typeface="Source Han Sans SC"/>
              <a:ea typeface="Source Han Sans SC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97" name="" descr="&lt;Slide style={{ width: 1280, height: 720, padding: '20px 64px', fontFamily: '&quot;Source Han Sans SC&quot;, &quot;Noto Sans SC&quot;, &quot;PingFang SC&quot;, &quot;Microsoft YaHei&quot;, sans-serif', background: '#F8FAFC' }}&gt;&#10;  &lt;Box style={{ height: 100, justifyContent: 'center' }}&gt;&#10;    &lt;Box style={{ flexDirection: 'row', alignItems: 'center', gap: 16 }}&gt;&#10;      &lt;Box style={{ width: 6, height: 34, background: 'linear-gradient(135deg, #3B82F6 0%, #06B6D4 100%)', borderRadius: 3 }} /&gt;&#10;      &lt;Box&gt;&#10;        &lt;Text style={{ fontSize: 34, fontWeight: 'bold', color: '#0F172A' }}&gt;五个真实难点与下一步&lt;/Text&gt;&#10;        &lt;Text style={{ fontSize: 18, color: '#64748B', marginTop: 4 }}&gt;每条都写成「难点 — 根因 — 修复与证据」，能验证的才写进来&lt;/Text&gt;&#10;      &lt;/Box&gt;&#10;    &lt;/Box&gt;&#10;  &lt;/Box&gt;&#10;&#10;  &lt;Box style={{ height: 26, flexDirection: 'row', alignItems: 'center', gap: 14, paddingLeft: 4 }}&gt;&#10;    &lt;Text style={{ fontSize: 11.5, color: '#94A3B8', letterSpacing: 1, width: 42 }}&gt;序&lt;/Text&gt;&#10;    &lt;Text style={{ fontSize: 11.5, color: '#94A3B8', letterSpacing: 1, width: 206 }}&gt;难点&lt;/Text&gt;&#10;    &lt;Text style={{ fontSize: 11.5, color: '#94A3B8', letterSpacing: 1, width: 292 }}&gt;根因&lt;/Text&gt;&#10;    &lt;Text style={{ fontSize: 11.5, color: '#94A3B8', letterSpacing: 1 }}&gt;修复与验证证据&lt;/Text&gt;&#10;  &lt;/Box&gt;&#10;&#10;  &lt;Box style={{ flexDirection: 'column', gap: 6, height: 334 }}&gt;&#10;    &lt;Box style={{ flex: 1, flexDirection: 'row', alignItems: 'center', gap: 14, background: '#FFFFFF', border: '1px solid #E2E8F0', borderRadius: 10, padding: '0 16px' }}&gt;&#10;      &lt;Text style={{ fontSize: 13, fontWeight: 'bold', color: '#3B82F6', width: 42 }}&gt;01&lt;/Text&gt;&#10;      &lt;Text style={{ fontSize: 13.5, fontWeight: 'bold', color: '#0F172A', width: 206 }}&gt;领域词表三处各写一份&lt;/Text&gt;&#10;      &lt;Text style={{ fontSize: 12, color: '#64748B', width: 292, lineHeight: 1.6 }}&gt;前端下拉、人设默认、Mock 数据各自维护&lt;/Text&gt;&#10;      &lt;Text style={{ fontSize: 12, color: '#334155', flex: 1, lineHeight: 1.6 }}&gt;收敛为唯一领域常量，下拉与 Mock 自动派生；新增领域只改一处，五端同步&lt;/Text&gt;&#10;    &lt;/Box&gt;&#10;    &lt;Box style={{ flex: 1, flexDirection: 'row', alignItems: 'center', gap: 14, background: '#FFFFFF', border: '1px solid #E2E8F0', borderRadius: 10, padding: '0 16px' }}&gt;&#10;      &lt;Text style={{ fontSize: 13, fontWeight: 'bold', color: '#3B82F6', width: 42 }}&gt;02&lt;/Text&gt;&#10;      &lt;Text style={{ fontSize: 13.5, fontWeight: 'bold', color: '#0F172A', width: 206 }}&gt;索引陈旧，命中率掉到 0%&lt;/Text&gt;&#10;      &lt;Text style={{ fontSize: 12, color: '#64748B', width: 292, lineHeight: 1.6 }}&gt;索引与语料版本不匹配，程序仍加载旧索引&lt;/Text&gt;&#10;      &lt;Text style={{ fontSize: 12, color: '#334155', flex: 1, lineHeight: 1.6 }}&gt;建索引时记签名，启动校验不一致即自动重建，恢复后重回 100%&lt;/Text&gt;&#10;    &lt;/Box&gt;&#10;    &lt;Box style={{ flex: 1, flexDirection: 'row', alignItems: 'center', gap: 14, background: '#FFFFFF', border: '1px solid #E2E8F0', borderRadius: 10, padding: '0 16px' }}&gt;&#10;      &lt;Text style={{ fontSize: 13, fontWeight: 'bold', color: '#3B82F6', width: 42 }}&gt;03&lt;/Text&gt;&#10;      &lt;Text style={{ fontSize: 13.5, fontWeight: 'bold', color: '#0F172A', width: 206 }}&gt;评测口径与生产不一致&lt;/Text&gt;&#10;      &lt;Text style={{ fontSize: 12, color: '#64748B', width: 292, lineHeight: 1.6 }}&gt;评测脚本自建检索路径，分数虚高&lt;/Text&gt;&#10;      &lt;Text style={{ fontSize: 12, color: '#334155', flex: 1, lineHeight: 1.6 }}&gt;评测直接调用生产函数，同一代码路径出分，重跑后再无口径差异&lt;/Text&gt;&#10;    &lt;/Box&gt;&#10;    &lt;Box style={{ flex: 1, flexDirection: 'row', alignItems: 'center', gap: 14, background: '#FFFFFF', border: '1px solid #E2E8F0', borderRadius: 10, padding: '0 16px' }}&gt;&#10;      &lt;Text style={{ fontSize: 13, fontWeight: 'bold', color: '#3B82F6', width: 42 }}&gt;04&lt;/Text&gt;&#10;      &lt;Text style={{ fontSize: 13.5, fontWeight: 'bold', color: '#0F172A', width: 206 }}&gt;生成结果被截断后静默降级&lt;/Text&gt;&#10;      &lt;Text style={{ fontSize: 12, color: '#64748B', width: 292, lineHeight: 1.6 }}&gt;超输出上限被截成非法结构，兜底吞掉错误，接口仍返回成功&lt;/Text&gt;&#10;      &lt;Text style={{ fontSize: 12, color: '#334155', flex: 1, lineHeight: 1.6 }}&gt;提高上限 + 限制字段长度 + 抢救已完整对象；降级必留日志，不再无声无息&lt;/Text&gt;&#10;    &lt;/Box&gt;&#10;    &lt;Box style={{ flex: 1, flexDirection: 'row', alignItems: 'center', gap: 14, background: '#FFFFFF', border: '1px solid #E2E8F0', borderRadius: 10, padding: '0 16px' }}&gt;&#10;      &lt;Text style={{ fontSize: 13, fontWeight: 'bold', color: '#3B82F6', width: 42 }}&gt;05&lt;/Text&gt;&#10;      &lt;Text style={{ fontSize: 13.5, fontWeight: 'bold', color: '#0F172A', width: 206 }}&gt;时区错位与埋点口径灌水&lt;/Text&gt;&#10;      &lt;Text style={{ fontSize: 12, color: '#64748B', width: 292, lineHeight: 1.6 }}&gt;库默认时间为 UTC 致频控永不触发；曝光挂在查询接口上被二次请求重复计数&lt;/Text&gt;&#10;      &lt;Text style={{ fontSize: 12, color: '#334155', flex: 1, lineHeight: 1.6 }}&gt;显式写本地时间；曝光改到渲染完成后上报，并按内容去重&lt;/Text&gt;&#10;    &lt;/Box&gt;&#10;  &lt;/Box&gt;&#10;&#10;  &lt;Box style={{ height: 130, marginTop: 16, background: '#0F172A', borderRadius: 14, padding: '16px 22px', flexDirection: 'column' }}&gt;&#10;    &lt;Box style={{ flexDirection: 'row', alignItems: 'center', gap: 10 }}&gt;&#10;      &lt;Text style={{ fontSize: 15, fontWeight: 'bold', color: '#FFFFFF' }}&gt;下一步&lt;/Text&gt;&#10;      &lt;Text style={{ fontSize: 11.5, color: '#94A3B8' }}&gt;按优先级排列，不做无数据的优化&lt;/Text&gt;&#10;    &lt;/Box&gt;&#10;    &lt;Box style={{ flexDirection: 'row', gap: 12, marginTop: 12 }}&gt;&#10;      &lt;Box style={{ flex: 1, background: 'rgba(255,255,255,0.06)', border: '1px solid rgba(148,163,184,0.22)', borderRadius: 10, padding: '10px 14px' }}&gt;&#10;        &lt;Text style={{ fontSize: 12.5, color: '#67E8F9', fontWeight: 'bold' }}&gt;先攒两周真实数据&lt;/Text&gt;&#10;        &lt;Text style={{ fontSize: 11.5, color: '#CBD5E1', marginTop: 4, lineHeight: 1.6 }}&gt;指标面板随后再做，样本不足时调权重等于掷骰子&lt;/Text&gt;&#10;      &lt;/Box&gt;&#10;      &lt;Box style={{ flex: 1, background: 'rgba(255,255,255,0.06)', border: '1px solid rgba(148,163,184,0.22)', borderRadius: 10, padding: '10px 14px' }}&gt;&#10;        &lt;Text style={{ fontSize: 12.5, color: '#67E8F9', fontWeight: 'bold' }}&gt;权重按周做 A/B&lt;/Text&gt;&#10;        &lt;Text style={{ fontSize: 11.5, color: '#CBD5E1', marginTop: 4, lineHeight: 1.6 }}&gt;有了 ctr 才有对照前提，改一档跑一周再比&lt;/Text&gt;&#10;      &lt;/Box&gt;&#10;      &lt;Box style={{ flex: 1, background: 'rgba(255,255,255,0.06)', border: '1px solid rgba(148,163,184,0.22)', borderRadius: 10, padding: '10px 14px' }}&gt;&#10;        &lt;Text style={{ fontSize: 12.5, color: '#67E8F9', fontWeight: 'bold' }}&gt;检索与端侧补齐&lt;/Text&gt;&#10;        &lt;Text style={{ fontSize: 11.5, color: '#CBD5E1', marginTop: 4, lineHeight: 1.6 }}&gt;BGE 向量权重接入，移动端交互专项优化&lt;/Text&gt;&#10;      &lt;/Box&gt;&#10;    &lt;/Box&gt;&#10;  &lt;/Box&gt;&#10;&#10;  &lt;Box style={{ height: 60, flexDirection: 'row', justifyContent: 'space-between', alignItems: 'center' }}&gt;&#10;    &lt;Box style={{ flexDirection: 'row', alignItems: 'center', gap: 8 }}&gt;&#10;      &lt;Box style={{ width: 10, height: 10, borderRadius: 2, background: 'linear-gradient(135deg, #3B82F6, #06B6D4)' }} /&gt;&#10;      &lt;Text style={{ fontSize: 14, color: '#94A3B8' }}&gt;AI 自媒体内容创作助手 · 项目汇报&lt;/Text&gt;&#10;    &lt;/Box&gt;&#10;    &lt;Text style={{ fontSize: 14, color: '#94A3B8' }}&gt;13 / 14&lt;/Text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矩形 97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</p:spPr>
        <p:txBody>
          <a:bodyPr/>
          <a:p/>
        </p:txBody>
      </p:sp>
      <p:sp>
        <p:nvSpPr>
          <p:cNvPr id="99" name="圆角矩形 98"/>
          <p:cNvSpPr/>
          <p:nvPr/>
        </p:nvSpPr>
        <p:spPr>
          <a:xfrm>
            <a:off x="609600" y="514350"/>
            <a:ext cx="57150" cy="32385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3B82F6"/>
              </a:gs>
              <a:gs pos="100000">
                <a:srgbClr val="06B6D4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100" name="文本框 99" descr="{&quot;isTemplate&quot;:true,&quot;type&quot;:&quot;text&quot;}"/>
          <p:cNvSpPr txBox="1"/>
          <p:nvPr/>
        </p:nvSpPr>
        <p:spPr>
          <a:xfrm>
            <a:off x="819150" y="352425"/>
            <a:ext cx="4867275" cy="3905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0F172A"/>
                </a:solidFill>
                <a:latin typeface="Source Han Sans SC"/>
                <a:ea typeface="Source Han Sans SC"/>
              </a:rPr>
              <a:t>五个真实难点与下一步</a:t>
            </a:r>
            <a:endParaRPr lang="zh-CN" sz="2550" b="1">
              <a:solidFill>
                <a:srgbClr val="0F172A"/>
              </a:solidFill>
              <a:latin typeface="Source Han Sans SC"/>
              <a:ea typeface="Source Han Sans SC"/>
            </a:endParaRPr>
          </a:p>
        </p:txBody>
      </p:sp>
      <p:sp>
        <p:nvSpPr>
          <p:cNvPr id="101" name="文本框 100" descr="{&quot;isTemplate&quot;:true,&quot;type&quot;:&quot;text&quot;}"/>
          <p:cNvSpPr txBox="1"/>
          <p:nvPr/>
        </p:nvSpPr>
        <p:spPr>
          <a:xfrm>
            <a:off x="819150" y="781050"/>
            <a:ext cx="4867275" cy="2095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64748B"/>
                </a:solidFill>
                <a:latin typeface="Source Han Sans SC"/>
                <a:ea typeface="Source Han Sans SC"/>
              </a:rPr>
              <a:t>每条都写成「难点</a:t>
            </a:r>
            <a:r>
              <a:rPr lang="en-US" sz="1350">
                <a:solidFill>
                  <a:srgbClr val="64748B"/>
                </a:solidFill>
                <a:latin typeface="Source Han Sans SC"/>
                <a:ea typeface="Source Han Sans SC"/>
              </a:rPr>
              <a:t> — </a:t>
            </a:r>
            <a:r>
              <a:rPr lang="zh-CN" sz="1350">
                <a:solidFill>
                  <a:srgbClr val="64748B"/>
                </a:solidFill>
                <a:latin typeface="Source Han Sans SC"/>
                <a:ea typeface="Source Han Sans SC"/>
              </a:rPr>
              <a:t>根因</a:t>
            </a:r>
            <a:r>
              <a:rPr lang="en-US" sz="1350">
                <a:solidFill>
                  <a:srgbClr val="64748B"/>
                </a:solidFill>
                <a:latin typeface="Source Han Sans SC"/>
                <a:ea typeface="Source Han Sans SC"/>
              </a:rPr>
              <a:t> — </a:t>
            </a:r>
            <a:r>
              <a:rPr lang="zh-CN" sz="1350">
                <a:solidFill>
                  <a:srgbClr val="64748B"/>
                </a:solidFill>
                <a:latin typeface="Source Han Sans SC"/>
                <a:ea typeface="Source Han Sans SC"/>
              </a:rPr>
              <a:t>修复与证据」，能验证的才写进来</a:t>
            </a:r>
            <a:endParaRPr lang="zh-CN" sz="1350">
              <a:solidFill>
                <a:srgbClr val="64748B"/>
              </a:solidFill>
              <a:latin typeface="Source Han Sans SC"/>
              <a:ea typeface="Source Han Sans SC"/>
            </a:endParaRPr>
          </a:p>
        </p:txBody>
      </p:sp>
      <p:sp>
        <p:nvSpPr>
          <p:cNvPr id="102" name="文本框 101" descr="{&quot;isTemplate&quot;:true,&quot;type&quot;:&quot;text&quot;}"/>
          <p:cNvSpPr txBox="1"/>
          <p:nvPr/>
        </p:nvSpPr>
        <p:spPr>
          <a:xfrm>
            <a:off x="647700" y="1200150"/>
            <a:ext cx="400050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865" spc="75">
                <a:solidFill>
                  <a:srgbClr val="94A3B8"/>
                </a:solidFill>
                <a:latin typeface="Source Han Sans SC"/>
                <a:ea typeface="Source Han Sans SC"/>
              </a:rPr>
              <a:t>序</a:t>
            </a:r>
            <a:endParaRPr lang="zh-CN" sz="865" spc="75">
              <a:solidFill>
                <a:srgbClr val="94A3B8"/>
              </a:solidFill>
              <a:latin typeface="Source Han Sans SC"/>
              <a:ea typeface="Source Han Sans SC"/>
            </a:endParaRPr>
          </a:p>
        </p:txBody>
      </p:sp>
      <p:sp>
        <p:nvSpPr>
          <p:cNvPr id="103" name="文本框 102" descr="{&quot;isTemplate&quot;:true,&quot;type&quot;:&quot;text&quot;}"/>
          <p:cNvSpPr txBox="1"/>
          <p:nvPr/>
        </p:nvSpPr>
        <p:spPr>
          <a:xfrm>
            <a:off x="1181100" y="1200150"/>
            <a:ext cx="1962150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865" spc="75">
                <a:solidFill>
                  <a:srgbClr val="94A3B8"/>
                </a:solidFill>
                <a:latin typeface="Source Han Sans SC"/>
                <a:ea typeface="Source Han Sans SC"/>
              </a:rPr>
              <a:t>难点</a:t>
            </a:r>
            <a:endParaRPr lang="zh-CN" sz="865" spc="75">
              <a:solidFill>
                <a:srgbClr val="94A3B8"/>
              </a:solidFill>
              <a:latin typeface="Source Han Sans SC"/>
              <a:ea typeface="Source Han Sans SC"/>
            </a:endParaRPr>
          </a:p>
        </p:txBody>
      </p:sp>
      <p:sp>
        <p:nvSpPr>
          <p:cNvPr id="104" name="文本框 103" descr="{&quot;isTemplate&quot;:true,&quot;type&quot;:&quot;text&quot;}"/>
          <p:cNvSpPr txBox="1"/>
          <p:nvPr/>
        </p:nvSpPr>
        <p:spPr>
          <a:xfrm>
            <a:off x="3276600" y="1200150"/>
            <a:ext cx="2781300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865" spc="75">
                <a:solidFill>
                  <a:srgbClr val="94A3B8"/>
                </a:solidFill>
                <a:latin typeface="Source Han Sans SC"/>
                <a:ea typeface="Source Han Sans SC"/>
              </a:rPr>
              <a:t>根因</a:t>
            </a:r>
            <a:endParaRPr lang="zh-CN" sz="865" spc="75">
              <a:solidFill>
                <a:srgbClr val="94A3B8"/>
              </a:solidFill>
              <a:latin typeface="Source Han Sans SC"/>
              <a:ea typeface="Source Han Sans SC"/>
            </a:endParaRPr>
          </a:p>
        </p:txBody>
      </p:sp>
      <p:sp>
        <p:nvSpPr>
          <p:cNvPr id="105" name="文本框 104" descr="{&quot;isTemplate&quot;:true,&quot;type&quot;:&quot;text&quot;}"/>
          <p:cNvSpPr txBox="1"/>
          <p:nvPr/>
        </p:nvSpPr>
        <p:spPr>
          <a:xfrm>
            <a:off x="6191250" y="1200150"/>
            <a:ext cx="838200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865" spc="75">
                <a:solidFill>
                  <a:srgbClr val="94A3B8"/>
                </a:solidFill>
                <a:latin typeface="Source Han Sans SC"/>
                <a:ea typeface="Source Han Sans SC"/>
              </a:rPr>
              <a:t>修复与验证证据</a:t>
            </a:r>
            <a:endParaRPr lang="zh-CN" sz="865" spc="75">
              <a:solidFill>
                <a:srgbClr val="94A3B8"/>
              </a:solidFill>
              <a:latin typeface="Source Han Sans SC"/>
              <a:ea typeface="Source Han Sans SC"/>
            </a:endParaRPr>
          </a:p>
        </p:txBody>
      </p:sp>
      <p:sp>
        <p:nvSpPr>
          <p:cNvPr id="106" name="圆角矩形 105"/>
          <p:cNvSpPr/>
          <p:nvPr/>
        </p:nvSpPr>
        <p:spPr>
          <a:xfrm>
            <a:off x="609600" y="1390650"/>
            <a:ext cx="10972800" cy="504825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07" name="文本框 106" descr="{&quot;isTemplate&quot;:true,&quot;type&quot;:&quot;text&quot;}"/>
          <p:cNvSpPr txBox="1"/>
          <p:nvPr/>
        </p:nvSpPr>
        <p:spPr>
          <a:xfrm>
            <a:off x="762000" y="1571625"/>
            <a:ext cx="400050" cy="1524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3B82F6"/>
                </a:solidFill>
                <a:latin typeface="Source Han Sans SC"/>
                <a:ea typeface="Source Han Sans SC"/>
              </a:rPr>
              <a:t>01</a:t>
            </a:r>
            <a:endParaRPr lang="en-US" sz="975" b="1">
              <a:solidFill>
                <a:srgbClr val="3B82F6"/>
              </a:solidFill>
              <a:latin typeface="Source Han Sans SC"/>
              <a:ea typeface="Source Han Sans SC"/>
            </a:endParaRPr>
          </a:p>
        </p:txBody>
      </p:sp>
      <p:sp>
        <p:nvSpPr>
          <p:cNvPr id="108" name="文本框 107" descr="{&quot;isTemplate&quot;:true,&quot;type&quot;:&quot;text&quot;}"/>
          <p:cNvSpPr txBox="1"/>
          <p:nvPr/>
        </p:nvSpPr>
        <p:spPr>
          <a:xfrm>
            <a:off x="1295400" y="1562100"/>
            <a:ext cx="196215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5" b="1">
                <a:solidFill>
                  <a:srgbClr val="0F172A"/>
                </a:solidFill>
                <a:latin typeface="Source Han Sans SC"/>
                <a:ea typeface="Source Han Sans SC"/>
              </a:rPr>
              <a:t>领域词表三处各写一份</a:t>
            </a:r>
            <a:endParaRPr lang="zh-CN" sz="1015" b="1">
              <a:solidFill>
                <a:srgbClr val="0F172A"/>
              </a:solidFill>
              <a:latin typeface="Source Han Sans SC"/>
              <a:ea typeface="Source Han Sans SC"/>
            </a:endParaRPr>
          </a:p>
        </p:txBody>
      </p:sp>
      <p:sp>
        <p:nvSpPr>
          <p:cNvPr id="109" name="文本框 108" descr="{&quot;isTemplate&quot;:true,&quot;type&quot;:&quot;text&quot;}"/>
          <p:cNvSpPr txBox="1"/>
          <p:nvPr/>
        </p:nvSpPr>
        <p:spPr>
          <a:xfrm>
            <a:off x="3390900" y="1533525"/>
            <a:ext cx="2781300" cy="2286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900">
                <a:solidFill>
                  <a:srgbClr val="64748B"/>
                </a:solidFill>
                <a:latin typeface="Source Han Sans SC"/>
                <a:ea typeface="Source Han Sans SC"/>
              </a:rPr>
              <a:t>前端下拉、人设默认、</a:t>
            </a:r>
            <a:r>
              <a:rPr lang="en-US" sz="900">
                <a:solidFill>
                  <a:srgbClr val="64748B"/>
                </a:solidFill>
                <a:latin typeface="Source Han Sans SC"/>
                <a:ea typeface="Source Han Sans SC"/>
              </a:rPr>
              <a:t>Mock </a:t>
            </a:r>
            <a:r>
              <a:rPr lang="zh-CN" sz="900">
                <a:solidFill>
                  <a:srgbClr val="64748B"/>
                </a:solidFill>
                <a:latin typeface="Source Han Sans SC"/>
                <a:ea typeface="Source Han Sans SC"/>
              </a:rPr>
              <a:t>数据各自维护</a:t>
            </a:r>
            <a:endParaRPr lang="zh-CN" sz="900">
              <a:solidFill>
                <a:srgbClr val="64748B"/>
              </a:solidFill>
              <a:latin typeface="Source Han Sans SC"/>
              <a:ea typeface="Source Han Sans SC"/>
            </a:endParaRPr>
          </a:p>
        </p:txBody>
      </p:sp>
      <p:sp>
        <p:nvSpPr>
          <p:cNvPr id="110" name="文本框 109" descr="{&quot;isTemplate&quot;:true,&quot;type&quot;:&quot;text&quot;}"/>
          <p:cNvSpPr txBox="1"/>
          <p:nvPr/>
        </p:nvSpPr>
        <p:spPr>
          <a:xfrm>
            <a:off x="6305550" y="1533525"/>
            <a:ext cx="5124450" cy="2286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900">
                <a:solidFill>
                  <a:srgbClr val="334155"/>
                </a:solidFill>
                <a:latin typeface="Source Han Sans SC"/>
                <a:ea typeface="Source Han Sans SC"/>
              </a:rPr>
              <a:t>收敛为唯一领域常量，下拉与</a:t>
            </a:r>
            <a:r>
              <a:rPr lang="en-US" sz="900">
                <a:solidFill>
                  <a:srgbClr val="334155"/>
                </a:solidFill>
                <a:latin typeface="Source Han Sans SC"/>
                <a:ea typeface="Source Han Sans SC"/>
              </a:rPr>
              <a:t> Mock </a:t>
            </a:r>
            <a:r>
              <a:rPr lang="zh-CN" sz="900">
                <a:solidFill>
                  <a:srgbClr val="334155"/>
                </a:solidFill>
                <a:latin typeface="Source Han Sans SC"/>
                <a:ea typeface="Source Han Sans SC"/>
              </a:rPr>
              <a:t>自动派生；新增领域只改一处，五端同步</a:t>
            </a:r>
            <a:endParaRPr lang="zh-CN" sz="900">
              <a:solidFill>
                <a:srgbClr val="334155"/>
              </a:solidFill>
              <a:latin typeface="Source Han Sans SC"/>
              <a:ea typeface="Source Han Sans SC"/>
            </a:endParaRPr>
          </a:p>
        </p:txBody>
      </p:sp>
      <p:sp>
        <p:nvSpPr>
          <p:cNvPr id="111" name="圆角矩形 110"/>
          <p:cNvSpPr/>
          <p:nvPr/>
        </p:nvSpPr>
        <p:spPr>
          <a:xfrm>
            <a:off x="609600" y="1952625"/>
            <a:ext cx="10972800" cy="504825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12" name="文本框 111" descr="{&quot;isTemplate&quot;:true,&quot;type&quot;:&quot;text&quot;}"/>
          <p:cNvSpPr txBox="1"/>
          <p:nvPr/>
        </p:nvSpPr>
        <p:spPr>
          <a:xfrm>
            <a:off x="762000" y="2133600"/>
            <a:ext cx="400050" cy="1524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3B82F6"/>
                </a:solidFill>
                <a:latin typeface="Source Han Sans SC"/>
                <a:ea typeface="Source Han Sans SC"/>
              </a:rPr>
              <a:t>02</a:t>
            </a:r>
            <a:endParaRPr lang="en-US" sz="975" b="1">
              <a:solidFill>
                <a:srgbClr val="3B82F6"/>
              </a:solidFill>
              <a:latin typeface="Source Han Sans SC"/>
              <a:ea typeface="Source Han Sans SC"/>
            </a:endParaRPr>
          </a:p>
        </p:txBody>
      </p:sp>
      <p:sp>
        <p:nvSpPr>
          <p:cNvPr id="113" name="文本框 112" descr="{&quot;isTemplate&quot;:true,&quot;type&quot;:&quot;text&quot;}"/>
          <p:cNvSpPr txBox="1"/>
          <p:nvPr/>
        </p:nvSpPr>
        <p:spPr>
          <a:xfrm>
            <a:off x="1295400" y="2124075"/>
            <a:ext cx="196215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5" b="1">
                <a:solidFill>
                  <a:srgbClr val="0F172A"/>
                </a:solidFill>
                <a:latin typeface="Source Han Sans SC"/>
                <a:ea typeface="Source Han Sans SC"/>
              </a:rPr>
              <a:t>索引陈旧，命中率掉到</a:t>
            </a:r>
            <a:r>
              <a:rPr lang="en-US" sz="1015" b="1">
                <a:solidFill>
                  <a:srgbClr val="0F172A"/>
                </a:solidFill>
                <a:latin typeface="Source Han Sans SC"/>
                <a:ea typeface="Source Han Sans SC"/>
              </a:rPr>
              <a:t> 0%</a:t>
            </a:r>
            <a:endParaRPr lang="en-US" sz="1015" b="1">
              <a:solidFill>
                <a:srgbClr val="0F172A"/>
              </a:solidFill>
              <a:latin typeface="Source Han Sans SC"/>
              <a:ea typeface="Source Han Sans SC"/>
            </a:endParaRPr>
          </a:p>
        </p:txBody>
      </p:sp>
      <p:sp>
        <p:nvSpPr>
          <p:cNvPr id="114" name="文本框 113" descr="{&quot;isTemplate&quot;:true,&quot;type&quot;:&quot;text&quot;}"/>
          <p:cNvSpPr txBox="1"/>
          <p:nvPr/>
        </p:nvSpPr>
        <p:spPr>
          <a:xfrm>
            <a:off x="3390900" y="2095500"/>
            <a:ext cx="2781300" cy="2286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900">
                <a:solidFill>
                  <a:srgbClr val="64748B"/>
                </a:solidFill>
                <a:latin typeface="Source Han Sans SC"/>
                <a:ea typeface="Source Han Sans SC"/>
              </a:rPr>
              <a:t>索引与语料版本不匹配，程序仍加载旧索引</a:t>
            </a:r>
            <a:endParaRPr lang="zh-CN" sz="900">
              <a:solidFill>
                <a:srgbClr val="64748B"/>
              </a:solidFill>
              <a:latin typeface="Source Han Sans SC"/>
              <a:ea typeface="Source Han Sans SC"/>
            </a:endParaRPr>
          </a:p>
        </p:txBody>
      </p:sp>
      <p:sp>
        <p:nvSpPr>
          <p:cNvPr id="115" name="文本框 114" descr="{&quot;isTemplate&quot;:true,&quot;type&quot;:&quot;text&quot;}"/>
          <p:cNvSpPr txBox="1"/>
          <p:nvPr/>
        </p:nvSpPr>
        <p:spPr>
          <a:xfrm>
            <a:off x="6305550" y="2095500"/>
            <a:ext cx="5124450" cy="2286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900">
                <a:solidFill>
                  <a:srgbClr val="334155"/>
                </a:solidFill>
                <a:latin typeface="Source Han Sans SC"/>
                <a:ea typeface="Source Han Sans SC"/>
              </a:rPr>
              <a:t>建索引时记签名，启动校验不一致即自动重建，恢复后重回</a:t>
            </a:r>
            <a:r>
              <a:rPr lang="en-US" sz="900">
                <a:solidFill>
                  <a:srgbClr val="334155"/>
                </a:solidFill>
                <a:latin typeface="Source Han Sans SC"/>
                <a:ea typeface="Source Han Sans SC"/>
              </a:rPr>
              <a:t> 100%</a:t>
            </a:r>
            <a:endParaRPr lang="en-US" sz="900">
              <a:solidFill>
                <a:srgbClr val="334155"/>
              </a:solidFill>
              <a:latin typeface="Source Han Sans SC"/>
              <a:ea typeface="Source Han Sans SC"/>
            </a:endParaRPr>
          </a:p>
        </p:txBody>
      </p:sp>
      <p:sp>
        <p:nvSpPr>
          <p:cNvPr id="116" name="圆角矩形 115"/>
          <p:cNvSpPr/>
          <p:nvPr/>
        </p:nvSpPr>
        <p:spPr>
          <a:xfrm>
            <a:off x="609600" y="2514600"/>
            <a:ext cx="10972800" cy="495300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17" name="文本框 116" descr="{&quot;isTemplate&quot;:true,&quot;type&quot;:&quot;text&quot;}"/>
          <p:cNvSpPr txBox="1"/>
          <p:nvPr/>
        </p:nvSpPr>
        <p:spPr>
          <a:xfrm>
            <a:off x="762000" y="2686050"/>
            <a:ext cx="400050" cy="1524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3B82F6"/>
                </a:solidFill>
                <a:latin typeface="Source Han Sans SC"/>
                <a:ea typeface="Source Han Sans SC"/>
              </a:rPr>
              <a:t>03</a:t>
            </a:r>
            <a:endParaRPr lang="en-US" sz="975" b="1">
              <a:solidFill>
                <a:srgbClr val="3B82F6"/>
              </a:solidFill>
              <a:latin typeface="Source Han Sans SC"/>
              <a:ea typeface="Source Han Sans SC"/>
            </a:endParaRPr>
          </a:p>
        </p:txBody>
      </p:sp>
      <p:sp>
        <p:nvSpPr>
          <p:cNvPr id="118" name="文本框 117" descr="{&quot;isTemplate&quot;:true,&quot;type&quot;:&quot;text&quot;}"/>
          <p:cNvSpPr txBox="1"/>
          <p:nvPr/>
        </p:nvSpPr>
        <p:spPr>
          <a:xfrm>
            <a:off x="1295400" y="2686050"/>
            <a:ext cx="196215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5" b="1">
                <a:solidFill>
                  <a:srgbClr val="0F172A"/>
                </a:solidFill>
                <a:latin typeface="Source Han Sans SC"/>
                <a:ea typeface="Source Han Sans SC"/>
              </a:rPr>
              <a:t>评测口径与生产不一致</a:t>
            </a:r>
            <a:endParaRPr lang="zh-CN" sz="1015" b="1">
              <a:solidFill>
                <a:srgbClr val="0F172A"/>
              </a:solidFill>
              <a:latin typeface="Source Han Sans SC"/>
              <a:ea typeface="Source Han Sans SC"/>
            </a:endParaRPr>
          </a:p>
        </p:txBody>
      </p:sp>
      <p:sp>
        <p:nvSpPr>
          <p:cNvPr id="119" name="文本框 118" descr="{&quot;isTemplate&quot;:true,&quot;type&quot;:&quot;text&quot;}"/>
          <p:cNvSpPr txBox="1"/>
          <p:nvPr/>
        </p:nvSpPr>
        <p:spPr>
          <a:xfrm>
            <a:off x="3390900" y="2647950"/>
            <a:ext cx="2781300" cy="2286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900">
                <a:solidFill>
                  <a:srgbClr val="64748B"/>
                </a:solidFill>
                <a:latin typeface="Source Han Sans SC"/>
                <a:ea typeface="Source Han Sans SC"/>
              </a:rPr>
              <a:t>评测脚本自建检索路径，分数虚高</a:t>
            </a:r>
            <a:endParaRPr lang="zh-CN" sz="900">
              <a:solidFill>
                <a:srgbClr val="64748B"/>
              </a:solidFill>
              <a:latin typeface="Source Han Sans SC"/>
              <a:ea typeface="Source Han Sans SC"/>
            </a:endParaRPr>
          </a:p>
        </p:txBody>
      </p:sp>
      <p:sp>
        <p:nvSpPr>
          <p:cNvPr id="120" name="文本框 119" descr="{&quot;isTemplate&quot;:true,&quot;type&quot;:&quot;text&quot;}"/>
          <p:cNvSpPr txBox="1"/>
          <p:nvPr/>
        </p:nvSpPr>
        <p:spPr>
          <a:xfrm>
            <a:off x="6305550" y="2647950"/>
            <a:ext cx="5124450" cy="2286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900">
                <a:solidFill>
                  <a:srgbClr val="334155"/>
                </a:solidFill>
                <a:latin typeface="Source Han Sans SC"/>
                <a:ea typeface="Source Han Sans SC"/>
              </a:rPr>
              <a:t>评测直接调用生产函数，同一代码路径出分，重跑后再无口径差异</a:t>
            </a:r>
            <a:endParaRPr lang="zh-CN" sz="900">
              <a:solidFill>
                <a:srgbClr val="334155"/>
              </a:solidFill>
              <a:latin typeface="Source Han Sans SC"/>
              <a:ea typeface="Source Han Sans SC"/>
            </a:endParaRPr>
          </a:p>
        </p:txBody>
      </p:sp>
      <p:sp>
        <p:nvSpPr>
          <p:cNvPr id="121" name="圆角矩形 120"/>
          <p:cNvSpPr/>
          <p:nvPr/>
        </p:nvSpPr>
        <p:spPr>
          <a:xfrm>
            <a:off x="609600" y="3067050"/>
            <a:ext cx="10972800" cy="723900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22" name="文本框 121" descr="{&quot;isTemplate&quot;:true,&quot;type&quot;:&quot;text&quot;}"/>
          <p:cNvSpPr txBox="1"/>
          <p:nvPr/>
        </p:nvSpPr>
        <p:spPr>
          <a:xfrm>
            <a:off x="762000" y="3352800"/>
            <a:ext cx="400050" cy="1524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3B82F6"/>
                </a:solidFill>
                <a:latin typeface="Source Han Sans SC"/>
                <a:ea typeface="Source Han Sans SC"/>
              </a:rPr>
              <a:t>04</a:t>
            </a:r>
            <a:endParaRPr lang="en-US" sz="975" b="1">
              <a:solidFill>
                <a:srgbClr val="3B82F6"/>
              </a:solidFill>
              <a:latin typeface="Source Han Sans SC"/>
              <a:ea typeface="Source Han Sans SC"/>
            </a:endParaRPr>
          </a:p>
        </p:txBody>
      </p:sp>
      <p:sp>
        <p:nvSpPr>
          <p:cNvPr id="123" name="文本框 122" descr="{&quot;isTemplate&quot;:true,&quot;type&quot;:&quot;text&quot;}"/>
          <p:cNvSpPr txBox="1"/>
          <p:nvPr/>
        </p:nvSpPr>
        <p:spPr>
          <a:xfrm>
            <a:off x="1295400" y="3352800"/>
            <a:ext cx="196215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5" b="1">
                <a:solidFill>
                  <a:srgbClr val="0F172A"/>
                </a:solidFill>
                <a:latin typeface="Source Han Sans SC"/>
                <a:ea typeface="Source Han Sans SC"/>
              </a:rPr>
              <a:t>生成结果被截断后静默降级</a:t>
            </a:r>
            <a:endParaRPr lang="zh-CN" sz="1015" b="1">
              <a:solidFill>
                <a:srgbClr val="0F172A"/>
              </a:solidFill>
              <a:latin typeface="Source Han Sans SC"/>
              <a:ea typeface="Source Han Sans SC"/>
            </a:endParaRPr>
          </a:p>
        </p:txBody>
      </p:sp>
      <p:sp>
        <p:nvSpPr>
          <p:cNvPr id="124" name="文本框 123" descr="{&quot;isTemplate&quot;:true,&quot;type&quot;:&quot;text&quot;}"/>
          <p:cNvSpPr txBox="1"/>
          <p:nvPr/>
        </p:nvSpPr>
        <p:spPr>
          <a:xfrm>
            <a:off x="3390900" y="3209925"/>
            <a:ext cx="2781300" cy="447675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900">
                <a:solidFill>
                  <a:srgbClr val="64748B"/>
                </a:solidFill>
                <a:latin typeface="Source Han Sans SC"/>
                <a:ea typeface="Source Han Sans SC"/>
              </a:rPr>
              <a:t>超输出上限被截成非法结构，兜底吞掉错误，接口仍返回成功</a:t>
            </a:r>
            <a:endParaRPr lang="zh-CN" sz="900">
              <a:solidFill>
                <a:srgbClr val="64748B"/>
              </a:solidFill>
              <a:latin typeface="Source Han Sans SC"/>
              <a:ea typeface="Source Han Sans SC"/>
            </a:endParaRPr>
          </a:p>
        </p:txBody>
      </p:sp>
      <p:sp>
        <p:nvSpPr>
          <p:cNvPr id="125" name="文本框 124" descr="{&quot;isTemplate&quot;:true,&quot;type&quot;:&quot;text&quot;}"/>
          <p:cNvSpPr txBox="1"/>
          <p:nvPr/>
        </p:nvSpPr>
        <p:spPr>
          <a:xfrm>
            <a:off x="6305550" y="3314700"/>
            <a:ext cx="5124450" cy="2286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900">
                <a:solidFill>
                  <a:srgbClr val="334155"/>
                </a:solidFill>
                <a:latin typeface="Source Han Sans SC"/>
                <a:ea typeface="Source Han Sans SC"/>
              </a:rPr>
              <a:t>提高上限</a:t>
            </a:r>
            <a:r>
              <a:rPr lang="en-US" sz="900">
                <a:solidFill>
                  <a:srgbClr val="334155"/>
                </a:solidFill>
                <a:latin typeface="Source Han Sans SC"/>
                <a:ea typeface="Source Han Sans SC"/>
              </a:rPr>
              <a:t> + </a:t>
            </a:r>
            <a:r>
              <a:rPr lang="zh-CN" sz="900">
                <a:solidFill>
                  <a:srgbClr val="334155"/>
                </a:solidFill>
                <a:latin typeface="Source Han Sans SC"/>
                <a:ea typeface="Source Han Sans SC"/>
              </a:rPr>
              <a:t>限制字段长度</a:t>
            </a:r>
            <a:r>
              <a:rPr lang="en-US" sz="900">
                <a:solidFill>
                  <a:srgbClr val="334155"/>
                </a:solidFill>
                <a:latin typeface="Source Han Sans SC"/>
                <a:ea typeface="Source Han Sans SC"/>
              </a:rPr>
              <a:t> + </a:t>
            </a:r>
            <a:r>
              <a:rPr lang="zh-CN" sz="900">
                <a:solidFill>
                  <a:srgbClr val="334155"/>
                </a:solidFill>
                <a:latin typeface="Source Han Sans SC"/>
                <a:ea typeface="Source Han Sans SC"/>
              </a:rPr>
              <a:t>抢救已完整对象；降级必留日志，不再无声无息</a:t>
            </a:r>
            <a:endParaRPr lang="zh-CN" sz="900">
              <a:solidFill>
                <a:srgbClr val="334155"/>
              </a:solidFill>
              <a:latin typeface="Source Han Sans SC"/>
              <a:ea typeface="Source Han Sans SC"/>
            </a:endParaRPr>
          </a:p>
        </p:txBody>
      </p:sp>
      <p:sp>
        <p:nvSpPr>
          <p:cNvPr id="126" name="圆角矩形 125"/>
          <p:cNvSpPr/>
          <p:nvPr/>
        </p:nvSpPr>
        <p:spPr>
          <a:xfrm>
            <a:off x="609600" y="3848100"/>
            <a:ext cx="10972800" cy="723900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27" name="文本框 126" descr="{&quot;isTemplate&quot;:true,&quot;type&quot;:&quot;text&quot;}"/>
          <p:cNvSpPr txBox="1"/>
          <p:nvPr/>
        </p:nvSpPr>
        <p:spPr>
          <a:xfrm>
            <a:off x="762000" y="4133850"/>
            <a:ext cx="400050" cy="1524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3B82F6"/>
                </a:solidFill>
                <a:latin typeface="Source Han Sans SC"/>
                <a:ea typeface="Source Han Sans SC"/>
              </a:rPr>
              <a:t>05</a:t>
            </a:r>
            <a:endParaRPr lang="en-US" sz="975" b="1">
              <a:solidFill>
                <a:srgbClr val="3B82F6"/>
              </a:solidFill>
              <a:latin typeface="Source Han Sans SC"/>
              <a:ea typeface="Source Han Sans SC"/>
            </a:endParaRPr>
          </a:p>
        </p:txBody>
      </p:sp>
      <p:sp>
        <p:nvSpPr>
          <p:cNvPr id="128" name="文本框 127" descr="{&quot;isTemplate&quot;:true,&quot;type&quot;:&quot;text&quot;}"/>
          <p:cNvSpPr txBox="1"/>
          <p:nvPr/>
        </p:nvSpPr>
        <p:spPr>
          <a:xfrm>
            <a:off x="1295400" y="4133850"/>
            <a:ext cx="196215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5" b="1">
                <a:solidFill>
                  <a:srgbClr val="0F172A"/>
                </a:solidFill>
                <a:latin typeface="Source Han Sans SC"/>
                <a:ea typeface="Source Han Sans SC"/>
              </a:rPr>
              <a:t>时区错位与埋点口径灌水</a:t>
            </a:r>
            <a:endParaRPr lang="zh-CN" sz="1015" b="1">
              <a:solidFill>
                <a:srgbClr val="0F172A"/>
              </a:solidFill>
              <a:latin typeface="Source Han Sans SC"/>
              <a:ea typeface="Source Han Sans SC"/>
            </a:endParaRPr>
          </a:p>
        </p:txBody>
      </p:sp>
      <p:sp>
        <p:nvSpPr>
          <p:cNvPr id="129" name="文本框 128" descr="{&quot;isTemplate&quot;:true,&quot;type&quot;:&quot;text&quot;}"/>
          <p:cNvSpPr txBox="1"/>
          <p:nvPr/>
        </p:nvSpPr>
        <p:spPr>
          <a:xfrm>
            <a:off x="3390900" y="3990975"/>
            <a:ext cx="2781300" cy="447675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900">
                <a:solidFill>
                  <a:srgbClr val="64748B"/>
                </a:solidFill>
                <a:latin typeface="Source Han Sans SC"/>
                <a:ea typeface="Source Han Sans SC"/>
              </a:rPr>
              <a:t>库默认时间为</a:t>
            </a:r>
            <a:r>
              <a:rPr lang="en-US" sz="900">
                <a:solidFill>
                  <a:srgbClr val="64748B"/>
                </a:solidFill>
                <a:latin typeface="Source Han Sans SC"/>
                <a:ea typeface="Source Han Sans SC"/>
              </a:rPr>
              <a:t> UTC </a:t>
            </a:r>
            <a:r>
              <a:rPr lang="zh-CN" sz="900">
                <a:solidFill>
                  <a:srgbClr val="64748B"/>
                </a:solidFill>
                <a:latin typeface="Source Han Sans SC"/>
                <a:ea typeface="Source Han Sans SC"/>
              </a:rPr>
              <a:t>致频控永不触发；曝光挂在查询接口上被二次请求重复计数</a:t>
            </a:r>
            <a:endParaRPr lang="zh-CN" sz="900">
              <a:solidFill>
                <a:srgbClr val="64748B"/>
              </a:solidFill>
              <a:latin typeface="Source Han Sans SC"/>
              <a:ea typeface="Source Han Sans SC"/>
            </a:endParaRPr>
          </a:p>
        </p:txBody>
      </p:sp>
      <p:sp>
        <p:nvSpPr>
          <p:cNvPr id="130" name="文本框 129" descr="{&quot;isTemplate&quot;:true,&quot;type&quot;:&quot;text&quot;}"/>
          <p:cNvSpPr txBox="1"/>
          <p:nvPr/>
        </p:nvSpPr>
        <p:spPr>
          <a:xfrm>
            <a:off x="6305550" y="4095750"/>
            <a:ext cx="5124450" cy="2286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900">
                <a:solidFill>
                  <a:srgbClr val="334155"/>
                </a:solidFill>
                <a:latin typeface="Source Han Sans SC"/>
                <a:ea typeface="Source Han Sans SC"/>
              </a:rPr>
              <a:t>显式写本地时间；曝光改到渲染完成后上报，并按内容去重</a:t>
            </a:r>
            <a:endParaRPr lang="zh-CN" sz="900">
              <a:solidFill>
                <a:srgbClr val="334155"/>
              </a:solidFill>
              <a:latin typeface="Source Han Sans SC"/>
              <a:ea typeface="Source Han Sans SC"/>
            </a:endParaRPr>
          </a:p>
        </p:txBody>
      </p:sp>
      <p:sp>
        <p:nvSpPr>
          <p:cNvPr id="131" name="圆角矩形 130"/>
          <p:cNvSpPr/>
          <p:nvPr/>
        </p:nvSpPr>
        <p:spPr>
          <a:xfrm>
            <a:off x="609600" y="4724400"/>
            <a:ext cx="10972800" cy="1238250"/>
          </a:xfrm>
          <a:prstGeom prst="roundRect">
            <a:avLst>
              <a:gd name="adj" fmla="val 10769"/>
            </a:avLst>
          </a:prstGeom>
          <a:solidFill>
            <a:srgbClr val="0F172A"/>
          </a:solidFill>
        </p:spPr>
        <p:txBody>
          <a:bodyPr/>
          <a:p/>
        </p:txBody>
      </p:sp>
      <p:sp>
        <p:nvSpPr>
          <p:cNvPr id="132" name="文本框 131" descr="{&quot;isTemplate&quot;:true,&quot;type&quot;:&quot;text&quot;}"/>
          <p:cNvSpPr txBox="1"/>
          <p:nvPr/>
        </p:nvSpPr>
        <p:spPr>
          <a:xfrm>
            <a:off x="819150" y="4876800"/>
            <a:ext cx="428625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FFFFFF"/>
                </a:solidFill>
                <a:latin typeface="Source Han Sans SC"/>
                <a:ea typeface="Source Han Sans SC"/>
              </a:rPr>
              <a:t>下一步</a:t>
            </a:r>
            <a:endParaRPr lang="zh-CN" sz="1125" b="1">
              <a:solidFill>
                <a:srgbClr val="FFFFFF"/>
              </a:solidFill>
              <a:latin typeface="Source Han Sans SC"/>
              <a:ea typeface="Source Han Sans SC"/>
            </a:endParaRPr>
          </a:p>
        </p:txBody>
      </p:sp>
      <p:sp>
        <p:nvSpPr>
          <p:cNvPr id="133" name="文本框 132" descr="{&quot;isTemplate&quot;:true,&quot;type&quot;:&quot;text&quot;}"/>
          <p:cNvSpPr txBox="1"/>
          <p:nvPr/>
        </p:nvSpPr>
        <p:spPr>
          <a:xfrm>
            <a:off x="1343025" y="4895850"/>
            <a:ext cx="1647825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865">
                <a:solidFill>
                  <a:srgbClr val="94A3B8"/>
                </a:solidFill>
                <a:latin typeface="Source Han Sans SC"/>
                <a:ea typeface="Source Han Sans SC"/>
              </a:rPr>
              <a:t>按优先级排列，不做无数据的优化</a:t>
            </a:r>
            <a:endParaRPr lang="zh-CN" sz="865">
              <a:solidFill>
                <a:srgbClr val="94A3B8"/>
              </a:solidFill>
              <a:latin typeface="Source Han Sans SC"/>
              <a:ea typeface="Source Han Sans SC"/>
            </a:endParaRPr>
          </a:p>
        </p:txBody>
      </p:sp>
      <p:sp>
        <p:nvSpPr>
          <p:cNvPr id="134" name="圆角矩形 133"/>
          <p:cNvSpPr/>
          <p:nvPr/>
        </p:nvSpPr>
        <p:spPr>
          <a:xfrm>
            <a:off x="819150" y="5162550"/>
            <a:ext cx="3438525" cy="590550"/>
          </a:xfrm>
          <a:prstGeom prst="roundRect">
            <a:avLst>
              <a:gd name="adj" fmla="val 16129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94A3B8">
                <a:alpha val="22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35" name="文本框 134" descr="{&quot;isTemplate&quot;:true,&quot;type&quot;:&quot;text&quot;}"/>
          <p:cNvSpPr txBox="1"/>
          <p:nvPr/>
        </p:nvSpPr>
        <p:spPr>
          <a:xfrm>
            <a:off x="952500" y="5257800"/>
            <a:ext cx="317182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40" b="1">
                <a:solidFill>
                  <a:srgbClr val="67E8F9"/>
                </a:solidFill>
                <a:latin typeface="Source Han Sans SC"/>
                <a:ea typeface="Source Han Sans SC"/>
              </a:rPr>
              <a:t>先攒两周真实数据</a:t>
            </a:r>
            <a:endParaRPr lang="zh-CN" sz="940" b="1">
              <a:solidFill>
                <a:srgbClr val="67E8F9"/>
              </a:solidFill>
              <a:latin typeface="Source Han Sans SC"/>
              <a:ea typeface="Source Han Sans SC"/>
            </a:endParaRPr>
          </a:p>
        </p:txBody>
      </p:sp>
      <p:sp>
        <p:nvSpPr>
          <p:cNvPr id="136" name="文本框 135" descr="{&quot;isTemplate&quot;:true,&quot;type&quot;:&quot;text&quot;}"/>
          <p:cNvSpPr txBox="1"/>
          <p:nvPr/>
        </p:nvSpPr>
        <p:spPr>
          <a:xfrm>
            <a:off x="952500" y="5438775"/>
            <a:ext cx="3171825" cy="2190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865">
                <a:solidFill>
                  <a:srgbClr val="CBD5E1"/>
                </a:solidFill>
                <a:latin typeface="Source Han Sans SC"/>
                <a:ea typeface="Source Han Sans SC"/>
              </a:rPr>
              <a:t>指标面板随后再做，样本不足时调权重等于掷骰子</a:t>
            </a:r>
            <a:endParaRPr lang="zh-CN" sz="865">
              <a:solidFill>
                <a:srgbClr val="CBD5E1"/>
              </a:solidFill>
              <a:latin typeface="Source Han Sans SC"/>
              <a:ea typeface="Source Han Sans SC"/>
            </a:endParaRPr>
          </a:p>
        </p:txBody>
      </p:sp>
      <p:sp>
        <p:nvSpPr>
          <p:cNvPr id="137" name="圆角矩形 136"/>
          <p:cNvSpPr/>
          <p:nvPr/>
        </p:nvSpPr>
        <p:spPr>
          <a:xfrm>
            <a:off x="4371975" y="5162550"/>
            <a:ext cx="3448050" cy="590550"/>
          </a:xfrm>
          <a:prstGeom prst="roundRect">
            <a:avLst>
              <a:gd name="adj" fmla="val 16129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94A3B8">
                <a:alpha val="22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38" name="文本框 137" descr="{&quot;isTemplate&quot;:true,&quot;type&quot;:&quot;text&quot;}"/>
          <p:cNvSpPr txBox="1"/>
          <p:nvPr/>
        </p:nvSpPr>
        <p:spPr>
          <a:xfrm>
            <a:off x="4505325" y="5257800"/>
            <a:ext cx="3181350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40" b="1">
                <a:solidFill>
                  <a:srgbClr val="67E8F9"/>
                </a:solidFill>
                <a:latin typeface="Source Han Sans SC"/>
                <a:ea typeface="Source Han Sans SC"/>
              </a:rPr>
              <a:t>权重按周做</a:t>
            </a:r>
            <a:r>
              <a:rPr lang="en-US" sz="940" b="1">
                <a:solidFill>
                  <a:srgbClr val="67E8F9"/>
                </a:solidFill>
                <a:latin typeface="Source Han Sans SC"/>
                <a:ea typeface="Source Han Sans SC"/>
              </a:rPr>
              <a:t> A/B</a:t>
            </a:r>
            <a:endParaRPr lang="en-US" sz="940" b="1">
              <a:solidFill>
                <a:srgbClr val="67E8F9"/>
              </a:solidFill>
              <a:latin typeface="Source Han Sans SC"/>
              <a:ea typeface="Source Han Sans SC"/>
            </a:endParaRPr>
          </a:p>
        </p:txBody>
      </p:sp>
      <p:sp>
        <p:nvSpPr>
          <p:cNvPr id="139" name="文本框 138" descr="{&quot;isTemplate&quot;:true,&quot;type&quot;:&quot;text&quot;}"/>
          <p:cNvSpPr txBox="1"/>
          <p:nvPr/>
        </p:nvSpPr>
        <p:spPr>
          <a:xfrm>
            <a:off x="4505325" y="5438775"/>
            <a:ext cx="3181350" cy="2190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865">
                <a:solidFill>
                  <a:srgbClr val="CBD5E1"/>
                </a:solidFill>
                <a:latin typeface="Source Han Sans SC"/>
                <a:ea typeface="Source Han Sans SC"/>
              </a:rPr>
              <a:t>有了</a:t>
            </a:r>
            <a:r>
              <a:rPr lang="en-US" sz="865">
                <a:solidFill>
                  <a:srgbClr val="CBD5E1"/>
                </a:solidFill>
                <a:latin typeface="Source Han Sans SC"/>
                <a:ea typeface="Source Han Sans SC"/>
              </a:rPr>
              <a:t> ctr </a:t>
            </a:r>
            <a:r>
              <a:rPr lang="zh-CN" sz="865">
                <a:solidFill>
                  <a:srgbClr val="CBD5E1"/>
                </a:solidFill>
                <a:latin typeface="Source Han Sans SC"/>
                <a:ea typeface="Source Han Sans SC"/>
              </a:rPr>
              <a:t>才有对照前提，改一档跑一周再比</a:t>
            </a:r>
            <a:endParaRPr lang="zh-CN" sz="865">
              <a:solidFill>
                <a:srgbClr val="CBD5E1"/>
              </a:solidFill>
              <a:latin typeface="Source Han Sans SC"/>
              <a:ea typeface="Source Han Sans SC"/>
            </a:endParaRPr>
          </a:p>
        </p:txBody>
      </p:sp>
      <p:sp>
        <p:nvSpPr>
          <p:cNvPr id="140" name="圆角矩形 139"/>
          <p:cNvSpPr/>
          <p:nvPr/>
        </p:nvSpPr>
        <p:spPr>
          <a:xfrm>
            <a:off x="7934325" y="5162550"/>
            <a:ext cx="3438525" cy="590550"/>
          </a:xfrm>
          <a:prstGeom prst="roundRect">
            <a:avLst>
              <a:gd name="adj" fmla="val 16129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94A3B8">
                <a:alpha val="22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41" name="文本框 140" descr="{&quot;isTemplate&quot;:true,&quot;type&quot;:&quot;text&quot;}"/>
          <p:cNvSpPr txBox="1"/>
          <p:nvPr/>
        </p:nvSpPr>
        <p:spPr>
          <a:xfrm>
            <a:off x="8067675" y="5257800"/>
            <a:ext cx="317182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40" b="1">
                <a:solidFill>
                  <a:srgbClr val="67E8F9"/>
                </a:solidFill>
                <a:latin typeface="Source Han Sans SC"/>
                <a:ea typeface="Source Han Sans SC"/>
              </a:rPr>
              <a:t>检索与端侧补齐</a:t>
            </a:r>
            <a:endParaRPr lang="zh-CN" sz="940" b="1">
              <a:solidFill>
                <a:srgbClr val="67E8F9"/>
              </a:solidFill>
              <a:latin typeface="Source Han Sans SC"/>
              <a:ea typeface="Source Han Sans SC"/>
            </a:endParaRPr>
          </a:p>
        </p:txBody>
      </p:sp>
      <p:sp>
        <p:nvSpPr>
          <p:cNvPr id="142" name="文本框 141" descr="{&quot;isTemplate&quot;:true,&quot;type&quot;:&quot;text&quot;}"/>
          <p:cNvSpPr txBox="1"/>
          <p:nvPr/>
        </p:nvSpPr>
        <p:spPr>
          <a:xfrm>
            <a:off x="8067675" y="5438775"/>
            <a:ext cx="3171825" cy="2190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865">
                <a:solidFill>
                  <a:srgbClr val="CBD5E1"/>
                </a:solidFill>
                <a:latin typeface="Source Han Sans SC"/>
                <a:ea typeface="Source Han Sans SC"/>
              </a:rPr>
              <a:t>BGE </a:t>
            </a:r>
            <a:r>
              <a:rPr lang="zh-CN" sz="865">
                <a:solidFill>
                  <a:srgbClr val="CBD5E1"/>
                </a:solidFill>
                <a:latin typeface="Source Han Sans SC"/>
                <a:ea typeface="Source Han Sans SC"/>
              </a:rPr>
              <a:t>向量权重接入，移动端交互专项优化</a:t>
            </a:r>
            <a:endParaRPr lang="zh-CN" sz="865">
              <a:solidFill>
                <a:srgbClr val="CBD5E1"/>
              </a:solidFill>
              <a:latin typeface="Source Han Sans SC"/>
              <a:ea typeface="Source Han Sans SC"/>
            </a:endParaRPr>
          </a:p>
        </p:txBody>
      </p:sp>
      <p:sp>
        <p:nvSpPr>
          <p:cNvPr id="143" name="圆角矩形 142"/>
          <p:cNvSpPr/>
          <p:nvPr/>
        </p:nvSpPr>
        <p:spPr>
          <a:xfrm>
            <a:off x="609600" y="6210300"/>
            <a:ext cx="95250" cy="95250"/>
          </a:xfrm>
          <a:prstGeom prst="roundRect">
            <a:avLst>
              <a:gd name="adj" fmla="val 20000"/>
            </a:avLst>
          </a:prstGeom>
          <a:gradFill>
            <a:gsLst>
              <a:gs pos="0">
                <a:srgbClr val="3B82F6"/>
              </a:gs>
              <a:gs pos="100000">
                <a:srgbClr val="06B6D4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144" name="文本框 143" descr="{&quot;isTemplate&quot;:true,&quot;type&quot;:&quot;text&quot;}"/>
          <p:cNvSpPr txBox="1"/>
          <p:nvPr/>
        </p:nvSpPr>
        <p:spPr>
          <a:xfrm>
            <a:off x="781050" y="6172200"/>
            <a:ext cx="20193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94A3B8"/>
                </a:solidFill>
                <a:latin typeface="Source Han Sans SC"/>
                <a:ea typeface="Source Han Sans SC"/>
              </a:rPr>
              <a:t>AI </a:t>
            </a:r>
            <a:r>
              <a:rPr lang="zh-CN" sz="1050">
                <a:solidFill>
                  <a:srgbClr val="94A3B8"/>
                </a:solidFill>
                <a:latin typeface="Source Han Sans SC"/>
                <a:ea typeface="Source Han Sans SC"/>
              </a:rPr>
              <a:t>自媒体内容创作助手</a:t>
            </a:r>
            <a:r>
              <a:rPr lang="en-US" sz="1050">
                <a:solidFill>
                  <a:srgbClr val="94A3B8"/>
                </a:solidFill>
                <a:latin typeface="Source Han Sans SC"/>
                <a:ea typeface="Source Han Sans SC"/>
              </a:rPr>
              <a:t> · </a:t>
            </a:r>
            <a:r>
              <a:rPr lang="zh-CN" sz="1050">
                <a:solidFill>
                  <a:srgbClr val="94A3B8"/>
                </a:solidFill>
                <a:latin typeface="Source Han Sans SC"/>
                <a:ea typeface="Source Han Sans SC"/>
              </a:rPr>
              <a:t>项目汇报</a:t>
            </a:r>
            <a:endParaRPr lang="zh-CN" sz="1050">
              <a:solidFill>
                <a:srgbClr val="94A3B8"/>
              </a:solidFill>
              <a:latin typeface="Source Han Sans SC"/>
              <a:ea typeface="Source Han Sans SC"/>
            </a:endParaRPr>
          </a:p>
        </p:txBody>
      </p:sp>
      <p:sp>
        <p:nvSpPr>
          <p:cNvPr id="145" name="文本框 144" descr="{&quot;isTemplate&quot;:true,&quot;type&quot;:&quot;text&quot;}"/>
          <p:cNvSpPr txBox="1"/>
          <p:nvPr/>
        </p:nvSpPr>
        <p:spPr>
          <a:xfrm>
            <a:off x="11125200" y="6172200"/>
            <a:ext cx="4572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94A3B8"/>
                </a:solidFill>
                <a:latin typeface="Source Han Sans SC"/>
                <a:ea typeface="Source Han Sans SC"/>
              </a:rPr>
              <a:t>13 / 14</a:t>
            </a:r>
            <a:endParaRPr lang="en-US" sz="1050">
              <a:solidFill>
                <a:srgbClr val="94A3B8"/>
              </a:solidFill>
              <a:latin typeface="Source Han Sans SC"/>
              <a:ea typeface="Source Han Sans SC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46" name="" descr="&lt;Slide style={{ width: 1280, height: 720, padding: '0 120px', fontFamily: '&quot;Source Han Sans SC&quot;, &quot;Noto Sans SC&quot;, &quot;PingFang SC&quot;, &quot;Microsoft YaHei&quot;, sans-serif', position: 'relative', overflow: 'hidden', background: '#0F172A' }}&gt;&#10;  &lt;Box style={{ position: 'absolute', top: 0, left: 0, width: 1280, height: 720, background: 'radial-gradient(circle at 50% 42%, rgba(59,130,246,0.20) 0%, rgba(15,23,42,0) 62%)' }} /&gt;&#10;&#10;  &lt;Box style={{ position: 'relative', height: 720, alignItems: 'center', justifyContent: 'center' }}&gt;&#10;    &lt;Text style={{ fontSize: 14, color: '#67E8F9', letterSpacing: 6 }}&gt;SUMMARY&lt;/Text&gt;&#10;&#10;    &lt;Text style={{ fontSize: 46, fontWeight: 'bold', color: '#FFFFFF', textAlign: 'center', lineHeight: 1.45, marginTop: 26 }}&gt;&#10;      能演示 · 能复现 · 能度量&#10;    &lt;/Text&gt;&#10;&#10;    &lt;Box style={{ width: 64, height: 3, background: 'linear-gradient(135deg, #3B82F6 0%, #06B6D4 100%)', borderRadius: 2, marginTop: 30 }} /&gt;&#10;&#10;    &lt;Text style={{ fontSize: 17, color: '#CBD5E1', textAlign: 'center', lineHeight: 2, marginTop: 30, width: 820 }}&gt;&#10;      计划书四项量化指标全部达成，热点采集从接入真实数据到度量推荐效果也已闭环。&#10;      接下来不做无数据支撑的优化——先把真实使用攒起来，再让数字决定改什么。&#10;    &lt;/Text&gt;&#10;&#10;    &lt;Box style={{ flexDirection: 'row', alignItems: 'center', gap: 18, marginTop: 46 }}&gt;&#10;      &lt;Text style={{ fontSize: 14, color: '#94A3B8' }}&gt;项目组&lt;/Text&gt;&#10;      &lt;Box style={{ width: 1, height: 12, background: '#475569' }} /&gt;&#10;      &lt;Text style={{ fontSize: 14, color: '#94A3B8' }}&gt;2026-10-26&lt;/Text&gt;&#10;    &lt;/Box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矩形 146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</p:spPr>
        <p:txBody>
          <a:bodyPr/>
          <a:p/>
        </p:txBody>
      </p:sp>
      <p:sp>
        <p:nvSpPr>
          <p:cNvPr id="148" name="矩形 147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3B82F6">
                  <a:alpha val="20000"/>
                </a:srgbClr>
              </a:gs>
              <a:gs pos="62000">
                <a:srgbClr val="0F172A">
                  <a:alpha val="0"/>
                </a:srgbClr>
              </a:gs>
            </a:gsLst>
            <a:path path="circle">
              <a:fillToRect l="50000" t="42000" r="50000" b="58000"/>
            </a:path>
          </a:gradFill>
        </p:spPr>
        <p:txBody>
          <a:bodyPr/>
          <a:p/>
        </p:txBody>
      </p:sp>
      <p:sp>
        <p:nvSpPr>
          <p:cNvPr id="149" name="文本框 148" descr="{&quot;isTemplate&quot;:true,&quot;type&quot;:&quot;text&quot;}"/>
          <p:cNvSpPr txBox="1"/>
          <p:nvPr/>
        </p:nvSpPr>
        <p:spPr>
          <a:xfrm>
            <a:off x="5543550" y="1847850"/>
            <a:ext cx="11049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450">
                <a:solidFill>
                  <a:srgbClr val="67E8F9"/>
                </a:solidFill>
                <a:latin typeface="Source Han Sans SC"/>
                <a:ea typeface="Source Han Sans SC"/>
              </a:rPr>
              <a:t>SUMMARY</a:t>
            </a:r>
            <a:endParaRPr lang="en-US" sz="1050" spc="450">
              <a:solidFill>
                <a:srgbClr val="67E8F9"/>
              </a:solidFill>
              <a:latin typeface="Source Han Sans SC"/>
              <a:ea typeface="Source Han Sans SC"/>
            </a:endParaRPr>
          </a:p>
        </p:txBody>
      </p:sp>
      <p:sp>
        <p:nvSpPr>
          <p:cNvPr id="150" name="文本框 149" descr="{&quot;isTemplate&quot;:true,&quot;type&quot;:&quot;text&quot;}"/>
          <p:cNvSpPr txBox="1"/>
          <p:nvPr/>
        </p:nvSpPr>
        <p:spPr>
          <a:xfrm>
            <a:off x="3667125" y="2257425"/>
            <a:ext cx="4857750" cy="771525"/>
          </a:xfrm>
          <a:prstGeom prst="rect">
            <a:avLst/>
          </a:prstGeom>
        </p:spPr>
        <p:txBody>
          <a:bodyPr wrap="none" lIns="0" tIns="0" rIns="0" bIns="0"/>
          <a:p>
            <a:pPr algn="ctr">
              <a:lnSpc>
                <a:spcPct val="145000"/>
              </a:lnSpc>
            </a:pPr>
            <a:r>
              <a:rPr lang="zh-CN" sz="3450" b="1">
                <a:solidFill>
                  <a:srgbClr val="FFFFFF"/>
                </a:solidFill>
                <a:latin typeface="Source Han Sans SC"/>
                <a:ea typeface="Source Han Sans SC"/>
              </a:rPr>
              <a:t>能演示</a:t>
            </a:r>
            <a:r>
              <a:rPr lang="en-US" sz="3450" b="1">
                <a:solidFill>
                  <a:srgbClr val="FFFFFF"/>
                </a:solidFill>
                <a:latin typeface="Source Han Sans SC"/>
                <a:ea typeface="Source Han Sans SC"/>
              </a:rPr>
              <a:t> · </a:t>
            </a:r>
            <a:r>
              <a:rPr lang="zh-CN" sz="3450" b="1">
                <a:solidFill>
                  <a:srgbClr val="FFFFFF"/>
                </a:solidFill>
                <a:latin typeface="Source Han Sans SC"/>
                <a:ea typeface="Source Han Sans SC"/>
              </a:rPr>
              <a:t>能复现</a:t>
            </a:r>
            <a:r>
              <a:rPr lang="en-US" sz="3450" b="1">
                <a:solidFill>
                  <a:srgbClr val="FFFFFF"/>
                </a:solidFill>
                <a:latin typeface="Source Han Sans SC"/>
                <a:ea typeface="Source Han Sans SC"/>
              </a:rPr>
              <a:t> · </a:t>
            </a:r>
            <a:r>
              <a:rPr lang="zh-CN" sz="3450" b="1">
                <a:solidFill>
                  <a:srgbClr val="FFFFFF"/>
                </a:solidFill>
                <a:latin typeface="Source Han Sans SC"/>
                <a:ea typeface="Source Han Sans SC"/>
              </a:rPr>
              <a:t>能度量</a:t>
            </a:r>
            <a:endParaRPr lang="zh-CN" sz="3450" b="1">
              <a:solidFill>
                <a:srgbClr val="FFFFFF"/>
              </a:solidFill>
              <a:latin typeface="Source Han Sans SC"/>
              <a:ea typeface="Source Han Sans SC"/>
            </a:endParaRPr>
          </a:p>
        </p:txBody>
      </p:sp>
      <p:sp>
        <p:nvSpPr>
          <p:cNvPr id="151" name="圆角矩形 150"/>
          <p:cNvSpPr/>
          <p:nvPr/>
        </p:nvSpPr>
        <p:spPr>
          <a:xfrm>
            <a:off x="5791200" y="3314700"/>
            <a:ext cx="609600" cy="28575"/>
          </a:xfrm>
          <a:prstGeom prst="roundRect">
            <a:avLst>
              <a:gd name="adj" fmla="val 66667"/>
            </a:avLst>
          </a:prstGeom>
          <a:gradFill>
            <a:gsLst>
              <a:gs pos="0">
                <a:srgbClr val="3B82F6"/>
              </a:gs>
              <a:gs pos="100000">
                <a:srgbClr val="06B6D4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152" name="文本框 151" descr="{&quot;isTemplate&quot;:true,&quot;type&quot;:&quot;text&quot;}"/>
          <p:cNvSpPr txBox="1"/>
          <p:nvPr/>
        </p:nvSpPr>
        <p:spPr>
          <a:xfrm>
            <a:off x="2190750" y="3629025"/>
            <a:ext cx="7810500" cy="781050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 algn="ctr">
              <a:lnSpc>
                <a:spcPct val="200000"/>
              </a:lnSpc>
            </a:pPr>
            <a:r>
              <a:rPr lang="zh-CN" sz="1275">
                <a:solidFill>
                  <a:srgbClr val="CBD5E1"/>
                </a:solidFill>
                <a:latin typeface="Source Han Sans SC"/>
                <a:ea typeface="Source Han Sans SC"/>
              </a:rPr>
              <a:t>计划书四项量化指标全部达成，热点采集从接入真实数据到度量推荐效果也已闭环。</a:t>
            </a:r>
            <a:r>
              <a:rPr lang="en-US" sz="1275">
                <a:solidFill>
                  <a:srgbClr val="CBD5E1"/>
                </a:solidFill>
                <a:latin typeface="Source Han Sans SC"/>
                <a:ea typeface="Source Han Sans SC"/>
              </a:rPr>
              <a:t> </a:t>
            </a:r>
            <a:r>
              <a:rPr lang="zh-CN" sz="1275">
                <a:solidFill>
                  <a:srgbClr val="CBD5E1"/>
                </a:solidFill>
                <a:latin typeface="Source Han Sans SC"/>
                <a:ea typeface="Source Han Sans SC"/>
              </a:rPr>
              <a:t>接下来不做无数据支撑的优化——先把真实使用攒起来，再让数字决定改什么。</a:t>
            </a:r>
            <a:endParaRPr lang="zh-CN" sz="1275">
              <a:solidFill>
                <a:srgbClr val="CBD5E1"/>
              </a:solidFill>
              <a:latin typeface="Source Han Sans SC"/>
              <a:ea typeface="Source Han Sans SC"/>
            </a:endParaRPr>
          </a:p>
        </p:txBody>
      </p:sp>
      <p:sp>
        <p:nvSpPr>
          <p:cNvPr id="153" name="文本框 152" descr="{&quot;isTemplate&quot;:true,&quot;type&quot;:&quot;text&quot;}"/>
          <p:cNvSpPr txBox="1"/>
          <p:nvPr/>
        </p:nvSpPr>
        <p:spPr>
          <a:xfrm>
            <a:off x="5353050" y="4848225"/>
            <a:ext cx="40005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94A3B8"/>
                </a:solidFill>
                <a:latin typeface="Source Han Sans SC"/>
                <a:ea typeface="Source Han Sans SC"/>
              </a:rPr>
              <a:t>项目组</a:t>
            </a:r>
            <a:endParaRPr lang="zh-CN" sz="1050">
              <a:solidFill>
                <a:srgbClr val="94A3B8"/>
              </a:solidFill>
              <a:latin typeface="Source Han Sans SC"/>
              <a:ea typeface="Source Han Sans SC"/>
            </a:endParaRPr>
          </a:p>
        </p:txBody>
      </p:sp>
      <p:sp>
        <p:nvSpPr>
          <p:cNvPr id="154" name="矩形 153"/>
          <p:cNvSpPr/>
          <p:nvPr/>
        </p:nvSpPr>
        <p:spPr>
          <a:xfrm>
            <a:off x="5924550" y="4876800"/>
            <a:ext cx="9525" cy="114300"/>
          </a:xfrm>
          <a:prstGeom prst="rect">
            <a:avLst/>
          </a:prstGeom>
          <a:solidFill>
            <a:srgbClr val="475569"/>
          </a:solidFill>
        </p:spPr>
        <p:txBody>
          <a:bodyPr/>
          <a:p/>
        </p:txBody>
      </p:sp>
      <p:sp>
        <p:nvSpPr>
          <p:cNvPr id="155" name="文本框 154" descr="{&quot;isTemplate&quot;:true,&quot;type&quot;:&quot;text&quot;}"/>
          <p:cNvSpPr txBox="1"/>
          <p:nvPr/>
        </p:nvSpPr>
        <p:spPr>
          <a:xfrm>
            <a:off x="6105525" y="4848225"/>
            <a:ext cx="74295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94A3B8"/>
                </a:solidFill>
                <a:latin typeface="Source Han Sans SC"/>
                <a:ea typeface="Source Han Sans SC"/>
              </a:rPr>
              <a:t>2026-10-26</a:t>
            </a:r>
            <a:endParaRPr lang="en-US" sz="1050">
              <a:solidFill>
                <a:srgbClr val="94A3B8"/>
              </a:solidFill>
              <a:latin typeface="Source Han Sans SC"/>
              <a:ea typeface="Source Han Sans SC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3808</Words>
  <Application>WPS 演示</Application>
  <PresentationFormat/>
  <Paragraphs>478</Paragraphs>
  <Slides>14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14</vt:i4>
      </vt:variant>
    </vt:vector>
  </HeadingPairs>
  <TitlesOfParts>
    <vt:vector size="24" baseType="lpstr">
      <vt:lpstr>Arial</vt:lpstr>
      <vt:lpstr>宋体</vt:lpstr>
      <vt:lpstr>Wingdings</vt:lpstr>
      <vt:lpstr>Source Han Sans SC</vt:lpstr>
      <vt:lpstr>Segoe Print</vt:lpstr>
      <vt:lpstr>Calibri</vt:lpstr>
      <vt:lpstr>Arial Unicode MS</vt:lpstr>
      <vt:lpstr>Source Han Sans SC</vt:lpstr>
      <vt:lpstr>Comic Sans Pro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WPS_1694520698</cp:lastModifiedBy>
  <cp:revision>1</cp:revision>
  <dcterms:created xsi:type="dcterms:W3CDTF">2026-10-26T06:37:51Z</dcterms:created>
  <dcterms:modified xsi:type="dcterms:W3CDTF">2026-10-26T06:37:52Z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{"AIGC":{"Label":"1","ContentProducer":"00119111010856365494821B355","ProduceID":"01a176326f6f711795301f840776ef8f","ReservedCode1":"","ContentPropagator":"00119111010856365494821B355","PropagateID":"01a176326f6f711795301f840776ef8f","ReservedCode2":""}}</vt:lpwstr>
  </property>
  <property fmtid="{D5CDD505-2E9C-101B-9397-08002B2CF9AE}" pid="3" name="ICV">
    <vt:lpwstr>F43F56F6473A4171B3BD171E53744277_12</vt:lpwstr>
  </property>
  <property fmtid="{D5CDD505-2E9C-101B-9397-08002B2CF9AE}" pid="4" name="KSOProductBuildVer">
    <vt:lpwstr>2052-12.1.0.29161</vt:lpwstr>
  </property>
</Properties>
</file>
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5" Type="http://schemas.openxmlformats.org/officeDocument/2006/relationships/notesMaster" Target="notesMasters/notesMaster1.xml" /><Relationship Id="rId13" Type="http://schemas.openxmlformats.org/officeDocument/2006/relationships/slide" Target="slides/slide13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png" /><Relationship Id="rId2" Type="http://schemas.openxmlformats.org/officeDocument/2006/relationships/image" Target="media/image9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7812" r="0" b="7812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5000"/>
                </a:srgbClr>
              </a:gs>
              <a:gs pos="46000">
                <a:srgbClr val="0F172A">
                  <a:alpha val="66000"/>
                </a:srgbClr>
              </a:gs>
              <a:gs pos="100000">
                <a:srgbClr val="0F172A">
                  <a:alpha val="18000"/>
                </a:srgbClr>
              </a:gs>
            </a:gsLst>
            <a:lin ang="6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762000" y="9334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33450" y="876300"/>
            <a:ext cx="2828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300">
                <a:solidFill>
                  <a:srgbClr val="67E8F9"/>
                </a:solidFill>
                <a:latin typeface="Source Han Sans SC"/>
                <a:ea typeface="Source Han Sans SC"/>
              </a:rPr>
              <a:t>项目汇报</a:t>
            </a:r>
            <a:r>
              <a:rPr lang="en-US" sz="1200" spc="300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 · PROJECT REPORT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1257300"/>
            <a:ext cx="7810500" cy="8096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4500" b="1">
                <a:gradFill>
                  <a:gsLst>
                    <a:gs pos="0">
                      <a:srgbClr val="FFFFFF"/>
                    </a:gs>
                    <a:gs pos="58000">
                      <a:srgbClr val="BAE6FD"/>
                    </a:gs>
                    <a:gs pos="100000">
                      <a:srgbClr val="67E8F9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 xml:space="preserve">AI </a:t>
            </a:r>
            <a:r>
              <a:rPr lang="zh-CN" sz="4500" b="1">
                <a:gradFill>
                  <a:gsLst>
                    <a:gs pos="0">
                      <a:srgbClr val="FFFFFF"/>
                    </a:gs>
                    <a:gs pos="58000">
                      <a:srgbClr val="BAE6FD"/>
                    </a:gs>
                    <a:gs pos="100000">
                      <a:srgbClr val="67E8F9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自媒体内容创作助手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2238375"/>
            <a:ext cx="7810500" cy="4000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725">
                <a:solidFill>
                  <a:srgbClr val="CBD5E1"/>
                </a:solidFill>
                <a:latin typeface="Source Han Sans SC"/>
                <a:ea typeface="Source Han Sans SC"/>
              </a:rPr>
              <a:t>从热点到发布的全链路内容生产工作台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762000" y="2886075"/>
            <a:ext cx="6858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3133725"/>
            <a:ext cx="7810500" cy="323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微信公众号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小红书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抖音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｜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科技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生活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财经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美妆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教育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五大领域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3514725"/>
            <a:ext cx="7810500" cy="323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真实热榜采集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跨平台聚合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推荐流与采纳漏斗全链路度量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615315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Source Han Sans SC"/>
                <a:ea typeface="Source Han Sans SC"/>
              </a:rPr>
              <a:t>汇报人：项目组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1914525" y="6172200"/>
            <a:ext cx="9525" cy="13335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076450" y="615315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2026-10-27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3028950" y="6172200"/>
            <a:ext cx="9525" cy="13335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190875" y="6153150"/>
            <a:ext cx="2276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V2.1 · </a:t>
            </a:r>
            <a:r>
              <a:rPr lang="zh-CN" sz="1125">
                <a:solidFill>
                  <a:srgbClr val="94A3B8"/>
                </a:solidFill>
                <a:latin typeface="Source Han Sans SC"/>
                <a:ea typeface="Source Han Sans SC"/>
              </a:rPr>
              <a:t>含热点采集三期与工作台补强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4286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汇报目录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4286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三章递进：先讲清做什么，再讲怎么做，最后用数字收口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2381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94A3B8"/>
                </a:solidFill>
                <a:latin typeface="Source Han Sans SC"/>
                <a:ea typeface="Source Han Sans SC"/>
              </a:rPr>
              <a:t>CONTENTS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1390650"/>
            <a:ext cx="2381250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200" b="1">
                <a:solidFill>
                  <a:srgbClr val="0F172A"/>
                </a:solidFill>
                <a:latin typeface="Source Han Sans SC"/>
                <a:ea typeface="Source Han Sans SC"/>
              </a:rPr>
              <a:t>三章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609600" y="2247900"/>
            <a:ext cx="4572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09600" y="2466975"/>
            <a:ext cx="2381250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共</a:t>
            </a:r>
            <a:r>
              <a:rPr lang="en-US" sz="12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14 </a:t>
            </a: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页，含</a:t>
            </a:r>
            <a:r>
              <a:rPr lang="en-US" sz="12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4 </a:t>
            </a: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个重点页：封面、系统架构、数据成果、收束。全程围绕一条可演示、可度量的内容生产链展开。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609600" y="5010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62000" y="5143500"/>
            <a:ext cx="207645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全程一条主线：素材与热点打底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检索增强生成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平台适配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漏斗度量。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3371850" y="1143000"/>
            <a:ext cx="8210550" cy="153352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619500" y="1647825"/>
            <a:ext cx="7429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91050" y="1600200"/>
            <a:ext cx="576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项目概况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591050" y="1933575"/>
            <a:ext cx="576262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一句话定位、五步核心闭环、六大功能模块与工程规模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0582275" y="1828800"/>
            <a:ext cx="752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P03 — P05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371850" y="2847975"/>
            <a:ext cx="8210550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19500" y="3352800"/>
            <a:ext cx="7429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591050" y="3305175"/>
            <a:ext cx="576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技术方案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591050" y="3638550"/>
            <a:ext cx="576262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五层系统架构、热点采集三层模型、推荐流与采纳漏斗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10582275" y="3533775"/>
            <a:ext cx="752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P06 — P09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3371850" y="4562475"/>
            <a:ext cx="8210550" cy="153352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619500" y="5067300"/>
            <a:ext cx="7429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591050" y="5019675"/>
            <a:ext cx="576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实现与验证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591050" y="5353050"/>
            <a:ext cx="576262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六个阶段里程碑、四项指标达标、五个真实难点与下一步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582275" y="5248275"/>
            <a:ext cx="752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P10 — P13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02 / 14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87" name=""/>
          <p:cNvPicPr>
            <a:picLocks noChangeAspect="1"/>
          </p:cNvPicPr>
          <p:nvPr/>
        </p:nvPicPr>
        <p:blipFill>
          <a:blip r:embed="rId1"/>
          <a:srcRect l="0" t="7812" r="0" b="7812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3000"/>
                </a:srgbClr>
              </a:gs>
              <a:gs pos="52000">
                <a:srgbClr val="0F172A">
                  <a:alpha val="62000"/>
                </a:srgbClr>
              </a:gs>
              <a:gs pos="100000">
                <a:srgbClr val="0F172A">
                  <a:alpha val="30000"/>
                </a:srgbClr>
              </a:gs>
            </a:gsLst>
            <a:lin ang="3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8001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971550" y="1952625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ONE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00100" y="2219325"/>
            <a:ext cx="2085975" cy="2000250"/>
          </a:xfrm>
          <a:prstGeom prst="rect"/>
        </p:spPr>
        <p:txBody>
          <a:bodyPr wrap="none" lIns="0" tIns="0" rIns="0" bIns="0"/>
          <a:p>
            <a:pPr>
              <a:lnSpc>
                <a:spcPct val="92000"/>
              </a:lnSpc>
            </a:pPr>
            <a:r>
              <a:rPr lang="en-US" sz="14250" b="1" spc="-600">
                <a:gradFill>
                  <a:gsLst>
                    <a:gs pos="0">
                      <a:srgbClr val="60A5FA"/>
                    </a:gs>
                    <a:gs pos="100000">
                      <a:srgbClr val="22D3EE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3209925" y="2971800"/>
            <a:ext cx="2362200" cy="819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650" b="1">
                <a:solidFill>
                  <a:srgbClr val="FFFFFF"/>
                </a:solidFill>
                <a:latin typeface="Source Han Sans SC"/>
                <a:ea typeface="Source Han Sans SC"/>
              </a:rPr>
              <a:t>项目概况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3209925" y="3943350"/>
            <a:ext cx="533400" cy="28575"/>
          </a:xfrm>
          <a:prstGeom prst="roundRect">
            <a:avLst>
              <a:gd name="adj" fmla="val 66667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00100" y="4505325"/>
            <a:ext cx="6858000" cy="4000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425">
                <a:solidFill>
                  <a:srgbClr val="CBD5E1"/>
                </a:solidFill>
                <a:latin typeface="Source Han Sans SC"/>
                <a:ea typeface="Source Han Sans SC"/>
              </a:rPr>
              <a:t>先回答三个问题：为谁解决什么、闭环怎么串起来、现在已经做到多大规模。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41243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定位与核心闭环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4124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把「找题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写稿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改稿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发布」压缩进同一条链路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367665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面向微信公众号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小红书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抖音的一站式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AI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内容生产工作台。素材库与真实热榜打底，选题、生成、适配、导出逐环相扣，创作者不必在多个工具之间反复搬运上下文。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096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04900" y="2771775"/>
            <a:ext cx="171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42975" y="3114675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目标平台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18669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2362200" y="2771775"/>
            <a:ext cx="171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2200275" y="3114675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内容领域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1242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619500" y="2771775"/>
            <a:ext cx="1714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457575" y="3114675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创作风格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609600" y="3533775"/>
            <a:ext cx="3676650" cy="800100"/>
          </a:xfrm>
          <a:prstGeom prst="roundRect">
            <a:avLst>
              <a:gd name="adj" fmla="val 14286"/>
            </a:avLst>
          </a:prstGeom>
          <a:solidFill>
            <a:srgbClr val="3B82F6">
              <a:alpha val="7000"/>
            </a:srgbClr>
          </a:solidFill>
          <a:ln w="12700">
            <a:solidFill>
              <a:srgbClr val="3B82F6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62000" y="3657600"/>
            <a:ext cx="33718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334155"/>
                </a:solidFill>
                <a:latin typeface="Source Han Sans SC"/>
                <a:ea typeface="Source Han Sans SC"/>
              </a:rPr>
              <a:t>环节之间靠</a:t>
            </a:r>
            <a:r>
              <a:rPr lang="en-US" sz="105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FlowContext </a:t>
            </a:r>
            <a:r>
              <a:rPr lang="zh-CN" sz="1050">
                <a:solidFill>
                  <a:srgbClr val="334155"/>
                </a:solidFill>
                <a:latin typeface="Source Han Sans SC"/>
                <a:ea typeface="Source Han Sans SC"/>
              </a:rPr>
              <a:t>传递上下文：热点带着领域与建议角度进入选题，选题带着素材进入生成。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09600" y="5200650"/>
            <a:ext cx="3676650" cy="895350"/>
          </a:xfrm>
          <a:prstGeom prst="roundRect">
            <a:avLst>
              <a:gd name="adj" fmla="val 12766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781050" y="5353050"/>
            <a:ext cx="33337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2E8F0"/>
                </a:solidFill>
                <a:latin typeface="Source Han Sans SC"/>
                <a:ea typeface="Source Han Sans SC"/>
              </a:rPr>
              <a:t>闭环即差异点：单点工具只解决一环，我们交付的是一条可演示、可度量的完整流水线。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4533900" y="1143000"/>
            <a:ext cx="70485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724400" y="1352550"/>
            <a:ext cx="666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核心闭环（计划书</a:t>
            </a:r>
            <a:r>
              <a:rPr lang="en-US" sz="1350" b="1">
                <a:solidFill>
                  <a:srgbClr val="0F172A"/>
                </a:solidFill>
                <a:latin typeface="Source Han Sans SC"/>
                <a:ea typeface="Source Han Sans SC"/>
              </a:rPr>
              <a:t xml:space="preserve"> T4.4 </a:t>
            </a: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验收项）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724400" y="1600200"/>
            <a:ext cx="6667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六页工作台串起五个环节，全程不切换工具</a:t>
            </a:r>
            <a:endParaRPr/>
          </a:p>
        </p:txBody>
      </p:sp>
      <p:pic>
        <p:nvPicPr>
          <p:cNvPr id="2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24400" y="1752600"/>
            <a:ext cx="6667500" cy="3733800"/>
          </a:xfrm>
          <a:prstGeom prst="rect">
            <a:avLst/>
          </a:prstGeom>
          <a:ln/>
        </p:spPr>
      </p:pic>
      <p:sp>
        <p:nvSpPr>
          <p:cNvPr id="218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3600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功能全景与工程规模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3600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六个模块对应闭环上的六个位置，不是功能堆叠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94A3B8"/>
                </a:solidFill>
                <a:latin typeface="Source Han Sans SC"/>
                <a:ea typeface="Source Han Sans SC"/>
              </a:rPr>
              <a:t>MODULES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09600" y="1371600"/>
            <a:ext cx="2552700" cy="5334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000" b="1">
                <a:solidFill>
                  <a:srgbClr val="0F172A"/>
                </a:solidFill>
                <a:latin typeface="Source Han Sans SC"/>
                <a:ea typeface="Source Han Sans SC"/>
              </a:rPr>
              <a:t>六模块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09600" y="2038350"/>
            <a:ext cx="2552700" cy="1647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每个模块只做一件事，但上下游都有结构化接口。素材与热点负责「输入」，选题与生成负责「加工」，适配与导出负责「交付」，人设贯穿全程作为约束。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09600" y="4038600"/>
            <a:ext cx="190500" cy="1905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876300" y="40576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标记者为热点</a:t>
            </a:r>
            <a:r>
              <a:rPr lang="en-US" sz="975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V2 </a:t>
            </a: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重点重构模块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3409950" y="11430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62350" y="1266825"/>
            <a:ext cx="323850" cy="323850"/>
          </a:xfrm>
          <a:prstGeom prst="roundRect">
            <a:avLst>
              <a:gd name="adj" fmla="val 26471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648075" y="13335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热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019550" y="126682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Source Han Sans SC"/>
                <a:ea typeface="Source Han Sans SC"/>
              </a:rPr>
              <a:t>热点看板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781550" y="1304925"/>
            <a:ext cx="428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V2 </a:t>
            </a:r>
            <a:r>
              <a:rPr lang="zh-CN" sz="825" spc="75">
                <a:solidFill>
                  <a:srgbClr val="67E8F9"/>
                </a:solidFill>
                <a:latin typeface="Source Han Sans SC"/>
                <a:ea typeface="Source Han Sans SC"/>
              </a:rPr>
              <a:t>重构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4019550" y="1524000"/>
            <a:ext cx="32670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38">
                <a:solidFill>
                  <a:srgbClr val="CBD5E1"/>
                </a:solidFill>
                <a:latin typeface="Source Han Sans SC"/>
                <a:ea typeface="Source Han Sans SC"/>
              </a:rPr>
              <a:t>六源真实热榜采集，跨平台聚合、归一化热度，按领域推荐并给出建议角度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7553325" y="11430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7705725" y="1266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791450" y="13335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素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162925" y="1266825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素材库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62925" y="1524000"/>
            <a:ext cx="32670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90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篇入库、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270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分块，按领域与平台筛选，支持语义检索与风格标签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409950" y="2286000"/>
            <a:ext cx="4029075" cy="8001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562350" y="2409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648075" y="24765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题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019550" y="2409825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选题列表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019550" y="266700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一句话生成多角度选题；热点可直传，领域与角度一并继承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7553325" y="2286000"/>
            <a:ext cx="4029075" cy="8001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705725" y="2409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791450" y="24765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撰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162925" y="2409825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文案生成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162925" y="266700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RAG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两阶段检索增强，单次产出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≥3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个风格版本并做结构校验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409950" y="32004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62350" y="33242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648075" y="33909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适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019550" y="3324225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平台适配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019550" y="3581400"/>
            <a:ext cx="32670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按三平台硬性规范改写标题、标签与篇幅，导出前给出符合性检查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7553325" y="32004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7705725" y="33242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791450" y="33909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人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162925" y="3324225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人设设定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162925" y="358140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领域、受众、语气可配置，作为前置约束注入每一次生成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09600" y="4381500"/>
            <a:ext cx="10972800" cy="171450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857250" y="4924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94A3B8"/>
                </a:solidFill>
                <a:latin typeface="Source Han Sans SC"/>
                <a:ea typeface="Source Han Sans SC"/>
              </a:rPr>
              <a:t>SCALE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857250" y="5114925"/>
            <a:ext cx="125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Source Han Sans SC"/>
                <a:ea typeface="Source Han Sans SC"/>
              </a:rPr>
              <a:t>当前规模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57250" y="5353050"/>
            <a:ext cx="125730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均为运行时实测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2114550" y="4857750"/>
            <a:ext cx="9525" cy="76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2714625" y="4962525"/>
            <a:ext cx="381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90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2600325" y="5372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篇素材文本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181475" y="4962525"/>
            <a:ext cx="571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270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162425" y="5372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个检索分块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734050" y="4962525"/>
            <a:ext cx="571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180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715000" y="5372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条评测任务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477125" y="4962525"/>
            <a:ext cx="190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7267575" y="5372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个热榜来源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877300" y="4962525"/>
            <a:ext cx="381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14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829675" y="5372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张数据表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0372725" y="4962525"/>
            <a:ext cx="381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21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0258425" y="5372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个接口路由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B82F6">
                  <a:alpha val="20000"/>
                </a:srgbClr>
              </a:gs>
              <a:gs pos="58000">
                <a:srgbClr val="0F172A">
                  <a:alpha val="0"/>
                </a:srgbClr>
              </a:gs>
            </a:gsLst>
            <a:path path="circle">
              <a:fillToRect l="18000" t="46000" r="82000" b="54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800100" y="1724025"/>
            <a:ext cx="3619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TWO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00100" y="1952625"/>
            <a:ext cx="3619500" cy="2162175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5750" b="1" spc="-750">
                <a:gradFill>
                  <a:gsLst>
                    <a:gs pos="0">
                      <a:srgbClr val="60A5FA"/>
                    </a:gs>
                    <a:gs pos="100000">
                      <a:srgbClr val="22D3EE"/>
                    </a:gs>
                  </a:gsLst>
                  <a:lin ang="4200000" scaled="1"/>
                </a:gra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800100" y="4286250"/>
            <a:ext cx="495300" cy="28575"/>
          </a:xfrm>
          <a:prstGeom prst="roundRect">
            <a:avLst>
              <a:gd name="adj" fmla="val 66667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00100" y="4524375"/>
            <a:ext cx="3619500" cy="619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FFFFFF"/>
                </a:solidFill>
                <a:latin typeface="Source Han Sans SC"/>
                <a:ea typeface="Source Han Sans SC"/>
              </a:rPr>
              <a:t>技术方案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0" y="1695450"/>
            <a:ext cx="64389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350">
                <a:solidFill>
                  <a:srgbClr val="CBD5E1"/>
                </a:solidFill>
                <a:latin typeface="Source Han Sans SC"/>
                <a:ea typeface="Source Han Sans SC"/>
              </a:rPr>
              <a:t>系统能跑起来靠的是三条技术主线，这一章逐条拆开：架构怎么分层、热榜怎么从六个来源变成可比的数据、推荐又怎么被度量。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4953000" y="2762250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143500" y="2971800"/>
            <a:ext cx="41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07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34050" y="2914650"/>
            <a:ext cx="5467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分层架构与三条架构决策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34050" y="3162300"/>
            <a:ext cx="5467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五层职责边界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两阶段检索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字段加密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流式输出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4953000" y="3609975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143500" y="3819525"/>
            <a:ext cx="41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08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5734050" y="3762375"/>
            <a:ext cx="5467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热点采集的三层数据模型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5734050" y="4010025"/>
            <a:ext cx="5467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原始层留证据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聚合层做可比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物化层保读性能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4953000" y="4457700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143500" y="4667250"/>
            <a:ext cx="419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09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734050" y="4610100"/>
            <a:ext cx="5467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推荐流与采纳漏斗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734050" y="4857750"/>
            <a:ext cx="5467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五因子打分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命中不足不凑数</a:t>
            </a:r>
            <a:r>
              <a:rPr lang="en-US" sz="1013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13">
                <a:solidFill>
                  <a:srgbClr val="94A3B8"/>
                </a:solidFill>
                <a:latin typeface="Source Han Sans SC"/>
                <a:ea typeface="Source Han Sans SC"/>
              </a:rPr>
              <a:t>曝光到出题的三级度量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342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系统架构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3429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五层职责边界清晰，每层只依赖下一层的契约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609600" y="1143000"/>
            <a:ext cx="61722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781050" y="12954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Source Han Sans SC"/>
                <a:ea typeface="Source Han Sans SC"/>
              </a:rPr>
              <a:t>分层架构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057775" y="1323975"/>
            <a:ext cx="155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自上而下调用，自下而上供数</a:t>
            </a:r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81050" y="1495425"/>
            <a:ext cx="5829300" cy="430530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7010400" y="1143000"/>
            <a:ext cx="4572000" cy="1571625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181850" y="1304925"/>
            <a:ext cx="38100" cy="152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296150" y="12763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两阶段检索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181850" y="1543050"/>
            <a:ext cx="4229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75569"/>
                </a:solidFill>
                <a:latin typeface="Source Han Sans SC"/>
                <a:ea typeface="Source Han Sans SC"/>
              </a:rPr>
              <a:t>向量召回候选池（同领域优先），再按风格与领域重排取</a:t>
            </a:r>
            <a:r>
              <a:rPr lang="en-US" sz="1013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Top-5</a:t>
            </a:r>
            <a:r>
              <a:rPr lang="zh-CN" sz="1013">
                <a:solidFill>
                  <a:srgbClr val="475569"/>
                </a:solidFill>
                <a:latin typeface="Source Han Sans SC"/>
                <a:ea typeface="Source Han Sans SC"/>
              </a:rPr>
              <a:t>。关闭重排后命中率跌到</a:t>
            </a:r>
            <a:r>
              <a:rPr lang="en-US" sz="1013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61.1%</a:t>
            </a:r>
            <a:r>
              <a:rPr lang="zh-CN" sz="1013">
                <a:solidFill>
                  <a:srgbClr val="475569"/>
                </a:solidFill>
                <a:latin typeface="Source Han Sans SC"/>
                <a:ea typeface="Source Han Sans SC"/>
              </a:rPr>
              <a:t>，重排贡献</a:t>
            </a:r>
            <a:r>
              <a:rPr lang="en-US" sz="1013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+38.9pp</a:t>
            </a:r>
            <a:r>
              <a:rPr lang="zh-CN" sz="1013">
                <a:solidFill>
                  <a:srgbClr val="475569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7010400" y="2828925"/>
            <a:ext cx="457200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7181850" y="2990850"/>
            <a:ext cx="38100" cy="152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296150" y="29622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字段级加密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181850" y="3228975"/>
            <a:ext cx="4229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75569"/>
                </a:solidFill>
                <a:latin typeface="Source Han Sans SC"/>
                <a:ea typeface="Source Han Sans SC"/>
              </a:rPr>
              <a:t>正文与敏感字段加密落库，检索只走索引与标题。这样加密不牺牲检索能力，越权请求也读不到明文。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010400" y="4524375"/>
            <a:ext cx="4572000" cy="1571625"/>
          </a:xfrm>
          <a:prstGeom prst="roundRect">
            <a:avLst>
              <a:gd name="adj" fmla="val 8485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7181850" y="4686300"/>
            <a:ext cx="38100" cy="1524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7296150" y="465772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Source Han Sans SC"/>
                <a:ea typeface="Source Han Sans SC"/>
              </a:rPr>
              <a:t>流式与降级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181850" y="4924425"/>
            <a:ext cx="4229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SSE </a:t>
            </a:r>
            <a:r>
              <a:rPr lang="zh-CN" sz="1013">
                <a:solidFill>
                  <a:srgbClr val="CBD5E1"/>
                </a:solidFill>
                <a:latin typeface="Source Han Sans SC"/>
                <a:ea typeface="Source Han Sans SC"/>
              </a:rPr>
              <a:t>边生成边推送，首字节即见文本；无</a:t>
            </a:r>
            <a:r>
              <a:rPr lang="en-US" sz="1013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Key </a:t>
            </a:r>
            <a:r>
              <a:rPr lang="zh-CN" sz="1013">
                <a:solidFill>
                  <a:srgbClr val="CBD5E1"/>
                </a:solidFill>
                <a:latin typeface="Source Han Sans SC"/>
                <a:ea typeface="Source Han Sans SC"/>
              </a:rPr>
              <a:t>时同一路由降级为模板生成，前端无需改一行代码。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07 / 14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5000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热点采集：三层数据模型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50006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真实热榜进得来、比得动、读得起——三个问题拆成三层各自解决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09600" y="1143000"/>
            <a:ext cx="10972800" cy="1924050"/>
          </a:xfrm>
          <a:prstGeom prst="roundRect">
            <a:avLst>
              <a:gd name="adj" fmla="val 79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pic>
        <p:nvPicPr>
          <p:cNvPr id="3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238250"/>
            <a:ext cx="10439400" cy="1733550"/>
          </a:xfrm>
          <a:prstGeom prst="rect">
            <a:avLst/>
          </a:prstGeom>
          <a:ln/>
        </p:spPr>
      </p:pic>
      <p:sp>
        <p:nvSpPr>
          <p:cNvPr id="333" name=""/>
          <p:cNvSpPr/>
          <p:nvPr/>
        </p:nvSpPr>
        <p:spPr>
          <a:xfrm rot="0" flipH="0" flipV="0">
            <a:off x="609600" y="3219450"/>
            <a:ext cx="3571875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781050" y="3409950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1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371600" y="3371850"/>
            <a:ext cx="171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原始层为什么不能合并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781050" y="3657600"/>
            <a:ext cx="3228975" cy="1047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每个平台每次抓取整条追加，跨平台同名各自保留。同一条热点在微博第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5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名、在百度第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6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名，这两个事实都要能查到——一旦在写入时就合并，证据链就断了，事后无法判断是谁先上榜。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781050" y="5286375"/>
            <a:ext cx="3228975" cy="657225"/>
          </a:xfrm>
          <a:prstGeom prst="roundRect">
            <a:avLst>
              <a:gd name="adj" fmla="val 11594"/>
            </a:avLst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95350" y="5381625"/>
            <a:ext cx="30003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取舍：冗余换可追溯。原始层按天清理，不参与任何读路径。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4314825" y="3219450"/>
            <a:ext cx="3562350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486275" y="3409950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2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076825" y="3371850"/>
            <a:ext cx="171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聚合层为什么必须合并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486275" y="3657600"/>
            <a:ext cx="32194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六个来源的热度口径完全不同，直接展示没法比较。这一层按标题相似度把同话题并成一条，热度归一到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 0–100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，同时记下榜内名次与覆盖来源数。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4486275" y="5286375"/>
            <a:ext cx="3219450" cy="657225"/>
          </a:xfrm>
          <a:prstGeom prst="roundRect">
            <a:avLst>
              <a:gd name="adj" fmla="val 1159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600575" y="5381625"/>
            <a:ext cx="29908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92400E"/>
                </a:solidFill>
                <a:latin typeface="Source Han Sans SC"/>
                <a:ea typeface="Source Han Sans SC"/>
              </a:rPr>
              <a:t>踩过的坑：分源调度下每批只有一个来源，若按批次聚合，覆盖来源数恒为</a:t>
            </a:r>
            <a:r>
              <a:rPr lang="en-US" sz="900">
                <a:solidFill>
                  <a:srgbClr val="92400E"/>
                </a:solidFill>
                <a:latin typeface="Source Han Sans SC"/>
                <a:ea typeface="Source Han Sans SC"/>
              </a:rPr>
              <a:t xml:space="preserve"> 1</a:t>
            </a:r>
            <a:r>
              <a:rPr lang="zh-CN" sz="900">
                <a:solidFill>
                  <a:srgbClr val="92400E"/>
                </a:solidFill>
                <a:latin typeface="Source Han Sans SC"/>
                <a:ea typeface="Source Han Sans SC"/>
              </a:rPr>
              <a:t>。必须取各源最新快照再聚合。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8010525" y="3219450"/>
            <a:ext cx="3571875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181975" y="3409950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772525" y="3371850"/>
            <a:ext cx="1371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物化层为什么保留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181975" y="3657600"/>
            <a:ext cx="3228975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理论上可以每次查询时现算，但前端首屏要按领域过滤再打分排序，现算撑不住。这层把聚合结果落成宽表，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 xml:space="preserve">feed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打分与「剔除综合」都在这里完成。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8181975" y="5286375"/>
            <a:ext cx="3228975" cy="657225"/>
          </a:xfrm>
          <a:prstGeom prst="roundRect">
            <a:avLst>
              <a:gd name="adj" fmla="val 11594"/>
            </a:avLst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296275" y="5381625"/>
            <a:ext cx="30003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保留原表名不是为了省事：选题表的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hotspot_id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外键指向它，改名要动全部历史数据。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46577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推荐流与采纳漏斗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4657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推荐得准不准，不能靠感觉——三级埋点把它变成可读的数字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1143000"/>
            <a:ext cx="4876800" cy="4029075"/>
          </a:xfrm>
          <a:prstGeom prst="roundRect">
            <a:avLst>
              <a:gd name="adj" fmla="val 3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723900" y="1257300"/>
            <a:ext cx="4648200" cy="3228975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61" name=""/>
          <p:cNvPicPr>
            <a:picLocks noChangeAspect="1"/>
          </p:cNvPicPr>
          <p:nvPr/>
        </p:nvPicPr>
        <p:blipFill>
          <a:blip r:embed="rId1"/>
          <a:srcRect l="16" t="0" r="16" b="0"/>
          <a:stretch>
            <a:fillRect/>
          </a:stretch>
        </p:blipFill>
        <p:spPr>
          <a:xfrm rot="0" flipH="0" flipV="0">
            <a:off x="723900" y="1257300"/>
            <a:ext cx="4648200" cy="3228975"/>
          </a:xfrm>
          <a:prstGeom prst="roundRect">
            <a:avLst>
              <a:gd name="adj" fmla="val 2950"/>
            </a:avLst>
          </a:prstGeom>
          <a:ln/>
        </p:spPr>
      </p:pic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723900" y="4581525"/>
            <a:ext cx="46482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真实界面：当天仅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4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条命中垂类，卡片上依次是可用的领域、归一化热度、建议角度、来源与榜内名次，以及「用它做选题」入口。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609600" y="5286375"/>
            <a:ext cx="4876800" cy="809625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742950" y="5476875"/>
            <a:ext cx="4610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F172A"/>
                </a:solidFill>
                <a:latin typeface="Source Han Sans SC"/>
                <a:ea typeface="Source Han Sans SC"/>
              </a:rPr>
              <a:t>推荐打分五因子（权重和</a:t>
            </a:r>
            <a:r>
              <a:rPr lang="en-US" sz="938" b="1">
                <a:solidFill>
                  <a:srgbClr val="0F172A"/>
                </a:solidFill>
                <a:latin typeface="Source Han Sans SC"/>
                <a:ea typeface="Source Han Sans SC"/>
              </a:rPr>
              <a:t xml:space="preserve"> 1.0</a:t>
            </a:r>
            <a:r>
              <a:rPr lang="zh-CN" sz="938" b="1">
                <a:solidFill>
                  <a:srgbClr val="0F172A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742950" y="5686425"/>
            <a:ext cx="1314450" cy="228600"/>
          </a:xfrm>
          <a:prstGeom prst="roundRect">
            <a:avLst>
              <a:gd name="adj" fmla="val 25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209675" y="5734050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FFFFFF"/>
                </a:solidFill>
                <a:latin typeface="Source Han Sans SC"/>
                <a:ea typeface="Source Han Sans SC"/>
              </a:rPr>
              <a:t>领域</a:t>
            </a:r>
            <a:r>
              <a:rPr lang="en-US" sz="825">
                <a:solidFill>
                  <a:srgbClr val="FFFFFF"/>
                </a:solidFill>
                <a:latin typeface="Source Han Sans SC"/>
                <a:ea typeface="Source Han Sans SC"/>
              </a:rPr>
              <a:t xml:space="preserve"> .30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2114550" y="5686425"/>
            <a:ext cx="1095375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2466975" y="5734050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新颖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 xml:space="preserve"> .25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3267075" y="5686425"/>
            <a:ext cx="876300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3514725" y="5734050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覆盖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 xml:space="preserve"> .20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4200525" y="5686425"/>
            <a:ext cx="657225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333875" y="5734050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热度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 xml:space="preserve"> .15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4914900" y="5686425"/>
            <a:ext cx="438150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4943475" y="5734050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可写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 xml:space="preserve"> .10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5676900" y="1143000"/>
            <a:ext cx="5905500" cy="2590800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pic>
        <p:nvPicPr>
          <p:cNvPr id="3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829300" y="1257300"/>
            <a:ext cx="5600700" cy="2362200"/>
          </a:xfrm>
          <a:prstGeom prst="rect">
            <a:avLst/>
          </a:prstGeom>
          <a:ln/>
        </p:spPr>
      </p:pic>
      <p:sp>
        <p:nvSpPr>
          <p:cNvPr id="377" name=""/>
          <p:cNvSpPr/>
          <p:nvPr/>
        </p:nvSpPr>
        <p:spPr>
          <a:xfrm rot="0" flipH="0" flipV="0">
            <a:off x="5676900" y="3848100"/>
            <a:ext cx="5905500" cy="22479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5829300" y="3981450"/>
            <a:ext cx="5600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F172A"/>
                </a:solidFill>
                <a:latin typeface="Source Han Sans SC"/>
                <a:ea typeface="Source Han Sans SC"/>
              </a:rPr>
              <a:t>两个指标必须一起看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5829300" y="4210050"/>
            <a:ext cx="2752725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924550" y="4286250"/>
            <a:ext cx="25622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ctr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低于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5%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：推荐本身不准，该调五因子权重与领域词表。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8677275" y="4210050"/>
            <a:ext cx="2752725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772525" y="4286250"/>
            <a:ext cx="25622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转化低于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50%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：推荐准了但题不好用，问题在选题质量而非排序。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829300" y="5495925"/>
            <a:ext cx="5600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只看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ctr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会把推荐调成标题党，只看转化会误判成排序问题。命中不足时我们不拿综合类补数——补进来的往往是时政与体育。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81050" y="63055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11125200" y="63055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B6D4">
                  <a:alpha val="16000"/>
                </a:srgbClr>
              </a:gs>
              <a:gs pos="60000">
                <a:srgbClr val="0F172A">
                  <a:alpha val="0"/>
                </a:srgbClr>
              </a:gs>
            </a:gsLst>
            <a:path path="circle">
              <a:fillToRect l="78000" t="30000" r="22000" b="7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00100" y="131445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THREE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00100" y="1562100"/>
            <a:ext cx="1828800" cy="1828800"/>
          </a:xfrm>
          <a:prstGeom prst="rect"/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2600" b="1" spc="-600">
                <a:gradFill>
                  <a:gsLst>
                    <a:gs pos="0">
                      <a:srgbClr val="93C5FD"/>
                    </a:gs>
                    <a:gs pos="100000">
                      <a:srgbClr val="22D3EE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2971800" y="1962150"/>
            <a:ext cx="2762250" cy="7334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350" b="1">
                <a:solidFill>
                  <a:srgbClr val="FFFFFF"/>
                </a:solidFill>
                <a:latin typeface="Source Han Sans SC"/>
                <a:ea typeface="Source Han Sans SC"/>
              </a:rPr>
              <a:t>实现与验证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2971800" y="2790825"/>
            <a:ext cx="2762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Source Han Sans SC"/>
                <a:ea typeface="Source Han Sans SC"/>
              </a:rPr>
              <a:t>从计划到可复现的数字</a:t>
            </a:r>
            <a:endParaRPr/>
          </a:p>
        </p:txBody>
      </p:sp>
      <p:pic>
        <p:nvPicPr>
          <p:cNvPr id="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3676650"/>
            <a:ext cx="10591800" cy="1257300"/>
          </a:xfrm>
          <a:prstGeom prst="rect">
            <a:avLst/>
          </a:prstGeom>
          <a:ln/>
        </p:spPr>
      </p:pic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5181600"/>
            <a:ext cx="8572500" cy="3714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350">
                <a:solidFill>
                  <a:srgbClr val="CBD5E1"/>
                </a:solidFill>
                <a:latin typeface="Source Han Sans SC"/>
                <a:ea typeface="Source Han Sans SC"/>
              </a:rPr>
              <a:t>这一章只讲两件事：交付过程是不是有纪律，以及指标能不能被独立复现。顺手把踩过的坑一起摊开。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4800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里程碑：六个阶段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每个阶段都有明确交付物和可执行验证，不是「做完了」三个字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09600" y="1143000"/>
            <a:ext cx="10972800" cy="276225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1219200"/>
            <a:ext cx="10515600" cy="2609850"/>
          </a:xfrm>
          <a:prstGeom prst="rect">
            <a:avLst/>
          </a:prstGeom>
          <a:ln/>
        </p:spPr>
      </p:pic>
      <p:sp>
        <p:nvSpPr>
          <p:cNvPr id="33" name=""/>
          <p:cNvSpPr/>
          <p:nvPr/>
        </p:nvSpPr>
        <p:spPr>
          <a:xfrm rot="0" flipH="0" flipV="0">
            <a:off x="609600" y="4038600"/>
            <a:ext cx="5419725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81050" y="4171950"/>
            <a:ext cx="507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F172A"/>
                </a:solidFill>
                <a:latin typeface="Source Han Sans SC"/>
                <a:ea typeface="Source Han Sans SC"/>
              </a:rPr>
              <a:t>交付物即证据链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781050" y="4410075"/>
            <a:ext cx="5076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38">
                <a:solidFill>
                  <a:srgbClr val="475569"/>
                </a:solidFill>
                <a:latin typeface="Source Han Sans SC"/>
                <a:ea typeface="Source Han Sans SC"/>
              </a:rPr>
              <a:t>每阶段收尾必须留下可查的东西：设计文档、可重建的语料与评测集、与实现一一对应的接口文档、能点通的页面，以及记录偏差的实施清单。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781050" y="5676900"/>
            <a:ext cx="800100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81050" y="5676900"/>
            <a:ext cx="800100" cy="190500"/>
          </a:xfrm>
          <a:prstGeom prst="rect"/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设计文档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 xml:space="preserve"> 4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638300" y="5676900"/>
            <a:ext cx="800100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638300" y="5676900"/>
            <a:ext cx="800100" cy="190500"/>
          </a:xfrm>
          <a:prstGeom prst="rect"/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交付说明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 xml:space="preserve"> 5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2495550" y="5676900"/>
            <a:ext cx="695325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2495550" y="5676900"/>
            <a:ext cx="695325" cy="190500"/>
          </a:xfrm>
          <a:prstGeom prst="rect"/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偏差表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 xml:space="preserve"> 1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162675" y="4038600"/>
            <a:ext cx="5419725" cy="1962150"/>
          </a:xfrm>
          <a:prstGeom prst="roundRect">
            <a:avLst>
              <a:gd name="adj" fmla="val 6796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334125" y="4171950"/>
            <a:ext cx="507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验证方式可执行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334125" y="4410075"/>
            <a:ext cx="5076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38">
                <a:solidFill>
                  <a:srgbClr val="CBD5E1"/>
                </a:solidFill>
                <a:latin typeface="Source Han Sans SC"/>
                <a:ea typeface="Source Han Sans SC"/>
              </a:rPr>
              <a:t>不靠「我看过了」：表与索引由</a:t>
            </a:r>
            <a:r>
              <a:rPr lang="en-US" sz="938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init_db </a:t>
            </a:r>
            <a:r>
              <a:rPr lang="zh-CN" sz="938">
                <a:solidFill>
                  <a:srgbClr val="CBD5E1"/>
                </a:solidFill>
                <a:latin typeface="Source Han Sans SC"/>
                <a:ea typeface="Source Han Sans SC"/>
              </a:rPr>
              <a:t>自检断言，接口由端到端脚本串跑，评测基准由脚本重置，前端由</a:t>
            </a:r>
            <a:r>
              <a:rPr lang="en-US" sz="938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tsc </a:t>
            </a:r>
            <a:r>
              <a:rPr lang="zh-CN" sz="938">
                <a:solidFill>
                  <a:srgbClr val="CBD5E1"/>
                </a:solidFill>
                <a:latin typeface="Source Han Sans SC"/>
                <a:ea typeface="Source Han Sans SC"/>
              </a:rPr>
              <a:t>与构建卡口，界面由冒烟脚本留图。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34125" y="5734050"/>
            <a:ext cx="27527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最近一次全绿：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init_db 14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表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 / 20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索引，端到端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 12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步全过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09600" y="624840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81050" y="621030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125200" y="62103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5248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数据与评测成果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5248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计划书四项指标阈值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vs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实测，全部达标；热点侧给真实刷新与命中率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09600" y="1143000"/>
            <a:ext cx="3848100" cy="3857625"/>
          </a:xfrm>
          <a:prstGeom prst="roundRect">
            <a:avLst>
              <a:gd name="adj" fmla="val 4455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95350" y="1428750"/>
            <a:ext cx="3276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>素材检索</a:t>
            </a:r>
            <a:r>
              <a:rPr lang="en-US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 Top-5 </a:t>
            </a:r>
            <a:r>
              <a:rPr lang="zh-CN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>命中率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895350" y="1666875"/>
            <a:ext cx="3276600" cy="1219200"/>
          </a:xfrm>
          <a:prstGeom prst="rect"/>
        </p:spPr>
        <p:txBody>
          <a:bodyPr wrap="none" lIns="0" tIns="0" rIns="0" bIns="0"/>
          <a:p>
            <a:pPr>
              <a:lnSpc>
                <a:spcPct val="102000"/>
              </a:lnSpc>
            </a:pPr>
            <a:r>
              <a:rPr lang="en-US" sz="7800" b="1" spc="-375">
                <a:gradFill>
                  <a:gsLst>
                    <a:gs pos="0">
                      <a:srgbClr val="3B82F6"/>
                    </a:gs>
                    <a:gs pos="100000">
                      <a:srgbClr val="06B6D4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100%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95350" y="3000375"/>
            <a:ext cx="3276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阈值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≥ 90%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｜全量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180 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条任务实测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180/180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，五个领域各自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100%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895350" y="3724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23925" y="3743325"/>
            <a:ext cx="95250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750" b="1">
                <a:solidFill>
                  <a:srgbClr val="0F172A"/>
                </a:solidFill>
                <a:latin typeface="Source Han Sans SC"/>
                <a:ea typeface="Source Han Sans SC"/>
              </a:rPr>
              <a:t>✓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123950" y="3733800"/>
            <a:ext cx="24479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消融：关闭重排仅</a:t>
            </a:r>
            <a:r>
              <a:rPr lang="en-US" sz="938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61.1%</a:t>
            </a: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，重排贡献</a:t>
            </a:r>
            <a:r>
              <a:rPr lang="en-US" sz="938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+38.9pp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95350" y="3876675"/>
            <a:ext cx="3276600" cy="885825"/>
          </a:xfrm>
          <a:custGeom>
            <a:pathLst>
              <a:path w="344" h="93">
                <a:moveTo>
                  <a:pt x="0" y="0"/>
                </a:moveTo>
                <a:lnTo>
                  <a:pt x="344" y="0"/>
                </a:lnTo>
                <a:lnTo>
                  <a:pt x="344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95350" y="4019550"/>
            <a:ext cx="32766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从</a:t>
            </a:r>
            <a:r>
              <a:rPr lang="en-US" sz="938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88.9% </a:t>
            </a: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到</a:t>
            </a:r>
            <a:r>
              <a:rPr lang="en-US" sz="938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100% </a:t>
            </a: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的四次迭代：补风格加权、召回池</a:t>
            </a:r>
            <a:r>
              <a:rPr lang="en-US" sz="938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20→40</a:t>
            </a:r>
            <a:r>
              <a:rPr lang="zh-CN" sz="938">
                <a:solidFill>
                  <a:srgbClr val="94A3B8"/>
                </a:solidFill>
                <a:latin typeface="Source Han Sans SC"/>
                <a:ea typeface="Source Han Sans SC"/>
              </a:rPr>
              <a:t>、索引签名自动重建、哈希向量退出粗排（改全量召回）。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4686300" y="11430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895850" y="1495425"/>
            <a:ext cx="13525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100%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438900" y="1552575"/>
            <a:ext cx="4514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F172A"/>
                </a:solidFill>
                <a:latin typeface="Source Han Sans SC"/>
                <a:ea typeface="Source Han Sans SC"/>
              </a:rPr>
              <a:t>平台适配符合率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438900" y="1771650"/>
            <a:ext cx="4514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≥90%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54/54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通过标题长度、标签格式、数量上限等硬性规范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144250" y="16668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686300" y="24384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895850" y="2790825"/>
            <a:ext cx="13525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100%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2847975"/>
            <a:ext cx="4514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F172A"/>
                </a:solidFill>
                <a:latin typeface="Source Han Sans SC"/>
                <a:ea typeface="Source Han Sans SC"/>
              </a:rPr>
              <a:t>文案一次可用率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38900" y="3067050"/>
            <a:ext cx="4514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≥80%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54/54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版本通过结构规则校验（离线回归基线口径）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1144250" y="29622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4686300" y="37338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895850" y="4086225"/>
            <a:ext cx="13525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0.10s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438900" y="4143375"/>
            <a:ext cx="4514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F172A"/>
                </a:solidFill>
                <a:latin typeface="Source Han Sans SC"/>
                <a:ea typeface="Source Han Sans SC"/>
              </a:rPr>
              <a:t>单篇平均生成耗时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438900" y="4362450"/>
            <a:ext cx="4514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≤15s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18 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个任务实测均值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0.10s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、最大</a:t>
            </a:r>
            <a:r>
              <a:rPr lang="en-US" sz="938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0.17s</a:t>
            </a:r>
            <a:r>
              <a:rPr lang="zh-CN" sz="938">
                <a:solidFill>
                  <a:srgbClr val="64748B"/>
                </a:solidFill>
                <a:latin typeface="Source Han Sans SC"/>
                <a:ea typeface="Source Han Sans SC"/>
              </a:rPr>
              <a:t>（离线口径）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144250" y="42576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09600" y="5029200"/>
            <a:ext cx="10972800" cy="102870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1600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HOTSPOT V2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38200" y="5467350"/>
            <a:ext cx="1600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F172A"/>
                </a:solidFill>
                <a:latin typeface="Source Han Sans SC"/>
                <a:ea typeface="Source Han Sans SC"/>
              </a:rPr>
              <a:t>热点侧实测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38200" y="5657850"/>
            <a:ext cx="16002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真实网络，非模拟数据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2438400" y="5276850"/>
            <a:ext cx="9525" cy="533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2886075" y="5334000"/>
            <a:ext cx="4476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100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2828925" y="5629275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条</a:t>
            </a:r>
            <a:r>
              <a:rPr lang="en-US" sz="863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/ </a:t>
            </a: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次刷新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171950" y="5334000"/>
            <a:ext cx="6286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1.98s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152900" y="562927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全量采集耗时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581650" y="5334000"/>
            <a:ext cx="5524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5 / 6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638800" y="562927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来源可用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86600" y="5334000"/>
            <a:ext cx="7334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25.7%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905625" y="5629275"/>
            <a:ext cx="10953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垂类命中率（扩词后）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867775" y="5334000"/>
            <a:ext cx="5905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F59E0B"/>
                </a:solidFill>
                <a:latin typeface="Source Han Sans SC"/>
                <a:ea typeface="Source Han Sans SC"/>
              </a:rPr>
              <a:t>1.1%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772525" y="5629275"/>
            <a:ext cx="771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Source Han Sans SC"/>
                <a:ea typeface="Source Han Sans SC"/>
              </a:rPr>
              <a:t>单日最低命中率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925050" y="5334000"/>
            <a:ext cx="142875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63">
                <a:solidFill>
                  <a:srgbClr val="94A3B8"/>
                </a:solidFill>
                <a:latin typeface="Source Han Sans SC"/>
                <a:ea typeface="Source Han Sans SC"/>
              </a:rPr>
              <a:t>命中率日间波动极大，产品按「可能只有一两条」设计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609600" y="63055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81050" y="626745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1125200" y="62674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19150" y="352425"/>
            <a:ext cx="4867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五个真实难点与下一步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19150" y="781050"/>
            <a:ext cx="4867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每条都写成「难点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根因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修复与证据」，能验证的才写进来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47700" y="1200150"/>
            <a:ext cx="4000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spc="75">
                <a:solidFill>
                  <a:srgbClr val="94A3B8"/>
                </a:solidFill>
                <a:latin typeface="Source Han Sans SC"/>
                <a:ea typeface="Source Han Sans SC"/>
              </a:rPr>
              <a:t>序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81100" y="1200150"/>
            <a:ext cx="1962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spc="75">
                <a:solidFill>
                  <a:srgbClr val="94A3B8"/>
                </a:solidFill>
                <a:latin typeface="Source Han Sans SC"/>
                <a:ea typeface="Source Han Sans SC"/>
              </a:rPr>
              <a:t>难点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276600" y="1200150"/>
            <a:ext cx="2781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spc="75">
                <a:solidFill>
                  <a:srgbClr val="94A3B8"/>
                </a:solidFill>
                <a:latin typeface="Source Han Sans SC"/>
                <a:ea typeface="Source Han Sans SC"/>
              </a:rPr>
              <a:t>根因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191250" y="1200150"/>
            <a:ext cx="8382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spc="75">
                <a:solidFill>
                  <a:srgbClr val="94A3B8"/>
                </a:solidFill>
                <a:latin typeface="Source Han Sans SC"/>
                <a:ea typeface="Source Han Sans SC"/>
              </a:rPr>
              <a:t>修复与验证证据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09600" y="1390650"/>
            <a:ext cx="109728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62000" y="15430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295400" y="154305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F172A"/>
                </a:solidFill>
                <a:latin typeface="Source Han Sans SC"/>
                <a:ea typeface="Source Han Sans SC"/>
              </a:rPr>
              <a:t>领域词表三处各写一份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390900" y="1504950"/>
            <a:ext cx="2781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前端下拉、人设默认、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Mock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数据各自维护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305550" y="150495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收敛为唯一领域常量，下拉与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Mock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自动派生；新增领域只改一处，五端同步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09600" y="1905000"/>
            <a:ext cx="109728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62000" y="205740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295400" y="20574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F172A"/>
                </a:solidFill>
                <a:latin typeface="Source Han Sans SC"/>
                <a:ea typeface="Source Han Sans SC"/>
              </a:rPr>
              <a:t>索引陈旧，命中率掉到</a:t>
            </a:r>
            <a:r>
              <a:rPr lang="en-US" sz="1013" b="1">
                <a:solidFill>
                  <a:srgbClr val="0F172A"/>
                </a:solidFill>
                <a:latin typeface="Source Han Sans SC"/>
                <a:ea typeface="Source Han Sans SC"/>
              </a:rPr>
              <a:t xml:space="preserve"> 0%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390900" y="2019300"/>
            <a:ext cx="2781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索引与语料版本不匹配，程序仍加载旧索引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6305550" y="2019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建索引时记签名，启动校验不一致即自动重建，恢复后重回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100%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09600" y="2419350"/>
            <a:ext cx="109728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62000" y="26860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295400" y="268605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F172A"/>
                </a:solidFill>
                <a:latin typeface="Source Han Sans SC"/>
                <a:ea typeface="Source Han Sans SC"/>
              </a:rPr>
              <a:t>评测口径与评测集漂移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390900" y="2543175"/>
            <a:ext cx="27813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评测脚本自建检索路径致分数虚高；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gold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素材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id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是库快照，库一重建就全错位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305550" y="264795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评测直调生产函数；内置漂移自检——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0%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假故障在重建评测集后回到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180/180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09600" y="3162300"/>
            <a:ext cx="1097280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62000" y="342900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295400" y="341947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F172A"/>
                </a:solidFill>
                <a:latin typeface="Source Han Sans SC"/>
                <a:ea typeface="Source Han Sans SC"/>
              </a:rPr>
              <a:t>生成结果被截断后静默降级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390900" y="3276600"/>
            <a:ext cx="27813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超输出上限被截成非法结构，兜底吞掉错误，接口仍返回成功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05550" y="3390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提高上限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+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限制字段长度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 xml:space="preserve"> +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抢救已完整对象；降级必留日志，不再无声无息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09600" y="3895725"/>
            <a:ext cx="1097280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62000" y="4162425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295400" y="41529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F172A"/>
                </a:solidFill>
                <a:latin typeface="Source Han Sans SC"/>
                <a:ea typeface="Source Han Sans SC"/>
              </a:rPr>
              <a:t>时区错位与埋点口径灌水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390900" y="4010025"/>
            <a:ext cx="27813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库默认时间为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 xml:space="preserve"> UTC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致频控永不触发；曝光挂在查询接口上被二次请求重复计数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305550" y="4124325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显式写本地时间；曝光改到渲染完成后上报，并按内容去重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09600" y="4724400"/>
            <a:ext cx="10972800" cy="1238250"/>
          </a:xfrm>
          <a:prstGeom prst="roundRect">
            <a:avLst>
              <a:gd name="adj" fmla="val 10769"/>
            </a:avLst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19150" y="48768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下一步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343025" y="4895850"/>
            <a:ext cx="1647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Source Han Sans SC"/>
                <a:ea typeface="Source Han Sans SC"/>
              </a:rPr>
              <a:t>按优先级排列，不做无数据的优化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819150" y="5162550"/>
            <a:ext cx="3438525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52500" y="5257800"/>
            <a:ext cx="3171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67E8F9"/>
                </a:solidFill>
                <a:latin typeface="Source Han Sans SC"/>
                <a:ea typeface="Source Han Sans SC"/>
              </a:rPr>
              <a:t>先攒两周真实数据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952500" y="5438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63">
                <a:solidFill>
                  <a:srgbClr val="CBD5E1"/>
                </a:solidFill>
                <a:latin typeface="Source Han Sans SC"/>
                <a:ea typeface="Source Han Sans SC"/>
              </a:rPr>
              <a:t>指标面板随后再做，样本不足时调权重等于掷骰子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4371975" y="5162550"/>
            <a:ext cx="3448050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505325" y="5257800"/>
            <a:ext cx="3181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67E8F9"/>
                </a:solidFill>
                <a:latin typeface="Source Han Sans SC"/>
                <a:ea typeface="Source Han Sans SC"/>
              </a:rPr>
              <a:t>权重按周做</a:t>
            </a:r>
            <a:r>
              <a:rPr lang="en-US" sz="938" b="1">
                <a:solidFill>
                  <a:srgbClr val="67E8F9"/>
                </a:solidFill>
                <a:latin typeface="Source Han Sans SC"/>
                <a:ea typeface="Source Han Sans SC"/>
              </a:rPr>
              <a:t xml:space="preserve"> A/B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505325" y="5438775"/>
            <a:ext cx="3181350" cy="2190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63">
                <a:solidFill>
                  <a:srgbClr val="CBD5E1"/>
                </a:solidFill>
                <a:latin typeface="Source Han Sans SC"/>
                <a:ea typeface="Source Han Sans SC"/>
              </a:rPr>
              <a:t>有了</a:t>
            </a:r>
            <a:r>
              <a:rPr lang="en-US" sz="863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ctr </a:t>
            </a:r>
            <a:r>
              <a:rPr lang="zh-CN" sz="863">
                <a:solidFill>
                  <a:srgbClr val="CBD5E1"/>
                </a:solidFill>
                <a:latin typeface="Source Han Sans SC"/>
                <a:ea typeface="Source Han Sans SC"/>
              </a:rPr>
              <a:t>才有对照前提，改一档跑一周再比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7934325" y="5162550"/>
            <a:ext cx="3438525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067675" y="5257800"/>
            <a:ext cx="3171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67E8F9"/>
                </a:solidFill>
                <a:latin typeface="Source Han Sans SC"/>
                <a:ea typeface="Source Han Sans SC"/>
              </a:rPr>
              <a:t>先换语料，再谈向量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067675" y="5438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63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BGE </a:t>
            </a:r>
            <a:r>
              <a:rPr lang="zh-CN" sz="863">
                <a:solidFill>
                  <a:srgbClr val="CBD5E1"/>
                </a:solidFill>
                <a:latin typeface="Source Han Sans SC"/>
                <a:ea typeface="Source Han Sans SC"/>
              </a:rPr>
              <a:t>实测与哈希向量同分，瓶颈是语料；移动端待专项优化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09600" y="621030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81050" y="617220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1125200" y="61722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B82F6">
                  <a:alpha val="20000"/>
                </a:srgbClr>
              </a:gs>
              <a:gs pos="62000">
                <a:srgbClr val="0F172A">
                  <a:alpha val="0"/>
                </a:srgbClr>
              </a:gs>
            </a:gsLst>
            <a:path path="circle">
              <a:fillToRect l="50000" t="42000" r="50000" b="58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543550" y="1847850"/>
            <a:ext cx="110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450">
                <a:solidFill>
                  <a:srgbClr val="67E8F9"/>
                </a:solidFill>
                <a:latin typeface="Source Han Sans SC"/>
                <a:ea typeface="Source Han Sans SC"/>
              </a:rPr>
              <a:t>SUMMARY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4857750" cy="771525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能演示</a:t>
            </a:r>
            <a:r>
              <a:rPr lang="en-US" sz="3450" b="1">
                <a:solidFill>
                  <a:srgbClr val="FFFFFF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能复现</a:t>
            </a:r>
            <a:r>
              <a:rPr lang="en-US" sz="3450" b="1">
                <a:solidFill>
                  <a:srgbClr val="FFFFFF"/>
                </a:solidFill>
                <a:latin typeface="Source Han Sans SC"/>
                <a:ea typeface="Source Han Sans SC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能度量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5791200" y="3314700"/>
            <a:ext cx="6096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2190750" y="3629025"/>
            <a:ext cx="7810500" cy="7810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200000"/>
              </a:lnSpc>
            </a:pPr>
            <a:r>
              <a:rPr lang="zh-CN" sz="1275">
                <a:solidFill>
                  <a:srgbClr val="CBD5E1"/>
                </a:solidFill>
                <a:latin typeface="Source Han Sans SC"/>
                <a:ea typeface="Source Han Sans SC"/>
              </a:rPr>
              <a:t>计划书四项量化指标全部达成，热点采集从接入真实数据到度量推荐效果也已闭环。</a:t>
            </a:r>
            <a:r>
              <a:rPr lang="en-US" sz="1275">
                <a:solidFill>
                  <a:srgbClr val="CBD5E1"/>
                </a:solidFill>
                <a:latin typeface="Source Han Sans SC"/>
                <a:ea typeface="Source Han Sans SC"/>
              </a:rPr>
              <a:t xml:space="preserve"> </a:t>
            </a:r>
            <a:r>
              <a:rPr lang="zh-CN" sz="1275">
                <a:solidFill>
                  <a:srgbClr val="CBD5E1"/>
                </a:solidFill>
                <a:latin typeface="Source Han Sans SC"/>
                <a:ea typeface="Source Han Sans SC"/>
              </a:rPr>
              <a:t>接下来不做无数据支撑的优化——先把真实使用攒起来，再让数字决定改什么。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353050" y="48482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项目组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5924550" y="4876800"/>
            <a:ext cx="9525" cy="1143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105525" y="4848225"/>
            <a:ext cx="742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2026-10-26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2026-10-27T09:36:38Z</dcterms:created>
  <dcterms:modified xsi:type="dcterms:W3CDTF">2026-10-27T09:36:38Z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{"AIGC":{"Label":"1","ContentProducer":"00119111010856365494821B355","ProduceID":"01a17af066bc7de28e90230b5a419972","ReservedCode1":"","ContentPropagator":"00119111010856365494821B355","PropagateID":"01a17af066bc7de28e90230b5a419972","ReservedCode2":""}}</vt:lpwstr>
  </property>
</Properties>
</file>